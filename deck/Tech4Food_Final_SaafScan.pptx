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embeddedFontLst>
    <p:embeddedFont>
      <p:font typeface="Rubik"/>
      <p:regular r:id="rId15"/>
      <p:bold r:id="rId16"/>
      <p:italic r:id="rId17"/>
      <p:boldItalic r:id="rId18"/>
    </p:embeddedFont>
    <p:embeddedFont>
      <p:font typeface="DM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5256C1-8DA8-4A7B-9683-57F21C23C2A4}">
  <a:tblStyle styleId="{735256C1-8DA8-4A7B-9683-57F21C23C2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Rubik-regular.fntdata"/><Relationship Id="rId16" Type="http://schemas.openxmlformats.org/officeDocument/2006/relationships/font" Target="fonts/Rubik-bold.fntdata"/><Relationship Id="rId17" Type="http://schemas.openxmlformats.org/officeDocument/2006/relationships/font" Target="fonts/Rubik-italic.fntdata"/><Relationship Id="rId18" Type="http://schemas.openxmlformats.org/officeDocument/2006/relationships/font" Target="fonts/Rubik-boldItalic.fntdata"/><Relationship Id="rId19" Type="http://schemas.openxmlformats.org/officeDocument/2006/relationships/font" Target="fonts/DMSans-regular.fntdata"/><Relationship Id="rId20" Type="http://schemas.openxmlformats.org/officeDocument/2006/relationships/font" Target="fonts/DMSans-bold.fntdata"/><Relationship Id="rId21" Type="http://schemas.openxmlformats.org/officeDocument/2006/relationships/font" Target="fonts/DMSans-italic.fntdata"/><Relationship Id="rId22"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SaafScan, Round 1 idea submission for Tech4Food 2026, theme DETECT. The phone reads a printed reagent strip instead of asking a buyer to trust their eyes. Fill the team name, lead, member names, college name and contact email in the placeholders on this slide and on the closing slide before exporting the PDF.</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WHO updated its food safety fact sheet on 4 June 2026: 866 million illnesses and 1.52 million deaths a year, US$ 310 billion in lost productivity and medical costs. The India-specific number is the sharper one for this audience: FSSAI told Parliament on 24 July 2026 that 14,668 of 39,351 milk and dairy samples failed in FY 2025-26. Note the rate is marginally down on FY 2024-25 while the absolute number of failures rose, so the deck shows both bars rather than claiming a worsening trend.</a:t>
            </a: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card is the only consumable. Everything else is software already on a phone. The differentiator to land with judges is the fifth class: the model is allowed to return inconclusive, which is what makes a screening tool honest. Comparison rows for lab tests and rapid strips are qualitative and the SaafScan row is measured.</a:t>
            </a: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Every stage runs on the CPU in about six milliseconds, so the demo does not depend on a GPU being present at the venue. The rule table scores 1.000 on the held-out split and the booster scores 0.933, so the deck claims no accuracy advantage for the ML path over the rule table; the booster ships on artifact size and on abstention headroom.</a:t>
            </a: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screenshots are from the running prototype, not mockups. The confusion matrix is the honest headline: on the 33 samples it commits to a class it is right every time, and of the 12 it declines, 9 are genuinely the 9 labelled inconclusive while the other 3 are one starch and two detergent it would not call. Timings were measured with deck/bench.py on the build laptop and are reproducible from the repository.</a:t>
            </a:r>
          </a:p>
        </p:txBody>
      </p:sp>
      <p:sp>
        <p:nvSpPr>
          <p:cNvPr id="66" name="Google Shape;6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Speed matters here because the alternative is a test nobody performs at home. Cost is stated as an estimate and labelled as such on the slide: reagent prices are not yet confirmed, so the deck does not present the figure as measured. The recall-scoping point is the one to make if asked about impact, because it is the reason a trace layer sits behind the detection layer.</a:t>
            </a:r>
          </a:p>
        </p:txBody>
      </p:sp>
      <p:sp>
        <p:nvSpPr>
          <p:cNvPr id="75" name="Google Shape;7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Two review papers, two official sources, plus the toolchain and dataset. The WHO fact sheet was revised on 4 June 2026 and the older 600 million and 420,000 figures are superseded, so this deck uses the current 866 million and 1.52 million. If a judge asks where a number came from, the answer is a DOI, a Lok Sabha question number or a file path in the repository.</a:t>
            </a:r>
          </a:p>
        </p:txBody>
      </p:sp>
      <p:sp>
        <p:nvSpPr>
          <p:cNvPr id="84" name="Google Shape;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Close on the honest limit rather than hiding it. The software is finished and tested, and the imaging half has been validated against photographed printed targets: every frame cleared every detector gate, and control-zone drift on one frame reached 46.3 against a 45 tolerance, so the pipeline refused it rather than diagnosing from an untrustworthy control. That refusal is the project's core principle working on real camera input, not on a rendering. The 23 October reagent shoot found both stocks past date, so no chemistry was run. If asked why we did not simply run them: expired iodine gives false negatives, and methylene blue that has already reduced reads colourless, which is exactly what a detergent positive looks like, so every result would have been uninterpretable. Do not claim the ML beats the rule table: the rule table scores 1.000 on the held-out split and the model scores 0.933, a delta of -0.067, so it ships on artifact size and abstention headroom instead.</a:t>
            </a:r>
          </a:p>
        </p:txBody>
      </p:sp>
      <p:sp>
        <p:nvSpPr>
          <p:cNvPr id="98" name="Google Shape;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[Team Name] · [Contact email] go in the placeholder here. Every slide keeps the template footer and logos exactly as issued.</a:t>
            </a:r>
          </a:p>
        </p:txBody>
      </p:sp>
      <p:sp>
        <p:nvSpPr>
          <p:cNvPr id="107" name="Google Shape;1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812800" y="1404863"/>
            <a:ext cx="79911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8CF"/>
              </a:buClr>
              <a:buSzPts val="1300"/>
              <a:buFont typeface="DM Sans"/>
              <a:buNone/>
            </a:pPr>
            <a:r>
              <a:rPr b="0" i="0" lang="en-US" sz="1300" u="none" cap="none" strike="noStrike">
                <a:solidFill>
                  <a:schemeClr val="dk1"/>
                </a:solidFill>
                <a:latin typeface="DM Sans"/>
                <a:ea typeface="DM Sans"/>
                <a:cs typeface="DM Sans"/>
                <a:sym typeface="DM Sans"/>
              </a:rPr>
              <a:t>Organised by Dept. of Computer Engineering, PCCOE, Pune · CESA · ACM PCCOE Student Chapter</a:t>
            </a:r>
            <a:endParaRPr b="0" i="0" sz="1300" u="none" cap="none" strike="noStrike">
              <a:solidFill>
                <a:schemeClr val="dk1"/>
              </a:solidFill>
              <a:latin typeface="Calibri"/>
              <a:ea typeface="Calibri"/>
              <a:cs typeface="Calibri"/>
              <a:sym typeface="Calibri"/>
            </a:endParaRPr>
          </a:p>
        </p:txBody>
      </p:sp>
      <p:sp>
        <p:nvSpPr>
          <p:cNvPr id="17" name="Google Shape;17;p3"/>
          <p:cNvSpPr/>
          <p:nvPr/>
        </p:nvSpPr>
        <p:spPr>
          <a:xfrm>
            <a:off x="8733638" y="1243400"/>
            <a:ext cx="2575500" cy="383400"/>
          </a:xfrm>
          <a:prstGeom prst="roundRect">
            <a:avLst>
              <a:gd fmla="val 50000" name="adj"/>
            </a:avLst>
          </a:prstGeom>
          <a:solidFill>
            <a:srgbClr val="F5C84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3A30"/>
              </a:buClr>
              <a:buSzPts val="1300"/>
              <a:buFont typeface="DM Sans"/>
              <a:buNone/>
            </a:pPr>
            <a:r>
              <a:rPr b="1" i="0" lang="en-US" sz="1300" u="none" cap="none" strike="noStrike">
                <a:solidFill>
                  <a:srgbClr val="1F3A30"/>
                </a:solidFill>
                <a:latin typeface="DM Sans"/>
                <a:ea typeface="DM Sans"/>
                <a:cs typeface="DM Sans"/>
                <a:sym typeface="DM Sans"/>
              </a:rPr>
              <a:t>ROUND 1 · IDEA SUBMISSION</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812800" y="1729730"/>
            <a:ext cx="3420517"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016000" y="1882130"/>
            <a:ext cx="31045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Final Round</a:t>
            </a:r>
            <a:endParaRPr b="0" i="0" sz="1200" u="none" cap="none" strike="noStrike">
              <a:solidFill>
                <a:schemeClr val="dk1"/>
              </a:solidFill>
              <a:latin typeface="Calibri"/>
              <a:ea typeface="Calibri"/>
              <a:cs typeface="Calibri"/>
              <a:sym typeface="Calibri"/>
            </a:endParaRPr>
          </a:p>
        </p:txBody>
      </p:sp>
      <p:sp>
        <p:nvSpPr>
          <p:cNvPr id="20" name="Google Shape;20;p3"/>
          <p:cNvSpPr/>
          <p:nvPr/>
        </p:nvSpPr>
        <p:spPr>
          <a:xfrm>
            <a:off x="1016000" y="21335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24 October 2026</a:t>
            </a:r>
            <a:endParaRPr b="1" i="0" sz="1400" u="none" cap="none" strike="noStrike">
              <a:solidFill>
                <a:schemeClr val="dk1"/>
              </a:solidFill>
              <a:latin typeface="Calibri"/>
              <a:ea typeface="Calibri"/>
              <a:cs typeface="Calibri"/>
              <a:sym typeface="Calibri"/>
            </a:endParaRPr>
          </a:p>
        </p:txBody>
      </p:sp>
      <p:sp>
        <p:nvSpPr>
          <p:cNvPr id="21" name="Google Shape;21;p3"/>
          <p:cNvSpPr/>
          <p:nvPr/>
        </p:nvSpPr>
        <p:spPr>
          <a:xfrm>
            <a:off x="4385717" y="1729730"/>
            <a:ext cx="3420566"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88917" y="1882130"/>
            <a:ext cx="310459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Venue</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4588917" y="2133550"/>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PCCOE, Pune</a:t>
            </a:r>
            <a:endParaRPr b="1" i="0" sz="1400" u="none" cap="none" strike="noStrike">
              <a:solidFill>
                <a:schemeClr val="dk1"/>
              </a:solidFill>
              <a:latin typeface="Calibri"/>
              <a:ea typeface="Calibri"/>
              <a:cs typeface="Calibri"/>
              <a:sym typeface="Calibri"/>
            </a:endParaRPr>
          </a:p>
        </p:txBody>
      </p:sp>
      <p:sp>
        <p:nvSpPr>
          <p:cNvPr id="24" name="Google Shape;24;p3"/>
          <p:cNvSpPr/>
          <p:nvPr/>
        </p:nvSpPr>
        <p:spPr>
          <a:xfrm>
            <a:off x="7958683" y="1729730"/>
            <a:ext cx="3420517"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8161883" y="1882130"/>
            <a:ext cx="31045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Host Institute</a:t>
            </a:r>
            <a:endParaRPr b="0" i="0" sz="1200" u="none" cap="none" strike="noStrike">
              <a:solidFill>
                <a:schemeClr val="dk1"/>
              </a:solidFill>
              <a:latin typeface="Calibri"/>
              <a:ea typeface="Calibri"/>
              <a:cs typeface="Calibri"/>
              <a:sym typeface="Calibri"/>
            </a:endParaRPr>
          </a:p>
        </p:txBody>
      </p:sp>
      <p:sp>
        <p:nvSpPr>
          <p:cNvPr id="26" name="Google Shape;26;p3"/>
          <p:cNvSpPr/>
          <p:nvPr/>
        </p:nvSpPr>
        <p:spPr>
          <a:xfrm>
            <a:off x="8161883" y="2133550"/>
            <a:ext cx="310454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Pimpri Chinchwad College of Engineering, Pune</a:t>
            </a:r>
            <a:endParaRPr b="1" i="0" sz="1400" u="none" cap="none" strike="noStrike">
              <a:solidFill>
                <a:schemeClr val="dk1"/>
              </a:solidFill>
              <a:latin typeface="Calibri"/>
              <a:ea typeface="Calibri"/>
              <a:cs typeface="Calibri"/>
              <a:sym typeface="Calibri"/>
            </a:endParaRPr>
          </a:p>
        </p:txBody>
      </p:sp>
      <p:sp>
        <p:nvSpPr>
          <p:cNvPr id="27" name="Google Shape;27;p3"/>
          <p:cNvSpPr/>
          <p:nvPr/>
        </p:nvSpPr>
        <p:spPr>
          <a:xfrm>
            <a:off x="812800" y="3163824"/>
            <a:ext cx="10883400" cy="3108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2200"/>
              <a:buFont typeface="Rubik"/>
              <a:buNone/>
            </a:pPr>
            <a:r>
              <a:rPr b="1" i="0" lang="en-US" sz="2000" u="none" cap="none" strike="noStrike">
                <a:solidFill>
                  <a:srgbClr val="2A4A3E"/>
                </a:solidFill>
                <a:latin typeface="Rubik"/>
                <a:ea typeface="Rubik"/>
                <a:cs typeface="Rubik"/>
                <a:sym typeface="Rubik"/>
              </a:rPr>
              <a:t>SaafScan: 10-second adulterant screening on any phone camera</a:t>
            </a:r>
            <a:r>
              <a:rPr b="1" i="0" lang="en-US" sz="2200" u="none" cap="none" strike="noStrike">
                <a:solidFill>
                  <a:srgbClr val="F26B2A"/>
                </a:solidFill>
                <a:latin typeface="Rubik"/>
                <a:ea typeface="Rubik"/>
                <a:cs typeface="Rubik"/>
                <a:sym typeface="Rubik"/>
              </a:rPr>
              <a:t/>
            </a:r>
            <a:endParaRPr b="0" i="0" sz="2200" u="none" cap="none" strike="noStrike">
              <a:solidFill>
                <a:schemeClr val="dk1"/>
              </a:solidFill>
              <a:latin typeface="Calibri"/>
              <a:ea typeface="Calibri"/>
              <a:cs typeface="Calibri"/>
              <a:sym typeface="Calibri"/>
            </a:endParaRPr>
          </a:p>
        </p:txBody>
      </p:sp>
      <p:sp>
        <p:nvSpPr>
          <p:cNvPr id="28" name="Google Shape;28;p3"/>
          <p:cNvSpPr/>
          <p:nvPr/>
        </p:nvSpPr>
        <p:spPr>
          <a:xfrm>
            <a:off x="1016000" y="3809851"/>
            <a:ext cx="410222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Team Members</a:t>
            </a:r>
            <a:endParaRPr b="0" i="0" sz="1300" u="none" cap="none" strike="noStrike">
              <a:solidFill>
                <a:schemeClr val="dk1"/>
              </a:solidFill>
              <a:latin typeface="Calibri"/>
              <a:ea typeface="Calibri"/>
              <a:cs typeface="Calibri"/>
              <a:sym typeface="Calibri"/>
            </a:endParaRPr>
          </a:p>
        </p:txBody>
      </p:sp>
      <p:sp>
        <p:nvSpPr>
          <p:cNvPr id="29" name="Google Shape;29;p3"/>
          <p:cNvSpPr/>
          <p:nvPr/>
        </p:nvSpPr>
        <p:spPr>
          <a:xfrm>
            <a:off x="1082377" y="4117181"/>
            <a:ext cx="4028225" cy="878780"/>
          </a:xfrm>
          <a:prstGeom prst="rect">
            <a:avLst/>
          </a:prstGeom>
          <a:noFill/>
          <a:ln>
            <a:noFill/>
          </a:ln>
        </p:spPr>
        <p:txBody>
          <a:bodyPr anchorCtr="0" anchor="t" bIns="0" lIns="0" spcFirstLastPara="1" rIns="0" wrap="square" tIns="0">
            <a:noAutofit/>
          </a:bodyPr>
          <a:lstStyle/>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[Name] (Team Lead)</a:t>
            </a:r>
            <a:endParaRPr b="0" i="0" sz="1400" u="none" cap="none" strike="noStrike">
              <a:solidFill>
                <a:schemeClr val="dk1"/>
              </a:solidFill>
              <a:latin typeface="Calibri"/>
              <a:ea typeface="Calibri"/>
              <a:cs typeface="Calibri"/>
              <a:sym typeface="Calibri"/>
            </a:endParaRPr>
          </a:p>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[Name]</a:t>
            </a:r>
            <a:endParaRPr b="0" i="0" sz="1400" u="none" cap="none" strike="noStrike">
              <a:solidFill>
                <a:schemeClr val="dk1"/>
              </a:solidFill>
              <a:latin typeface="Calibri"/>
              <a:ea typeface="Calibri"/>
              <a:cs typeface="Calibri"/>
              <a:sym typeface="Calibri"/>
            </a:endParaRPr>
          </a:p>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[Name]</a:t>
            </a:r>
            <a:endParaRPr b="0" i="0" sz="1400" u="none" cap="none" strike="noStrike">
              <a:solidFill>
                <a:schemeClr val="dk1"/>
              </a:solidFill>
              <a:latin typeface="Calibri"/>
              <a:ea typeface="Calibri"/>
              <a:cs typeface="Calibri"/>
              <a:sym typeface="Calibri"/>
            </a:endParaRPr>
          </a:p>
        </p:txBody>
      </p:sp>
      <p:graphicFrame>
        <p:nvGraphicFramePr>
          <p:cNvPr id="30" name="Google Shape;30;p3"/>
          <p:cNvGraphicFramePr/>
          <p:nvPr/>
        </p:nvGraphicFramePr>
        <p:xfrm>
          <a:off x="5411477" y="3784451"/>
          <a:ext cx="3000000" cy="3000000"/>
        </p:xfrm>
        <a:graphic>
          <a:graphicData uri="http://schemas.openxmlformats.org/drawingml/2006/table">
            <a:tbl>
              <a:tblPr>
                <a:noFill/>
                <a:tableStyleId>{735256C1-8DA8-4A7B-9683-57F21C23C2A4}</a:tableStyleId>
              </a:tblPr>
              <a:tblGrid>
                <a:gridCol w="2384550"/>
                <a:gridCol w="3576825"/>
              </a:tblGrid>
              <a:tr h="359325">
                <a:tc>
                  <a:txBody>
                    <a:bodyPr/>
                    <a:lstStyle/>
                    <a:p>
                      <a:pPr indent="0" lvl="0" marL="0" marR="0" rtl="0" algn="l">
                        <a:lnSpc>
                          <a:spcPct val="140000"/>
                        </a:lnSpc>
                        <a:spcBef>
                          <a:spcPts val="0"/>
                        </a:spcBef>
                        <a:spcAft>
                          <a:spcPts val="0"/>
                        </a:spcAft>
                        <a:buClr>
                          <a:srgbClr val="1F3A30"/>
                        </a:buClr>
                        <a:buSzPts val="1300"/>
                        <a:buFont typeface="DM Sans"/>
                        <a:buNone/>
                      </a:pPr>
                      <a:r>
                        <a:rPr b="1" lang="en-US" sz="1300" u="none" cap="none" strike="noStrike">
                          <a:solidFill>
                            <a:srgbClr val="1F3A30"/>
                          </a:solidFill>
                          <a:latin typeface="DM Sans"/>
                          <a:ea typeface="DM Sans"/>
                          <a:cs typeface="DM Sans"/>
                          <a:sym typeface="DM Sans"/>
                        </a:rPr>
                        <a:t>Team Details</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6D369"/>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6D369"/>
                      </a:solidFill>
                      <a:prstDash val="solid"/>
                      <a:round/>
                      <a:headEnd len="sm" w="sm" type="none"/>
                      <a:tailEnd len="sm" w="sm" type="none"/>
                    </a:lnB>
                    <a:solidFill>
                      <a:srgbClr val="F5C842"/>
                    </a:solidFill>
                  </a:tcPr>
                </a:tc>
                <a:tc>
                  <a:txBody>
                    <a:bodyPr/>
                    <a:lstStyle/>
                    <a:p>
                      <a:pPr indent="0" lvl="0" marL="0" marR="0" rtl="0" algn="l">
                        <a:lnSpc>
                          <a:spcPct val="140000"/>
                        </a:lnSpc>
                        <a:spcBef>
                          <a:spcPts val="0"/>
                        </a:spcBef>
                        <a:spcAft>
                          <a:spcPts val="0"/>
                        </a:spcAft>
                        <a:buClr>
                          <a:schemeClr val="dk1"/>
                        </a:buClr>
                        <a:buSzPts val="1300"/>
                        <a:buFont typeface="Calibri"/>
                        <a:buNone/>
                      </a:pPr>
                      <a:r>
                        <a:t/>
                      </a:r>
                      <a:endParaRPr sz="1300" u="none" cap="none" strike="noStrike">
                        <a:latin typeface="DM Sans"/>
                        <a:ea typeface="DM Sans"/>
                        <a:cs typeface="DM Sans"/>
                        <a:sym typeface="DM Sans"/>
                      </a:endParaRPr>
                    </a:p>
                  </a:txBody>
                  <a:tcPr marT="57775" marB="57775" marR="57775" marL="57775">
                    <a:lnL cap="flat" cmpd="sng" w="12700">
                      <a:solidFill>
                        <a:srgbClr val="F6D369"/>
                      </a:solidFill>
                      <a:prstDash val="solid"/>
                      <a:round/>
                      <a:headEnd len="sm" w="sm" type="none"/>
                      <a:tailEnd len="sm" w="sm" type="none"/>
                    </a:lnL>
                    <a:lnR cap="flat" cmpd="sng" w="12700">
                      <a:solidFill>
                        <a:srgbClr val="F6D369"/>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6D369"/>
                      </a:solidFill>
                      <a:prstDash val="solid"/>
                      <a:round/>
                      <a:headEnd len="sm" w="sm" type="none"/>
                      <a:tailEnd len="sm" w="sm" type="none"/>
                    </a:lnB>
                    <a:solidFill>
                      <a:srgbClr val="F5C842"/>
                    </a:solidFill>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Team Name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6D369"/>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6D369"/>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Team Lead</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College Name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Theme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000" u="none" cap="none" strike="noStrike">
                          <a:solidFill>
                            <a:srgbClr val="1F3A30"/>
                          </a:solidFill>
                          <a:latin typeface="DM Sans"/>
                          <a:ea typeface="DM Sans"/>
                          <a:cs typeface="DM Sans"/>
                          <a:sym typeface="DM Sans"/>
                        </a:rPr>
                        <a:t>DETECT · Food Safety Intelligence</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Solution Type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100" u="none" cap="none" strike="noStrike">
                          <a:solidFill>
                            <a:srgbClr val="1F3A30"/>
                          </a:solidFill>
                          <a:latin typeface="DM Sans"/>
                          <a:ea typeface="DM Sans"/>
                          <a:cs typeface="DM Sans"/>
                          <a:sym typeface="DM Sans"/>
                        </a:rPr>
                        <a:t>Both: app + test strip</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bl>
          </a:graphicData>
        </a:graphic>
      </p:graphicFrame>
      <p:pic>
        <p:nvPicPr>
          <p:cNvPr id="31" name="Google Shape;31;p3" title="Add a little bit of body text (2).png"/>
          <p:cNvPicPr preferRelativeResize="0"/>
          <p:nvPr/>
        </p:nvPicPr>
        <p:blipFill>
          <a:blip r:embed="rId3">
            <a:alphaModFix/>
          </a:blip>
          <a:stretch>
            <a:fillRect/>
          </a:stretch>
        </p:blipFill>
        <p:spPr>
          <a:xfrm>
            <a:off x="10997875" y="125800"/>
            <a:ext cx="1117600" cy="1117600"/>
          </a:xfrm>
          <a:prstGeom prst="rect">
            <a:avLst/>
          </a:prstGeom>
          <a:noFill/>
          <a:ln>
            <a:noFill/>
          </a:ln>
        </p:spPr>
      </p:pic>
      <p:pic>
        <p:nvPicPr>
          <p:cNvPr id="32" name="Google Shape;32;p3"/>
          <p:cNvPicPr preferRelativeResize="0"/>
          <p:nvPr/>
        </p:nvPicPr>
        <p:blipFill>
          <a:blip r:embed="rId4">
            <a:alphaModFix/>
          </a:blip>
          <a:stretch>
            <a:fillRect/>
          </a:stretch>
        </p:blipFill>
        <p:spPr>
          <a:xfrm>
            <a:off x="137775" y="125800"/>
            <a:ext cx="1210725" cy="1210725"/>
          </a:xfrm>
          <a:prstGeom prst="rect">
            <a:avLst/>
          </a:prstGeom>
          <a:noFill/>
          <a:ln>
            <a:noFill/>
          </a:ln>
        </p:spPr>
      </p:pic>
      <p:pic>
        <p:nvPicPr>
          <p:cNvPr id="33" name="Google Shape;33;p3" title="Add a little bit of body text (3).png"/>
          <p:cNvPicPr preferRelativeResize="0"/>
          <p:nvPr/>
        </p:nvPicPr>
        <p:blipFill>
          <a:blip r:embed="rId5">
            <a:alphaModFix/>
          </a:blip>
          <a:stretch>
            <a:fillRect/>
          </a:stretch>
        </p:blipFill>
        <p:spPr>
          <a:xfrm>
            <a:off x="3916060" y="5950"/>
            <a:ext cx="4359881" cy="1357275"/>
          </a:xfrm>
          <a:prstGeom prst="rect">
            <a:avLst/>
          </a:prstGeom>
          <a:noFill/>
          <a:ln>
            <a:noFill/>
          </a:ln>
        </p:spPr>
      </p:pic>
      <p:sp>
        <p:nvSpPr>
          <p:cNvPr id="34" name="Google Shape;34;p3"/>
          <p:cNvSpPr/>
          <p:nvPr/>
        </p:nvSpPr>
        <p:spPr>
          <a:xfrm>
            <a:off x="5565450" y="827000"/>
            <a:ext cx="1061100" cy="41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1E8"/>
              </a:buClr>
              <a:buSzPts val="4800"/>
              <a:buFont typeface="Rubik"/>
              <a:buNone/>
            </a:pPr>
            <a:r>
              <a:rPr b="1" i="0" lang="en-US" sz="3000" u="none" cap="none" strike="noStrike">
                <a:solidFill>
                  <a:schemeClr val="dk1"/>
                </a:solidFill>
                <a:latin typeface="Rubik"/>
                <a:ea typeface="Rubik"/>
                <a:cs typeface="Rubik"/>
                <a:sym typeface="Rubik"/>
              </a:rPr>
              <a:t>2026</a:t>
            </a:r>
            <a:endParaRPr b="0" i="0" sz="3000" u="none" cap="none" strike="noStrike">
              <a:solidFill>
                <a:schemeClr val="dk1"/>
              </a:solidFill>
              <a:latin typeface="Calibri"/>
              <a:ea typeface="Calibri"/>
              <a:cs typeface="Calibri"/>
              <a:sym typeface="Calibri"/>
            </a:endParaRPr>
          </a:p>
        </p:txBody>
      </p:sp>
      <p:sp>
        <p:nvSpPr>
          <p:cNvPr id="35" name="Google Shape;35;p3"/>
          <p:cNvSpPr/>
          <p:nvPr/>
        </p:nvSpPr>
        <p:spPr>
          <a:xfrm>
            <a:off x="4230300" y="2896071"/>
            <a:ext cx="3731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2200"/>
              <a:buFont typeface="Rubik"/>
              <a:buNone/>
            </a:pPr>
            <a:r>
              <a:rPr b="1" lang="en-US" sz="1600">
                <a:solidFill>
                  <a:schemeClr val="dk1"/>
                </a:solidFill>
                <a:latin typeface="Rubik"/>
                <a:ea typeface="Rubik"/>
                <a:cs typeface="Rubik"/>
                <a:sym typeface="Rubik"/>
              </a:rPr>
              <a:t>Strictly Maintain no of slides under 9</a:t>
            </a:r>
            <a:endParaRPr b="0" i="0" sz="1600" u="none" cap="none" strike="noStrike">
              <a:solidFill>
                <a:schemeClr val="dk1"/>
              </a:solidFill>
              <a:latin typeface="Calibri"/>
              <a:ea typeface="Calibri"/>
              <a:cs typeface="Calibri"/>
              <a:sym typeface="Calibri"/>
            </a:endParaRPr>
          </a:p>
        </p:txBody>
      </p:sp>
      <p:sp>
        <p:nvSpPr>
          <p:cNvPr id="36" name="TextBox 35"/>
          <p:cNvSpPr txBox="1"/>
          <p:nvPr/>
        </p:nvSpPr>
        <p:spPr>
          <a:xfrm>
            <a:off x="813816" y="3566160"/>
            <a:ext cx="4480560" cy="219456"/>
          </a:xfrm>
          <a:prstGeom prst="rect">
            <a:avLst/>
          </a:prstGeom>
          <a:noFill/>
        </p:spPr>
        <p:txBody>
          <a:bodyPr wrap="square" lIns="0" tIns="0" bIns="0" rIns="0">
            <a:spAutoFit/>
          </a:bodyPr>
          <a:lstStyle/>
          <a:p>
            <a:r>
              <a:rPr sz="1050">
                <a:solidFill>
                  <a:srgbClr val="6B7A72"/>
                </a:solidFill>
                <a:latin typeface="DM Sans"/>
              </a:rPr>
              <a:t>Iodine and methylene-blue strips, read by any phone camera</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4"/>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Problem Understanding</a:t>
            </a:r>
            <a:endParaRPr b="0" i="0" sz="3600" u="none" cap="none" strike="noStrike">
              <a:solidFill>
                <a:schemeClr val="dk1"/>
              </a:solidFill>
              <a:latin typeface="Calibri"/>
              <a:ea typeface="Calibri"/>
              <a:cs typeface="Calibri"/>
              <a:sym typeface="Calibri"/>
            </a:endParaRPr>
          </a:p>
        </p:txBody>
      </p:sp>
      <p:sp>
        <p:nvSpPr>
          <p:cNvPr id="44" name="Google Shape;44;p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02</a:t>
            </a:r>
            <a:endParaRPr b="0" i="0" sz="1200" u="none" cap="none" strike="noStrike">
              <a:solidFill>
                <a:schemeClr val="dk1"/>
              </a:solidFill>
              <a:latin typeface="Calibri"/>
              <a:ea typeface="Calibri"/>
              <a:cs typeface="Calibri"/>
              <a:sym typeface="Calibri"/>
            </a:endParaRPr>
          </a:p>
        </p:txBody>
      </p:sp>
      <p:sp>
        <p:nvSpPr>
          <p:cNvPr id="45" name="TextBox 44"/>
          <p:cNvSpPr txBox="1"/>
          <p:nvPr/>
        </p:nvSpPr>
        <p:spPr>
          <a:xfrm>
            <a:off x="813816" y="2066543"/>
            <a:ext cx="10881360" cy="566928"/>
          </a:xfrm>
          <a:prstGeom prst="rect">
            <a:avLst/>
          </a:prstGeom>
          <a:noFill/>
        </p:spPr>
        <p:txBody>
          <a:bodyPr wrap="square" lIns="0" rIns="0" tIns="0" bIns="0" anchor="t">
            <a:spAutoFit/>
          </a:bodyPr>
          <a:lstStyle/>
          <a:p>
            <a:pPr algn="l">
              <a:lnSpc>
                <a:spcPct val="116000"/>
              </a:lnSpc>
            </a:pPr>
            <a:r>
              <a:rPr sz="1240" b="0">
                <a:solidFill>
                  <a:srgbClr val="1F3A30"/>
                </a:solidFill>
                <a:latin typeface="DM Sans"/>
              </a:rPr>
              <a:t>Loose milk is diluted with water, then thickened with starch and whitened with detergent so the dilution does not show. A buyer cannot check any of that before pouring it for a child.</a:t>
            </a:r>
          </a:p>
        </p:txBody>
      </p:sp>
      <p:sp>
        <p:nvSpPr>
          <p:cNvPr id="46" name="Rounded Rectangle 45"/>
          <p:cNvSpPr/>
          <p:nvPr/>
        </p:nvSpPr>
        <p:spPr>
          <a:xfrm>
            <a:off x="813816" y="2798064"/>
            <a:ext cx="3529584"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13816" y="2798064"/>
            <a:ext cx="50292" cy="914400"/>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4984" y="2889504"/>
            <a:ext cx="3200400" cy="749808"/>
          </a:xfrm>
          <a:prstGeom prst="rect">
            <a:avLst/>
          </a:prstGeom>
          <a:noFill/>
        </p:spPr>
        <p:txBody>
          <a:bodyPr wrap="square" lIns="0" rIns="0" tIns="0" bIns="0" anchor="t">
            <a:spAutoFit/>
          </a:bodyPr>
          <a:lstStyle/>
          <a:p>
            <a:pPr algn="l">
              <a:spcAft>
                <a:spcPts val="100"/>
              </a:spcAft>
            </a:pPr>
            <a:r>
              <a:rPr sz="2200" b="1">
                <a:solidFill>
                  <a:srgbClr val="2A4A3E"/>
                </a:solidFill>
                <a:latin typeface="Rubik"/>
              </a:rPr>
              <a:t>866 M</a:t>
            </a:r>
          </a:p>
          <a:p>
            <a:pPr algn="l">
              <a:lnSpc>
                <a:spcPct val="106000"/>
              </a:lnSpc>
            </a:pPr>
            <a:r>
              <a:rPr sz="860" b="0">
                <a:solidFill>
                  <a:srgbClr val="6B7A72"/>
                </a:solidFill>
                <a:latin typeface="DM Sans"/>
              </a:rPr>
              <a:t>foodborne illnesses a year worldwide</a:t>
            </a:r>
          </a:p>
        </p:txBody>
      </p:sp>
      <p:sp>
        <p:nvSpPr>
          <p:cNvPr id="49" name="Rounded Rectangle 48"/>
          <p:cNvSpPr/>
          <p:nvPr/>
        </p:nvSpPr>
        <p:spPr>
          <a:xfrm>
            <a:off x="4549140" y="2798064"/>
            <a:ext cx="3529584"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549140" y="2798064"/>
            <a:ext cx="50292" cy="914400"/>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50307" y="2889504"/>
            <a:ext cx="3200400" cy="749808"/>
          </a:xfrm>
          <a:prstGeom prst="rect">
            <a:avLst/>
          </a:prstGeom>
          <a:noFill/>
        </p:spPr>
        <p:txBody>
          <a:bodyPr wrap="square" lIns="0" rIns="0" tIns="0" bIns="0" anchor="t">
            <a:spAutoFit/>
          </a:bodyPr>
          <a:lstStyle/>
          <a:p>
            <a:pPr algn="l">
              <a:spcAft>
                <a:spcPts val="100"/>
              </a:spcAft>
            </a:pPr>
            <a:r>
              <a:rPr sz="2200" b="1">
                <a:solidFill>
                  <a:srgbClr val="D9581C"/>
                </a:solidFill>
                <a:latin typeface="Rubik"/>
              </a:rPr>
              <a:t>1.52 M</a:t>
            </a:r>
          </a:p>
          <a:p>
            <a:pPr algn="l">
              <a:lnSpc>
                <a:spcPct val="106000"/>
              </a:lnSpc>
            </a:pPr>
            <a:r>
              <a:rPr sz="860" b="0">
                <a:solidFill>
                  <a:srgbClr val="6B7A72"/>
                </a:solidFill>
                <a:latin typeface="DM Sans"/>
              </a:rPr>
              <a:t>deaths a year linked to unsafe food</a:t>
            </a:r>
          </a:p>
        </p:txBody>
      </p:sp>
      <p:sp>
        <p:nvSpPr>
          <p:cNvPr id="52" name="Rounded Rectangle 51"/>
          <p:cNvSpPr/>
          <p:nvPr/>
        </p:nvSpPr>
        <p:spPr>
          <a:xfrm>
            <a:off x="8284464" y="2798064"/>
            <a:ext cx="3319272"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284464" y="2798064"/>
            <a:ext cx="50292" cy="914400"/>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85632" y="2889504"/>
            <a:ext cx="2990088" cy="749808"/>
          </a:xfrm>
          <a:prstGeom prst="rect">
            <a:avLst/>
          </a:prstGeom>
          <a:noFill/>
        </p:spPr>
        <p:txBody>
          <a:bodyPr wrap="square" lIns="0" rIns="0" tIns="0" bIns="0" anchor="t">
            <a:spAutoFit/>
          </a:bodyPr>
          <a:lstStyle/>
          <a:p>
            <a:pPr algn="l">
              <a:spcAft>
                <a:spcPts val="100"/>
              </a:spcAft>
            </a:pPr>
            <a:r>
              <a:rPr sz="2200" b="1">
                <a:solidFill>
                  <a:srgbClr val="F26B2A"/>
                </a:solidFill>
                <a:latin typeface="Rubik"/>
              </a:rPr>
              <a:t>37.3%</a:t>
            </a:r>
          </a:p>
          <a:p>
            <a:pPr algn="l">
              <a:lnSpc>
                <a:spcPct val="106000"/>
              </a:lnSpc>
            </a:pPr>
            <a:r>
              <a:rPr sz="860" b="0">
                <a:solidFill>
                  <a:srgbClr val="6B7A72"/>
                </a:solidFill>
                <a:latin typeface="DM Sans"/>
              </a:rPr>
              <a:t>of India's milk and dairy samples failed FSSAI tests in FY 2025-26</a:t>
            </a:r>
          </a:p>
        </p:txBody>
      </p:sp>
      <p:sp>
        <p:nvSpPr>
          <p:cNvPr id="55" name="TextBox 54"/>
          <p:cNvSpPr txBox="1"/>
          <p:nvPr/>
        </p:nvSpPr>
        <p:spPr>
          <a:xfrm>
            <a:off x="813816" y="3877056"/>
            <a:ext cx="4937760" cy="155448"/>
          </a:xfrm>
          <a:prstGeom prst="rect">
            <a:avLst/>
          </a:prstGeom>
          <a:noFill/>
        </p:spPr>
        <p:txBody>
          <a:bodyPr wrap="square" lIns="0" rIns="0" tIns="0" bIns="0" anchor="t">
            <a:spAutoFit/>
          </a:bodyPr>
          <a:lstStyle/>
          <a:p>
            <a:pPr algn="l"/>
            <a:r>
              <a:rPr sz="819" b="1">
                <a:solidFill>
                  <a:srgbClr val="6B7A72"/>
                </a:solidFill>
                <a:latin typeface="DM Sans"/>
              </a:rPr>
              <a:t>FSSAI SURVEILLANCE, TWO YEARS RUNNING</a:t>
            </a:r>
          </a:p>
        </p:txBody>
      </p:sp>
      <p:pic>
        <p:nvPicPr>
          <p:cNvPr id="56" name="Picture 55" descr="c_fssai.png"/>
          <p:cNvPicPr>
            <a:picLocks noChangeAspect="1"/>
          </p:cNvPicPr>
          <p:nvPr/>
        </p:nvPicPr>
        <p:blipFill>
          <a:blip r:embed="rId3"/>
          <a:stretch>
            <a:fillRect/>
          </a:stretch>
        </p:blipFill>
        <p:spPr>
          <a:xfrm>
            <a:off x="1683911" y="4041648"/>
            <a:ext cx="3197568" cy="1700784"/>
          </a:xfrm>
          <a:prstGeom prst="rect">
            <a:avLst/>
          </a:prstGeom>
        </p:spPr>
      </p:pic>
      <p:sp>
        <p:nvSpPr>
          <p:cNvPr id="57" name="TextBox 56"/>
          <p:cNvSpPr txBox="1"/>
          <p:nvPr/>
        </p:nvSpPr>
        <p:spPr>
          <a:xfrm>
            <a:off x="813816" y="5779008"/>
            <a:ext cx="4937760" cy="237744"/>
          </a:xfrm>
          <a:prstGeom prst="rect">
            <a:avLst/>
          </a:prstGeom>
          <a:noFill/>
        </p:spPr>
        <p:txBody>
          <a:bodyPr wrap="square" lIns="0" rIns="0" tIns="0" bIns="0" anchor="t">
            <a:spAutoFit/>
          </a:bodyPr>
          <a:lstStyle/>
          <a:p>
            <a:pPr algn="l"/>
            <a:r>
              <a:rPr sz="740" b="0">
                <a:solidFill>
                  <a:srgbClr val="9DB3A7"/>
                </a:solidFill>
                <a:latin typeface="DM Sans"/>
              </a:rPr>
              <a:t>FSSAI data tabled in Parliament, Lok Sabha Unstarred Q 1092, 24 July 2026</a:t>
            </a:r>
          </a:p>
        </p:txBody>
      </p:sp>
      <p:sp>
        <p:nvSpPr>
          <p:cNvPr id="58" name="Rounded Rectangle 57"/>
          <p:cNvSpPr/>
          <p:nvPr/>
        </p:nvSpPr>
        <p:spPr>
          <a:xfrm>
            <a:off x="5961888" y="3877056"/>
            <a:ext cx="5641848" cy="9326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181344" y="4050792"/>
            <a:ext cx="5202936" cy="621792"/>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What a buyer has today</a:t>
            </a:r>
          </a:p>
          <a:p>
            <a:pPr algn="l">
              <a:lnSpc>
                <a:spcPct val="112000"/>
              </a:lnSpc>
              <a:spcAft>
                <a:spcPts val="350"/>
              </a:spcAft>
            </a:pPr>
            <a:r>
              <a:rPr sz="900" b="0">
                <a:solidFill>
                  <a:srgbClr val="1F3A30"/>
                </a:solidFill>
                <a:latin typeface="DM Sans"/>
              </a:rPr>
              <a:t>A lab sample takes days and costs more than the milk. Rapid kit strips exist, but they read by eye, so two people get two answers and nobody keeps a record.</a:t>
            </a:r>
          </a:p>
        </p:txBody>
      </p:sp>
      <p:sp>
        <p:nvSpPr>
          <p:cNvPr id="60" name="TextBox 59"/>
          <p:cNvSpPr txBox="1"/>
          <p:nvPr/>
        </p:nvSpPr>
        <p:spPr>
          <a:xfrm>
            <a:off x="5961888" y="4956048"/>
            <a:ext cx="5641848" cy="155448"/>
          </a:xfrm>
          <a:prstGeom prst="rect">
            <a:avLst/>
          </a:prstGeom>
          <a:noFill/>
        </p:spPr>
        <p:txBody>
          <a:bodyPr wrap="square" lIns="0" rIns="0" tIns="0" bIns="0" anchor="t">
            <a:spAutoFit/>
          </a:bodyPr>
          <a:lstStyle/>
          <a:p>
            <a:pPr algn="l"/>
            <a:r>
              <a:rPr sz="819" b="1">
                <a:solidFill>
                  <a:srgbClr val="6B7A72"/>
                </a:solidFill>
                <a:latin typeface="DM Sans"/>
              </a:rPr>
              <a:t>WHO THIS PUTS A CHECK IN THE HANDS OF</a:t>
            </a:r>
          </a:p>
        </p:txBody>
      </p:sp>
      <p:sp>
        <p:nvSpPr>
          <p:cNvPr id="61" name="Rounded Rectangle 60"/>
          <p:cNvSpPr/>
          <p:nvPr/>
        </p:nvSpPr>
        <p:spPr>
          <a:xfrm>
            <a:off x="5961888" y="5138928"/>
            <a:ext cx="148132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016751" y="5138928"/>
            <a:ext cx="1371600" cy="274320"/>
          </a:xfrm>
          <a:prstGeom prst="rect">
            <a:avLst/>
          </a:prstGeom>
          <a:noFill/>
        </p:spPr>
        <p:txBody>
          <a:bodyPr wrap="square" lIns="0" rIns="0" tIns="0" bIns="0" anchor="ctr">
            <a:spAutoFit/>
          </a:bodyPr>
          <a:lstStyle/>
          <a:p>
            <a:pPr algn="ctr"/>
            <a:r>
              <a:rPr sz="840" b="0">
                <a:solidFill>
                  <a:srgbClr val="1F3A30"/>
                </a:solidFill>
                <a:latin typeface="DM Sans"/>
              </a:rPr>
              <a:t>Street vendors</a:t>
            </a:r>
          </a:p>
        </p:txBody>
      </p:sp>
      <p:sp>
        <p:nvSpPr>
          <p:cNvPr id="63" name="Rounded Rectangle 62"/>
          <p:cNvSpPr/>
          <p:nvPr/>
        </p:nvSpPr>
        <p:spPr>
          <a:xfrm>
            <a:off x="7552944" y="5138928"/>
            <a:ext cx="1920240"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607808" y="5138928"/>
            <a:ext cx="1810512" cy="274320"/>
          </a:xfrm>
          <a:prstGeom prst="rect">
            <a:avLst/>
          </a:prstGeom>
          <a:noFill/>
        </p:spPr>
        <p:txBody>
          <a:bodyPr wrap="square" lIns="0" rIns="0" tIns="0" bIns="0" anchor="ctr">
            <a:spAutoFit/>
          </a:bodyPr>
          <a:lstStyle/>
          <a:p>
            <a:pPr algn="ctr"/>
            <a:r>
              <a:rPr sz="840" b="0">
                <a:solidFill>
                  <a:srgbClr val="1F3A30"/>
                </a:solidFill>
                <a:latin typeface="DM Sans"/>
              </a:rPr>
              <a:t>Canteens &amp; hostels</a:t>
            </a:r>
          </a:p>
        </p:txBody>
      </p:sp>
      <p:sp>
        <p:nvSpPr>
          <p:cNvPr id="65" name="Rounded Rectangle 64"/>
          <p:cNvSpPr/>
          <p:nvPr/>
        </p:nvSpPr>
        <p:spPr>
          <a:xfrm>
            <a:off x="9582912" y="5138928"/>
            <a:ext cx="212140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637776" y="5138928"/>
            <a:ext cx="2011679" cy="274320"/>
          </a:xfrm>
          <a:prstGeom prst="rect">
            <a:avLst/>
          </a:prstGeom>
          <a:noFill/>
        </p:spPr>
        <p:txBody>
          <a:bodyPr wrap="square" lIns="0" rIns="0" tIns="0" bIns="0" anchor="ctr">
            <a:spAutoFit/>
          </a:bodyPr>
          <a:lstStyle/>
          <a:p>
            <a:pPr algn="ctr"/>
            <a:r>
              <a:rPr sz="840" b="0">
                <a:solidFill>
                  <a:srgbClr val="1F3A30"/>
                </a:solidFill>
                <a:latin typeface="DM Sans"/>
              </a:rPr>
              <a:t>Dairy collection centres</a:t>
            </a:r>
          </a:p>
        </p:txBody>
      </p:sp>
      <p:sp>
        <p:nvSpPr>
          <p:cNvPr id="67" name="Rounded Rectangle 66"/>
          <p:cNvSpPr/>
          <p:nvPr/>
        </p:nvSpPr>
        <p:spPr>
          <a:xfrm>
            <a:off x="5961888" y="5486400"/>
            <a:ext cx="2377440"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016751" y="5486400"/>
            <a:ext cx="2267712" cy="274320"/>
          </a:xfrm>
          <a:prstGeom prst="rect">
            <a:avLst/>
          </a:prstGeom>
          <a:noFill/>
        </p:spPr>
        <p:txBody>
          <a:bodyPr wrap="square" lIns="0" rIns="0" tIns="0" bIns="0" anchor="ctr">
            <a:spAutoFit/>
          </a:bodyPr>
          <a:lstStyle/>
          <a:p>
            <a:pPr algn="ctr"/>
            <a:r>
              <a:rPr sz="840" b="0">
                <a:solidFill>
                  <a:srgbClr val="1F3A30"/>
                </a:solidFill>
                <a:latin typeface="DM Sans"/>
              </a:rPr>
              <a:t>Mothers buying loose milk</a:t>
            </a:r>
          </a:p>
        </p:txBody>
      </p:sp>
      <p:sp>
        <p:nvSpPr>
          <p:cNvPr id="69" name="Rounded Rectangle 68"/>
          <p:cNvSpPr/>
          <p:nvPr/>
        </p:nvSpPr>
        <p:spPr>
          <a:xfrm>
            <a:off x="8449056" y="5486400"/>
            <a:ext cx="157276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503920" y="5486400"/>
            <a:ext cx="1463040" cy="274320"/>
          </a:xfrm>
          <a:prstGeom prst="rect">
            <a:avLst/>
          </a:prstGeom>
          <a:noFill/>
        </p:spPr>
        <p:txBody>
          <a:bodyPr wrap="square" lIns="0" rIns="0" tIns="0" bIns="0" anchor="ctr">
            <a:spAutoFit/>
          </a:bodyPr>
          <a:lstStyle/>
          <a:p>
            <a:pPr algn="ctr"/>
            <a:r>
              <a:rPr sz="840" b="0">
                <a:solidFill>
                  <a:srgbClr val="1F3A30"/>
                </a:solidFill>
                <a:latin typeface="DM Sans"/>
              </a:rPr>
              <a:t>Mess committees</a:t>
            </a:r>
          </a:p>
        </p:txBody>
      </p:sp>
      <p:sp>
        <p:nvSpPr>
          <p:cNvPr id="71" name="Rounded Rectangle 70"/>
          <p:cNvSpPr/>
          <p:nvPr/>
        </p:nvSpPr>
        <p:spPr>
          <a:xfrm>
            <a:off x="10131552" y="5486400"/>
            <a:ext cx="157276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0186416" y="5486400"/>
            <a:ext cx="1463040" cy="274320"/>
          </a:xfrm>
          <a:prstGeom prst="rect">
            <a:avLst/>
          </a:prstGeom>
          <a:noFill/>
        </p:spPr>
        <p:txBody>
          <a:bodyPr wrap="square" lIns="0" rIns="0" tIns="0" bIns="0" anchor="ctr">
            <a:spAutoFit/>
          </a:bodyPr>
          <a:lstStyle/>
          <a:p>
            <a:pPr algn="ctr"/>
            <a:r>
              <a:rPr sz="840" b="0">
                <a:solidFill>
                  <a:srgbClr val="1F3A30"/>
                </a:solidFill>
                <a:latin typeface="DM Sans"/>
              </a:rPr>
              <a:t>Food inspectors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5"/>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51" name="Google Shape;51;p5"/>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Proposed Solution &amp; Innovation</a:t>
            </a:r>
            <a:endParaRPr b="0" i="0" sz="3600" u="none" cap="none" strike="noStrike">
              <a:solidFill>
                <a:schemeClr val="dk1"/>
              </a:solidFill>
              <a:latin typeface="Calibri"/>
              <a:ea typeface="Calibri"/>
              <a:cs typeface="Calibri"/>
              <a:sym typeface="Calibri"/>
            </a:endParaRPr>
          </a:p>
        </p:txBody>
      </p:sp>
      <p:sp>
        <p:nvSpPr>
          <p:cNvPr id="53" name="Google Shape;53;p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03</a:t>
            </a:r>
            <a:endParaRPr b="0" i="0" sz="1200" u="none" cap="none" strike="noStrike">
              <a:solidFill>
                <a:schemeClr val="dk1"/>
              </a:solidFill>
              <a:latin typeface="Calibri"/>
              <a:ea typeface="Calibri"/>
              <a:cs typeface="Calibri"/>
              <a:sym typeface="Calibri"/>
            </a:endParaRPr>
          </a:p>
        </p:txBody>
      </p:sp>
      <p:sp>
        <p:nvSpPr>
          <p:cNvPr id="54" name="TextBox 53"/>
          <p:cNvSpPr txBox="1"/>
          <p:nvPr/>
        </p:nvSpPr>
        <p:spPr>
          <a:xfrm>
            <a:off x="813816" y="2066543"/>
            <a:ext cx="10881360" cy="310896"/>
          </a:xfrm>
          <a:prstGeom prst="rect">
            <a:avLst/>
          </a:prstGeom>
          <a:noFill/>
        </p:spPr>
        <p:txBody>
          <a:bodyPr wrap="square" lIns="0" rIns="0" tIns="0" bIns="0" anchor="t">
            <a:spAutoFit/>
          </a:bodyPr>
          <a:lstStyle/>
          <a:p>
            <a:pPr algn="l"/>
            <a:r>
              <a:rPr sz="1200" b="0">
                <a:solidFill>
                  <a:srgbClr val="1F3A30"/>
                </a:solidFill>
                <a:latin typeface="DM Sans"/>
              </a:rPr>
              <a:t>A printed card with two reagent zones. One drop of the sample, one photo, one verdict with a confidence you can argue with.</a:t>
            </a:r>
          </a:p>
        </p:txBody>
      </p:sp>
      <p:sp>
        <p:nvSpPr>
          <p:cNvPr id="55" name="Rounded Rectangle 54"/>
          <p:cNvSpPr/>
          <p:nvPr/>
        </p:nvSpPr>
        <p:spPr>
          <a:xfrm>
            <a:off x="81381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7840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01</a:t>
            </a:r>
          </a:p>
          <a:p>
            <a:pPr algn="l">
              <a:spcAft>
                <a:spcPts val="300"/>
              </a:spcAft>
            </a:pPr>
            <a:r>
              <a:rPr sz="1000" b="1">
                <a:solidFill>
                  <a:srgbClr val="2A4A3E"/>
                </a:solidFill>
                <a:latin typeface="Rubik"/>
              </a:rPr>
              <a:t>Print the card</a:t>
            </a:r>
          </a:p>
          <a:p>
            <a:pPr algn="l">
              <a:lnSpc>
                <a:spcPct val="110000"/>
              </a:lnSpc>
            </a:pPr>
            <a:r>
              <a:rPr sz="800" b="0">
                <a:solidFill>
                  <a:srgbClr val="6B7A72"/>
                </a:solidFill>
                <a:latin typeface="DM Sans"/>
              </a:rPr>
              <a:t>White, grey and black patches plus two reaction zones</a:t>
            </a:r>
          </a:p>
        </p:txBody>
      </p:sp>
      <p:sp>
        <p:nvSpPr>
          <p:cNvPr id="57" name="Isosceles Triangle 56"/>
          <p:cNvSpPr/>
          <p:nvPr/>
        </p:nvSpPr>
        <p:spPr>
          <a:xfrm rot="5400000">
            <a:off x="285750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03123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319582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02</a:t>
            </a:r>
          </a:p>
          <a:p>
            <a:pPr algn="l">
              <a:spcAft>
                <a:spcPts val="300"/>
              </a:spcAft>
            </a:pPr>
            <a:r>
              <a:rPr sz="1000" b="1">
                <a:solidFill>
                  <a:srgbClr val="2A4A3E"/>
                </a:solidFill>
                <a:latin typeface="Rubik"/>
              </a:rPr>
              <a:t>Add one drop</a:t>
            </a:r>
          </a:p>
          <a:p>
            <a:pPr algn="l">
              <a:lnSpc>
                <a:spcPct val="110000"/>
              </a:lnSpc>
            </a:pPr>
            <a:r>
              <a:rPr sz="800" b="0">
                <a:solidFill>
                  <a:srgbClr val="6B7A72"/>
                </a:solidFill>
                <a:latin typeface="DM Sans"/>
              </a:rPr>
              <a:t>Iodine for starch, methylene blue for detergent</a:t>
            </a:r>
          </a:p>
        </p:txBody>
      </p:sp>
      <p:sp>
        <p:nvSpPr>
          <p:cNvPr id="60" name="Isosceles Triangle 59"/>
          <p:cNvSpPr/>
          <p:nvPr/>
        </p:nvSpPr>
        <p:spPr>
          <a:xfrm rot="5400000">
            <a:off x="507492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24865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41324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03</a:t>
            </a:r>
          </a:p>
          <a:p>
            <a:pPr algn="l">
              <a:spcAft>
                <a:spcPts val="300"/>
              </a:spcAft>
            </a:pPr>
            <a:r>
              <a:rPr sz="1000" b="1">
                <a:solidFill>
                  <a:srgbClr val="2A4A3E"/>
                </a:solidFill>
                <a:latin typeface="Rubik"/>
              </a:rPr>
              <a:t>Photograph it</a:t>
            </a:r>
          </a:p>
          <a:p>
            <a:pPr algn="l">
              <a:lnSpc>
                <a:spcPct val="110000"/>
              </a:lnSpc>
            </a:pPr>
            <a:r>
              <a:rPr sz="800" b="0">
                <a:solidFill>
                  <a:srgbClr val="6B7A72"/>
                </a:solidFill>
                <a:latin typeface="DM Sans"/>
              </a:rPr>
              <a:t>Any phone camera, any light, no app store</a:t>
            </a:r>
          </a:p>
        </p:txBody>
      </p:sp>
      <p:sp>
        <p:nvSpPr>
          <p:cNvPr id="63" name="Isosceles Triangle 62"/>
          <p:cNvSpPr/>
          <p:nvPr/>
        </p:nvSpPr>
        <p:spPr>
          <a:xfrm rot="5400000">
            <a:off x="729234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46607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63066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04</a:t>
            </a:r>
          </a:p>
          <a:p>
            <a:pPr algn="l">
              <a:spcAft>
                <a:spcPts val="300"/>
              </a:spcAft>
            </a:pPr>
            <a:r>
              <a:rPr sz="1000" b="1">
                <a:solidFill>
                  <a:srgbClr val="2A4A3E"/>
                </a:solidFill>
                <a:latin typeface="Rubik"/>
              </a:rPr>
              <a:t>Read the colour</a:t>
            </a:r>
          </a:p>
          <a:p>
            <a:pPr algn="l">
              <a:lnSpc>
                <a:spcPct val="110000"/>
              </a:lnSpc>
            </a:pPr>
            <a:r>
              <a:rPr sz="800" b="0">
                <a:solidFill>
                  <a:srgbClr val="6B7A72"/>
                </a:solidFill>
                <a:latin typeface="DM Sans"/>
              </a:rPr>
              <a:t>The app compares each zone against the printed patches</a:t>
            </a:r>
          </a:p>
        </p:txBody>
      </p:sp>
      <p:sp>
        <p:nvSpPr>
          <p:cNvPr id="66" name="Isosceles Triangle 65"/>
          <p:cNvSpPr/>
          <p:nvPr/>
        </p:nvSpPr>
        <p:spPr>
          <a:xfrm rot="5400000">
            <a:off x="950976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68349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84808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05</a:t>
            </a:r>
          </a:p>
          <a:p>
            <a:pPr algn="l">
              <a:spcAft>
                <a:spcPts val="300"/>
              </a:spcAft>
            </a:pPr>
            <a:r>
              <a:rPr sz="1000" b="1">
                <a:solidFill>
                  <a:srgbClr val="2A4A3E"/>
                </a:solidFill>
                <a:latin typeface="Rubik"/>
              </a:rPr>
              <a:t>Keep the record</a:t>
            </a:r>
          </a:p>
          <a:p>
            <a:pPr algn="l">
              <a:lnSpc>
                <a:spcPct val="110000"/>
              </a:lnSpc>
            </a:pPr>
            <a:r>
              <a:rPr sz="800" b="0">
                <a:solidFill>
                  <a:srgbClr val="6B7A72"/>
                </a:solidFill>
                <a:latin typeface="DM Sans"/>
              </a:rPr>
              <a:t>Every test is logged and gets a PDF with a QR code</a:t>
            </a:r>
          </a:p>
        </p:txBody>
      </p:sp>
      <p:sp>
        <p:nvSpPr>
          <p:cNvPr id="69" name="TextBox 68"/>
          <p:cNvSpPr txBox="1"/>
          <p:nvPr/>
        </p:nvSpPr>
        <p:spPr>
          <a:xfrm>
            <a:off x="813816" y="3877056"/>
            <a:ext cx="5120640" cy="155448"/>
          </a:xfrm>
          <a:prstGeom prst="rect">
            <a:avLst/>
          </a:prstGeom>
          <a:noFill/>
        </p:spPr>
        <p:txBody>
          <a:bodyPr wrap="square" lIns="0" rIns="0" tIns="0" bIns="0" anchor="t">
            <a:spAutoFit/>
          </a:bodyPr>
          <a:lstStyle/>
          <a:p>
            <a:pPr algn="l"/>
            <a:r>
              <a:rPr sz="819" b="1">
                <a:solidFill>
                  <a:srgbClr val="6B7A72"/>
                </a:solidFill>
                <a:latin typeface="DM Sans"/>
              </a:rPr>
              <a:t>WHAT IT CALLS OUT</a:t>
            </a:r>
          </a:p>
        </p:txBody>
      </p:sp>
      <p:sp>
        <p:nvSpPr>
          <p:cNvPr id="70" name="Rounded Rectangle 69"/>
          <p:cNvSpPr/>
          <p:nvPr/>
        </p:nvSpPr>
        <p:spPr>
          <a:xfrm>
            <a:off x="813816" y="4059936"/>
            <a:ext cx="85953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868680" y="4059936"/>
            <a:ext cx="749808" cy="292608"/>
          </a:xfrm>
          <a:prstGeom prst="rect">
            <a:avLst/>
          </a:prstGeom>
          <a:noFill/>
        </p:spPr>
        <p:txBody>
          <a:bodyPr wrap="square" lIns="0" rIns="0" tIns="0" bIns="0" anchor="ctr">
            <a:spAutoFit/>
          </a:bodyPr>
          <a:lstStyle/>
          <a:p>
            <a:pPr algn="ctr"/>
            <a:r>
              <a:rPr sz="840" b="0">
                <a:solidFill>
                  <a:srgbClr val="1F3A30"/>
                </a:solidFill>
                <a:latin typeface="DM Sans"/>
              </a:rPr>
              <a:t>Starch</a:t>
            </a:r>
          </a:p>
        </p:txBody>
      </p:sp>
      <p:sp>
        <p:nvSpPr>
          <p:cNvPr id="72" name="Rounded Rectangle 71"/>
          <p:cNvSpPr/>
          <p:nvPr/>
        </p:nvSpPr>
        <p:spPr>
          <a:xfrm>
            <a:off x="1764792" y="4059936"/>
            <a:ext cx="1060704"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819656" y="4059936"/>
            <a:ext cx="950976" cy="292608"/>
          </a:xfrm>
          <a:prstGeom prst="rect">
            <a:avLst/>
          </a:prstGeom>
          <a:noFill/>
        </p:spPr>
        <p:txBody>
          <a:bodyPr wrap="square" lIns="0" rIns="0" tIns="0" bIns="0" anchor="ctr">
            <a:spAutoFit/>
          </a:bodyPr>
          <a:lstStyle/>
          <a:p>
            <a:pPr algn="ctr"/>
            <a:r>
              <a:rPr sz="840" b="0">
                <a:solidFill>
                  <a:srgbClr val="1F3A30"/>
                </a:solidFill>
                <a:latin typeface="DM Sans"/>
              </a:rPr>
              <a:t>Detergent</a:t>
            </a:r>
          </a:p>
        </p:txBody>
      </p:sp>
      <p:sp>
        <p:nvSpPr>
          <p:cNvPr id="74" name="Rounded Rectangle 73"/>
          <p:cNvSpPr/>
          <p:nvPr/>
        </p:nvSpPr>
        <p:spPr>
          <a:xfrm>
            <a:off x="2916936" y="4059936"/>
            <a:ext cx="76809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971800" y="4059936"/>
            <a:ext cx="658368" cy="292608"/>
          </a:xfrm>
          <a:prstGeom prst="rect">
            <a:avLst/>
          </a:prstGeom>
          <a:noFill/>
        </p:spPr>
        <p:txBody>
          <a:bodyPr wrap="square" lIns="0" rIns="0" tIns="0" bIns="0" anchor="ctr">
            <a:spAutoFit/>
          </a:bodyPr>
          <a:lstStyle/>
          <a:p>
            <a:pPr algn="ctr"/>
            <a:r>
              <a:rPr sz="840" b="0">
                <a:solidFill>
                  <a:srgbClr val="1F3A30"/>
                </a:solidFill>
                <a:latin typeface="DM Sans"/>
              </a:rPr>
              <a:t>Both</a:t>
            </a:r>
          </a:p>
        </p:txBody>
      </p:sp>
      <p:sp>
        <p:nvSpPr>
          <p:cNvPr id="76" name="Rounded Rectangle 75"/>
          <p:cNvSpPr/>
          <p:nvPr/>
        </p:nvSpPr>
        <p:spPr>
          <a:xfrm>
            <a:off x="3776472" y="4059936"/>
            <a:ext cx="76809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3831335" y="4059936"/>
            <a:ext cx="658368" cy="292608"/>
          </a:xfrm>
          <a:prstGeom prst="rect">
            <a:avLst/>
          </a:prstGeom>
          <a:noFill/>
        </p:spPr>
        <p:txBody>
          <a:bodyPr wrap="square" lIns="0" rIns="0" tIns="0" bIns="0" anchor="ctr">
            <a:spAutoFit/>
          </a:bodyPr>
          <a:lstStyle/>
          <a:p>
            <a:pPr algn="ctr"/>
            <a:r>
              <a:rPr sz="840" b="0">
                <a:solidFill>
                  <a:srgbClr val="1F3A30"/>
                </a:solidFill>
                <a:latin typeface="DM Sans"/>
              </a:rPr>
              <a:t>None</a:t>
            </a:r>
          </a:p>
        </p:txBody>
      </p:sp>
      <p:sp>
        <p:nvSpPr>
          <p:cNvPr id="78" name="Rounded Rectangle 77"/>
          <p:cNvSpPr/>
          <p:nvPr/>
        </p:nvSpPr>
        <p:spPr>
          <a:xfrm>
            <a:off x="4636007" y="4059936"/>
            <a:ext cx="1243584" cy="292608"/>
          </a:xfrm>
          <a:prstGeom prst="roundRect">
            <a:avLst>
              <a:gd name="adj" fmla="val 45000"/>
            </a:avLst>
          </a:prstGeom>
          <a:solidFill>
            <a:srgbClr val="F5C842"/>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4690871" y="4059936"/>
            <a:ext cx="1133856" cy="292608"/>
          </a:xfrm>
          <a:prstGeom prst="rect">
            <a:avLst/>
          </a:prstGeom>
          <a:noFill/>
        </p:spPr>
        <p:txBody>
          <a:bodyPr wrap="square" lIns="0" rIns="0" tIns="0" bIns="0" anchor="ctr">
            <a:spAutoFit/>
          </a:bodyPr>
          <a:lstStyle/>
          <a:p>
            <a:pPr algn="ctr"/>
            <a:r>
              <a:rPr sz="840" b="0">
                <a:solidFill>
                  <a:srgbClr val="B88F14"/>
                </a:solidFill>
                <a:latin typeface="DM Sans"/>
              </a:rPr>
              <a:t>Inconclusive</a:t>
            </a:r>
          </a:p>
        </p:txBody>
      </p:sp>
      <p:sp>
        <p:nvSpPr>
          <p:cNvPr id="80" name="TextBox 79"/>
          <p:cNvSpPr txBox="1"/>
          <p:nvPr/>
        </p:nvSpPr>
        <p:spPr>
          <a:xfrm>
            <a:off x="813816" y="4443984"/>
            <a:ext cx="5120640" cy="402336"/>
          </a:xfrm>
          <a:prstGeom prst="rect">
            <a:avLst/>
          </a:prstGeom>
          <a:noFill/>
        </p:spPr>
        <p:txBody>
          <a:bodyPr wrap="square" lIns="0" rIns="0" tIns="0" bIns="0" anchor="t">
            <a:spAutoFit/>
          </a:bodyPr>
          <a:lstStyle/>
          <a:p>
            <a:pPr algn="l">
              <a:lnSpc>
                <a:spcPct val="114000"/>
              </a:lnSpc>
            </a:pPr>
            <a:r>
              <a:rPr sz="860" b="0">
                <a:solidFill>
                  <a:srgbClr val="6B7A72"/>
                </a:solidFill>
                <a:latin typeface="DM Sans"/>
              </a:rPr>
              <a:t>Starch turns iodine blue-black. Detergent shifts methylene blue. Both zones are measured as ΔE against the printed reference patches.</a:t>
            </a:r>
          </a:p>
        </p:txBody>
      </p:sp>
      <p:sp>
        <p:nvSpPr>
          <p:cNvPr id="81" name="Rounded Rectangle 80"/>
          <p:cNvSpPr/>
          <p:nvPr/>
        </p:nvSpPr>
        <p:spPr>
          <a:xfrm>
            <a:off x="813816" y="4974336"/>
            <a:ext cx="5120640" cy="109728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813816" y="4974336"/>
            <a:ext cx="5120640"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3271" y="5148072"/>
            <a:ext cx="4681727" cy="78638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The refusal to guess</a:t>
            </a:r>
          </a:p>
          <a:p>
            <a:pPr algn="l">
              <a:lnSpc>
                <a:spcPct val="112000"/>
              </a:lnSpc>
              <a:spcAft>
                <a:spcPts val="350"/>
              </a:spcAft>
            </a:pPr>
            <a:r>
              <a:rPr sz="880" b="0">
                <a:solidFill>
                  <a:srgbClr val="1F3A30"/>
                </a:solidFill>
                <a:latin typeface="DM Sans"/>
              </a:rPr>
              <a:t>Confidence is temperature-calibrated, so a reported 90% means 90%. Anything below the threshold returns no verdict at all and is marked inconclusive. A wrong answer a family acts on is worse than no answer.</a:t>
            </a:r>
          </a:p>
        </p:txBody>
      </p:sp>
      <p:sp>
        <p:nvSpPr>
          <p:cNvPr id="84" name="TextBox 83"/>
          <p:cNvSpPr txBox="1"/>
          <p:nvPr/>
        </p:nvSpPr>
        <p:spPr>
          <a:xfrm>
            <a:off x="6144768" y="3877056"/>
            <a:ext cx="5541264" cy="155448"/>
          </a:xfrm>
          <a:prstGeom prst="rect">
            <a:avLst/>
          </a:prstGeom>
          <a:noFill/>
        </p:spPr>
        <p:txBody>
          <a:bodyPr wrap="square" lIns="0" rIns="0" tIns="0" bIns="0" anchor="t">
            <a:spAutoFit/>
          </a:bodyPr>
          <a:lstStyle/>
          <a:p>
            <a:pPr algn="l"/>
            <a:r>
              <a:rPr sz="819" b="1">
                <a:solidFill>
                  <a:srgbClr val="6B7A72"/>
                </a:solidFill>
                <a:latin typeface="DM Sans"/>
              </a:rPr>
              <a:t>AGAINST WHAT EXISTS</a:t>
            </a:r>
          </a:p>
        </p:txBody>
      </p:sp>
      <p:sp>
        <p:nvSpPr>
          <p:cNvPr id="85" name="TextBox 84"/>
          <p:cNvSpPr txBox="1"/>
          <p:nvPr/>
        </p:nvSpPr>
        <p:spPr>
          <a:xfrm>
            <a:off x="7589520" y="4059936"/>
            <a:ext cx="1060704" cy="182880"/>
          </a:xfrm>
          <a:prstGeom prst="rect">
            <a:avLst/>
          </a:prstGeom>
          <a:noFill/>
        </p:spPr>
        <p:txBody>
          <a:bodyPr wrap="square" lIns="0" rIns="0" tIns="0" bIns="0" anchor="ctr">
            <a:spAutoFit/>
          </a:bodyPr>
          <a:lstStyle/>
          <a:p>
            <a:pPr algn="ctr"/>
            <a:r>
              <a:rPr sz="760" b="1">
                <a:solidFill>
                  <a:srgbClr val="6B7A72"/>
                </a:solidFill>
                <a:latin typeface="DM Sans"/>
              </a:rPr>
              <a:t>Time to answer</a:t>
            </a:r>
          </a:p>
        </p:txBody>
      </p:sp>
      <p:sp>
        <p:nvSpPr>
          <p:cNvPr id="86" name="TextBox 85"/>
          <p:cNvSpPr txBox="1"/>
          <p:nvPr/>
        </p:nvSpPr>
        <p:spPr>
          <a:xfrm>
            <a:off x="8650224" y="4059936"/>
            <a:ext cx="969264" cy="182880"/>
          </a:xfrm>
          <a:prstGeom prst="rect">
            <a:avLst/>
          </a:prstGeom>
          <a:noFill/>
        </p:spPr>
        <p:txBody>
          <a:bodyPr wrap="square" lIns="0" rIns="0" tIns="0" bIns="0" anchor="ctr">
            <a:spAutoFit/>
          </a:bodyPr>
          <a:lstStyle/>
          <a:p>
            <a:pPr algn="ctr"/>
            <a:r>
              <a:rPr sz="760" b="1">
                <a:solidFill>
                  <a:srgbClr val="6B7A72"/>
                </a:solidFill>
                <a:latin typeface="DM Sans"/>
              </a:rPr>
              <a:t>Needs a lab</a:t>
            </a:r>
          </a:p>
        </p:txBody>
      </p:sp>
      <p:sp>
        <p:nvSpPr>
          <p:cNvPr id="87" name="TextBox 86"/>
          <p:cNvSpPr txBox="1"/>
          <p:nvPr/>
        </p:nvSpPr>
        <p:spPr>
          <a:xfrm>
            <a:off x="9619488" y="4059936"/>
            <a:ext cx="1097280" cy="182880"/>
          </a:xfrm>
          <a:prstGeom prst="rect">
            <a:avLst/>
          </a:prstGeom>
          <a:noFill/>
        </p:spPr>
        <p:txBody>
          <a:bodyPr wrap="square" lIns="0" rIns="0" tIns="0" bIns="0" anchor="ctr">
            <a:spAutoFit/>
          </a:bodyPr>
          <a:lstStyle/>
          <a:p>
            <a:pPr algn="ctr"/>
            <a:r>
              <a:rPr sz="760" b="1">
                <a:solidFill>
                  <a:srgbClr val="6B7A72"/>
                </a:solidFill>
                <a:latin typeface="DM Sans"/>
              </a:rPr>
              <a:t>Keeps a record</a:t>
            </a:r>
          </a:p>
        </p:txBody>
      </p:sp>
      <p:sp>
        <p:nvSpPr>
          <p:cNvPr id="88" name="TextBox 87"/>
          <p:cNvSpPr txBox="1"/>
          <p:nvPr/>
        </p:nvSpPr>
        <p:spPr>
          <a:xfrm>
            <a:off x="10716768" y="4059936"/>
            <a:ext cx="969264" cy="182880"/>
          </a:xfrm>
          <a:prstGeom prst="rect">
            <a:avLst/>
          </a:prstGeom>
          <a:noFill/>
        </p:spPr>
        <p:txBody>
          <a:bodyPr wrap="square" lIns="0" rIns="0" tIns="0" bIns="0" anchor="ctr">
            <a:spAutoFit/>
          </a:bodyPr>
          <a:lstStyle/>
          <a:p>
            <a:pPr algn="ctr"/>
            <a:r>
              <a:rPr sz="760" b="1">
                <a:solidFill>
                  <a:srgbClr val="6B7A72"/>
                </a:solidFill>
                <a:latin typeface="DM Sans"/>
              </a:rPr>
              <a:t>Works offline</a:t>
            </a:r>
          </a:p>
        </p:txBody>
      </p:sp>
      <p:sp>
        <p:nvSpPr>
          <p:cNvPr id="89" name="Rounded Rectangle 88"/>
          <p:cNvSpPr/>
          <p:nvPr/>
        </p:nvSpPr>
        <p:spPr>
          <a:xfrm>
            <a:off x="6144768" y="4279392"/>
            <a:ext cx="5541264" cy="420624"/>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272783" y="4279392"/>
            <a:ext cx="1280160" cy="420624"/>
          </a:xfrm>
          <a:prstGeom prst="rect">
            <a:avLst/>
          </a:prstGeom>
          <a:noFill/>
        </p:spPr>
        <p:txBody>
          <a:bodyPr wrap="square" lIns="0" rIns="0" tIns="0" bIns="0" anchor="ctr">
            <a:spAutoFit/>
          </a:bodyPr>
          <a:lstStyle/>
          <a:p>
            <a:pPr algn="l"/>
            <a:r>
              <a:rPr sz="880" b="1">
                <a:solidFill>
                  <a:srgbClr val="6B7A72"/>
                </a:solidFill>
                <a:latin typeface="Rubik"/>
              </a:rPr>
              <a:t>Lab test</a:t>
            </a:r>
          </a:p>
        </p:txBody>
      </p:sp>
      <p:sp>
        <p:nvSpPr>
          <p:cNvPr id="91" name="TextBox 90"/>
          <p:cNvSpPr txBox="1"/>
          <p:nvPr/>
        </p:nvSpPr>
        <p:spPr>
          <a:xfrm>
            <a:off x="7589520" y="4279392"/>
            <a:ext cx="1060704" cy="420624"/>
          </a:xfrm>
          <a:prstGeom prst="rect">
            <a:avLst/>
          </a:prstGeom>
          <a:noFill/>
        </p:spPr>
        <p:txBody>
          <a:bodyPr wrap="square" lIns="0" rIns="0" tIns="0" bIns="0" anchor="ctr">
            <a:spAutoFit/>
          </a:bodyPr>
          <a:lstStyle/>
          <a:p>
            <a:pPr algn="ctr"/>
            <a:r>
              <a:rPr sz="840" b="0">
                <a:solidFill>
                  <a:srgbClr val="6B7A72"/>
                </a:solidFill>
                <a:latin typeface="DM Sans"/>
              </a:rPr>
              <a:t>days</a:t>
            </a:r>
          </a:p>
        </p:txBody>
      </p:sp>
      <p:sp>
        <p:nvSpPr>
          <p:cNvPr id="92" name="TextBox 91"/>
          <p:cNvSpPr txBox="1"/>
          <p:nvPr/>
        </p:nvSpPr>
        <p:spPr>
          <a:xfrm>
            <a:off x="8650224" y="4279392"/>
            <a:ext cx="969264"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93" name="TextBox 92"/>
          <p:cNvSpPr txBox="1"/>
          <p:nvPr/>
        </p:nvSpPr>
        <p:spPr>
          <a:xfrm>
            <a:off x="9619488" y="4279392"/>
            <a:ext cx="1097280"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94" name="TextBox 93"/>
          <p:cNvSpPr txBox="1"/>
          <p:nvPr/>
        </p:nvSpPr>
        <p:spPr>
          <a:xfrm>
            <a:off x="10716768" y="4279392"/>
            <a:ext cx="969264"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95" name="Rounded Rectangle 94"/>
          <p:cNvSpPr/>
          <p:nvPr/>
        </p:nvSpPr>
        <p:spPr>
          <a:xfrm>
            <a:off x="6144768" y="4736592"/>
            <a:ext cx="5541264" cy="420624"/>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6272783" y="4736592"/>
            <a:ext cx="1280160" cy="420624"/>
          </a:xfrm>
          <a:prstGeom prst="rect">
            <a:avLst/>
          </a:prstGeom>
          <a:noFill/>
        </p:spPr>
        <p:txBody>
          <a:bodyPr wrap="square" lIns="0" rIns="0" tIns="0" bIns="0" anchor="ctr">
            <a:spAutoFit/>
          </a:bodyPr>
          <a:lstStyle/>
          <a:p>
            <a:pPr algn="l"/>
            <a:r>
              <a:rPr sz="880" b="1">
                <a:solidFill>
                  <a:srgbClr val="6B7A72"/>
                </a:solidFill>
                <a:latin typeface="Rubik"/>
              </a:rPr>
              <a:t>Rapid kit strip</a:t>
            </a:r>
          </a:p>
        </p:txBody>
      </p:sp>
      <p:sp>
        <p:nvSpPr>
          <p:cNvPr id="97" name="TextBox 96"/>
          <p:cNvSpPr txBox="1"/>
          <p:nvPr/>
        </p:nvSpPr>
        <p:spPr>
          <a:xfrm>
            <a:off x="7589520" y="4736592"/>
            <a:ext cx="1060704" cy="420624"/>
          </a:xfrm>
          <a:prstGeom prst="rect">
            <a:avLst/>
          </a:prstGeom>
          <a:noFill/>
        </p:spPr>
        <p:txBody>
          <a:bodyPr wrap="square" lIns="0" rIns="0" tIns="0" bIns="0" anchor="ctr">
            <a:spAutoFit/>
          </a:bodyPr>
          <a:lstStyle/>
          <a:p>
            <a:pPr algn="ctr"/>
            <a:r>
              <a:rPr sz="840" b="0">
                <a:solidFill>
                  <a:srgbClr val="6B7A72"/>
                </a:solidFill>
                <a:latin typeface="DM Sans"/>
              </a:rPr>
              <a:t>minutes</a:t>
            </a:r>
          </a:p>
        </p:txBody>
      </p:sp>
      <p:sp>
        <p:nvSpPr>
          <p:cNvPr id="98" name="TextBox 97"/>
          <p:cNvSpPr txBox="1"/>
          <p:nvPr/>
        </p:nvSpPr>
        <p:spPr>
          <a:xfrm>
            <a:off x="8650224" y="4736592"/>
            <a:ext cx="969264"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99" name="TextBox 98"/>
          <p:cNvSpPr txBox="1"/>
          <p:nvPr/>
        </p:nvSpPr>
        <p:spPr>
          <a:xfrm>
            <a:off x="9619488" y="4736592"/>
            <a:ext cx="1097280"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100" name="TextBox 99"/>
          <p:cNvSpPr txBox="1"/>
          <p:nvPr/>
        </p:nvSpPr>
        <p:spPr>
          <a:xfrm>
            <a:off x="10716768" y="4736592"/>
            <a:ext cx="969264"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101" name="Rounded Rectangle 100"/>
          <p:cNvSpPr/>
          <p:nvPr/>
        </p:nvSpPr>
        <p:spPr>
          <a:xfrm>
            <a:off x="6144768" y="5193792"/>
            <a:ext cx="5541264" cy="42062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272783" y="5193792"/>
            <a:ext cx="1280160" cy="420624"/>
          </a:xfrm>
          <a:prstGeom prst="rect">
            <a:avLst/>
          </a:prstGeom>
          <a:noFill/>
        </p:spPr>
        <p:txBody>
          <a:bodyPr wrap="square" lIns="0" rIns="0" tIns="0" bIns="0" anchor="ctr">
            <a:spAutoFit/>
          </a:bodyPr>
          <a:lstStyle/>
          <a:p>
            <a:pPr algn="l"/>
            <a:r>
              <a:rPr sz="880" b="1">
                <a:solidFill>
                  <a:srgbClr val="2A4A3E"/>
                </a:solidFill>
                <a:latin typeface="Rubik"/>
              </a:rPr>
              <a:t>SaafScan</a:t>
            </a:r>
          </a:p>
        </p:txBody>
      </p:sp>
      <p:sp>
        <p:nvSpPr>
          <p:cNvPr id="103" name="TextBox 102"/>
          <p:cNvSpPr txBox="1"/>
          <p:nvPr/>
        </p:nvSpPr>
        <p:spPr>
          <a:xfrm>
            <a:off x="7589520" y="5193792"/>
            <a:ext cx="1060704" cy="420624"/>
          </a:xfrm>
          <a:prstGeom prst="rect">
            <a:avLst/>
          </a:prstGeom>
          <a:noFill/>
        </p:spPr>
        <p:txBody>
          <a:bodyPr wrap="square" lIns="0" rIns="0" tIns="0" bIns="0" anchor="ctr">
            <a:spAutoFit/>
          </a:bodyPr>
          <a:lstStyle/>
          <a:p>
            <a:pPr algn="ctr"/>
            <a:r>
              <a:rPr sz="840" b="0">
                <a:solidFill>
                  <a:srgbClr val="2A4A3E"/>
                </a:solidFill>
                <a:latin typeface="DM Sans"/>
              </a:rPr>
              <a:t>under 10 s</a:t>
            </a:r>
          </a:p>
        </p:txBody>
      </p:sp>
      <p:sp>
        <p:nvSpPr>
          <p:cNvPr id="104" name="TextBox 103"/>
          <p:cNvSpPr txBox="1"/>
          <p:nvPr/>
        </p:nvSpPr>
        <p:spPr>
          <a:xfrm>
            <a:off x="8650224" y="5193792"/>
            <a:ext cx="969264" cy="420624"/>
          </a:xfrm>
          <a:prstGeom prst="rect">
            <a:avLst/>
          </a:prstGeom>
          <a:noFill/>
        </p:spPr>
        <p:txBody>
          <a:bodyPr wrap="square" lIns="0" rIns="0" tIns="0" bIns="0" anchor="ctr">
            <a:spAutoFit/>
          </a:bodyPr>
          <a:lstStyle/>
          <a:p>
            <a:pPr algn="ctr"/>
            <a:r>
              <a:rPr sz="840" b="0">
                <a:solidFill>
                  <a:srgbClr val="2A4A3E"/>
                </a:solidFill>
                <a:latin typeface="DM Sans"/>
              </a:rPr>
              <a:t>no</a:t>
            </a:r>
          </a:p>
        </p:txBody>
      </p:sp>
      <p:sp>
        <p:nvSpPr>
          <p:cNvPr id="105" name="TextBox 104"/>
          <p:cNvSpPr txBox="1"/>
          <p:nvPr/>
        </p:nvSpPr>
        <p:spPr>
          <a:xfrm>
            <a:off x="9619488" y="5193792"/>
            <a:ext cx="1097280" cy="420624"/>
          </a:xfrm>
          <a:prstGeom prst="rect">
            <a:avLst/>
          </a:prstGeom>
          <a:noFill/>
        </p:spPr>
        <p:txBody>
          <a:bodyPr wrap="square" lIns="0" rIns="0" tIns="0" bIns="0" anchor="ctr">
            <a:spAutoFit/>
          </a:bodyPr>
          <a:lstStyle/>
          <a:p>
            <a:pPr algn="ctr"/>
            <a:r>
              <a:rPr sz="840" b="0">
                <a:solidFill>
                  <a:srgbClr val="2A4A3E"/>
                </a:solidFill>
                <a:latin typeface="DM Sans"/>
              </a:rPr>
              <a:t>yes, with QR</a:t>
            </a:r>
          </a:p>
        </p:txBody>
      </p:sp>
      <p:sp>
        <p:nvSpPr>
          <p:cNvPr id="106" name="TextBox 105"/>
          <p:cNvSpPr txBox="1"/>
          <p:nvPr/>
        </p:nvSpPr>
        <p:spPr>
          <a:xfrm>
            <a:off x="10716768" y="5193792"/>
            <a:ext cx="969264" cy="420624"/>
          </a:xfrm>
          <a:prstGeom prst="rect">
            <a:avLst/>
          </a:prstGeom>
          <a:noFill/>
        </p:spPr>
        <p:txBody>
          <a:bodyPr wrap="square" lIns="0" rIns="0" tIns="0" bIns="0" anchor="ctr">
            <a:spAutoFit/>
          </a:bodyPr>
          <a:lstStyle/>
          <a:p>
            <a:pPr algn="ctr"/>
            <a:r>
              <a:rPr sz="840" b="0">
                <a:solidFill>
                  <a:srgbClr val="2A4A3E"/>
                </a:solidFill>
                <a:latin typeface="DM Sans"/>
              </a:rPr>
              <a:t>yes</a:t>
            </a:r>
          </a:p>
        </p:txBody>
      </p:sp>
      <p:sp>
        <p:nvSpPr>
          <p:cNvPr id="107" name="TextBox 106"/>
          <p:cNvSpPr txBox="1"/>
          <p:nvPr/>
        </p:nvSpPr>
        <p:spPr>
          <a:xfrm>
            <a:off x="6144768" y="5760720"/>
            <a:ext cx="5541264" cy="310896"/>
          </a:xfrm>
          <a:prstGeom prst="rect">
            <a:avLst/>
          </a:prstGeom>
          <a:noFill/>
        </p:spPr>
        <p:txBody>
          <a:bodyPr wrap="square" lIns="0" rIns="0" tIns="0" bIns="0" anchor="t">
            <a:spAutoFit/>
          </a:bodyPr>
          <a:lstStyle/>
          <a:p>
            <a:pPr algn="l">
              <a:lnSpc>
                <a:spcPct val="112000"/>
              </a:lnSpc>
            </a:pPr>
            <a:r>
              <a:rPr sz="720" b="0">
                <a:solidFill>
                  <a:srgbClr val="9DB3A7"/>
                </a:solidFill>
                <a:latin typeface="DM Sans"/>
              </a:rPr>
              <a:t>Lab and rapid-strip columns are how those methods are described in the FSSAI and WHO material cited on slide 7; SaafScan timings are measured.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6"/>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60" name="Google Shape;60;p6"/>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Technical Architecture</a:t>
            </a:r>
            <a:endParaRPr b="0" i="0" sz="3600" u="none" cap="none" strike="noStrike">
              <a:solidFill>
                <a:schemeClr val="dk1"/>
              </a:solidFill>
              <a:latin typeface="Calibri"/>
              <a:ea typeface="Calibri"/>
              <a:cs typeface="Calibri"/>
              <a:sym typeface="Calibri"/>
            </a:endParaRPr>
          </a:p>
        </p:txBody>
      </p:sp>
      <p:sp>
        <p:nvSpPr>
          <p:cNvPr id="62" name="Google Shape;62;p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04</a:t>
            </a:r>
            <a:endParaRPr b="0" i="0" sz="1200" u="none" cap="none" strike="noStrike">
              <a:solidFill>
                <a:schemeClr val="dk1"/>
              </a:solidFill>
              <a:latin typeface="Calibri"/>
              <a:ea typeface="Calibri"/>
              <a:cs typeface="Calibri"/>
              <a:sym typeface="Calibri"/>
            </a:endParaRPr>
          </a:p>
        </p:txBody>
      </p:sp>
      <p:sp>
        <p:nvSpPr>
          <p:cNvPr id="63" name="Rounded Rectangle 62"/>
          <p:cNvSpPr/>
          <p:nvPr/>
        </p:nvSpPr>
        <p:spPr>
          <a:xfrm>
            <a:off x="813816"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86968"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Camera or
upload</a:t>
            </a:r>
          </a:p>
        </p:txBody>
      </p:sp>
      <p:sp>
        <p:nvSpPr>
          <p:cNvPr id="65" name="Isosceles Triangle 64"/>
          <p:cNvSpPr/>
          <p:nvPr/>
        </p:nvSpPr>
        <p:spPr>
          <a:xfrm rot="5400000">
            <a:off x="2229307"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2364638"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2437790"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Card calibration
white/grey/black</a:t>
            </a:r>
          </a:p>
        </p:txBody>
      </p:sp>
      <p:sp>
        <p:nvSpPr>
          <p:cNvPr id="68" name="Isosceles Triangle 67"/>
          <p:cNvSpPr/>
          <p:nvPr/>
        </p:nvSpPr>
        <p:spPr>
          <a:xfrm rot="5400000">
            <a:off x="3780129"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915460"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3988612"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Strip region
auto-detected</a:t>
            </a:r>
          </a:p>
        </p:txBody>
      </p:sp>
      <p:sp>
        <p:nvSpPr>
          <p:cNvPr id="71" name="Isosceles Triangle 70"/>
          <p:cNvSpPr/>
          <p:nvPr/>
        </p:nvSpPr>
        <p:spPr>
          <a:xfrm rot="5400000">
            <a:off x="5330952"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466283"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5539435"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Zone colour
Lab + ΔE vs card</a:t>
            </a:r>
          </a:p>
        </p:txBody>
      </p:sp>
      <p:sp>
        <p:nvSpPr>
          <p:cNvPr id="74" name="Isosceles Triangle 73"/>
          <p:cNvSpPr/>
          <p:nvPr/>
        </p:nvSpPr>
        <p:spPr>
          <a:xfrm rot="5400000">
            <a:off x="6881774"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017105"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7090257"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12 colour and
ΔE features</a:t>
            </a:r>
          </a:p>
        </p:txBody>
      </p:sp>
      <p:sp>
        <p:nvSpPr>
          <p:cNvPr id="77" name="Isosceles Triangle 76"/>
          <p:cNvSpPr/>
          <p:nvPr/>
        </p:nvSpPr>
        <p:spPr>
          <a:xfrm rot="5400000">
            <a:off x="8432596"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8567928" y="2139696"/>
            <a:ext cx="1399032" cy="713232"/>
          </a:xfrm>
          <a:prstGeom prst="roundRect">
            <a:avLst>
              <a:gd name="adj" fmla="val 10000"/>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641080" y="2139696"/>
            <a:ext cx="1252728" cy="713232"/>
          </a:xfrm>
          <a:prstGeom prst="rect">
            <a:avLst/>
          </a:prstGeom>
          <a:noFill/>
        </p:spPr>
        <p:txBody>
          <a:bodyPr wrap="square" lIns="0" rIns="0" tIns="0" bIns="0" anchor="ctr">
            <a:spAutoFit/>
          </a:bodyPr>
          <a:lstStyle/>
          <a:p>
            <a:pPr algn="ctr">
              <a:lnSpc>
                <a:spcPct val="112000"/>
              </a:lnSpc>
            </a:pPr>
            <a:r>
              <a:rPr sz="819" b="1">
                <a:solidFill>
                  <a:srgbClr val="FFFFFF"/>
                </a:solidFill>
                <a:latin typeface="DM Sans"/>
              </a:rPr>
              <a:t>Gradient
boosting</a:t>
            </a:r>
          </a:p>
        </p:txBody>
      </p:sp>
      <p:sp>
        <p:nvSpPr>
          <p:cNvPr id="80" name="Isosceles Triangle 79"/>
          <p:cNvSpPr/>
          <p:nvPr/>
        </p:nvSpPr>
        <p:spPr>
          <a:xfrm rot="5400000">
            <a:off x="9983419"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0118750"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0191902"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Calibrated
confidence</a:t>
            </a:r>
          </a:p>
        </p:txBody>
      </p:sp>
      <p:sp>
        <p:nvSpPr>
          <p:cNvPr id="83" name="Rounded Rectangle 82"/>
          <p:cNvSpPr/>
          <p:nvPr/>
        </p:nvSpPr>
        <p:spPr>
          <a:xfrm>
            <a:off x="813816" y="3054096"/>
            <a:ext cx="5120640" cy="566928"/>
          </a:xfrm>
          <a:prstGeom prst="roundRect">
            <a:avLst>
              <a:gd name="adj" fmla="val 10000"/>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96696" y="3054096"/>
            <a:ext cx="4754880" cy="566928"/>
          </a:xfrm>
          <a:prstGeom prst="rect">
            <a:avLst/>
          </a:prstGeom>
          <a:noFill/>
        </p:spPr>
        <p:txBody>
          <a:bodyPr wrap="square" lIns="0" rIns="0" tIns="0" bIns="0" anchor="ctr">
            <a:spAutoFit/>
          </a:bodyPr>
          <a:lstStyle/>
          <a:p>
            <a:pPr algn="l"/>
            <a:r>
              <a:rPr sz="900" b="1">
                <a:solidFill>
                  <a:srgbClr val="1F3A30"/>
                </a:solidFill>
                <a:latin typeface="DM Sans"/>
              </a:rPr>
              <a:t>confidence ≥ 0.55  →  verdict, severity and advice, or  inconclusive and sent to a lab</a:t>
            </a:r>
          </a:p>
        </p:txBody>
      </p:sp>
      <p:sp>
        <p:nvSpPr>
          <p:cNvPr id="85" name="TextBox 84"/>
          <p:cNvSpPr txBox="1"/>
          <p:nvPr/>
        </p:nvSpPr>
        <p:spPr>
          <a:xfrm>
            <a:off x="6144768" y="3054096"/>
            <a:ext cx="5541264" cy="566928"/>
          </a:xfrm>
          <a:prstGeom prst="rect">
            <a:avLst/>
          </a:prstGeom>
          <a:noFill/>
        </p:spPr>
        <p:txBody>
          <a:bodyPr wrap="square" lIns="0" rIns="0" tIns="0" bIns="0" anchor="ctr">
            <a:spAutoFit/>
          </a:bodyPr>
          <a:lstStyle/>
          <a:p>
            <a:pPr algn="l">
              <a:lnSpc>
                <a:spcPct val="114000"/>
              </a:lnSpc>
            </a:pPr>
            <a:r>
              <a:rPr sz="880" b="0">
                <a:solidFill>
                  <a:srgbClr val="6B7A72"/>
                </a:solidFill>
                <a:latin typeface="DM Sans"/>
              </a:rPr>
              <a:t>Below threshold the pipeline writes an inconclusive entry, not a guess. A deterministic rule table stays reachable as a fallback if the ML runtime fails to load.</a:t>
            </a:r>
          </a:p>
        </p:txBody>
      </p:sp>
      <p:sp>
        <p:nvSpPr>
          <p:cNvPr id="86" name="TextBox 85"/>
          <p:cNvSpPr txBox="1"/>
          <p:nvPr/>
        </p:nvSpPr>
        <p:spPr>
          <a:xfrm>
            <a:off x="813816" y="3803904"/>
            <a:ext cx="10881360" cy="155448"/>
          </a:xfrm>
          <a:prstGeom prst="rect">
            <a:avLst/>
          </a:prstGeom>
          <a:noFill/>
        </p:spPr>
        <p:txBody>
          <a:bodyPr wrap="square" lIns="0" rIns="0" tIns="0" bIns="0" anchor="t">
            <a:spAutoFit/>
          </a:bodyPr>
          <a:lstStyle/>
          <a:p>
            <a:pPr algn="l"/>
            <a:r>
              <a:rPr sz="819" b="1">
                <a:solidFill>
                  <a:srgbClr val="6B7A72"/>
                </a:solidFill>
                <a:latin typeface="DM Sans"/>
              </a:rPr>
              <a:t>SERVES AND STORES</a:t>
            </a:r>
          </a:p>
        </p:txBody>
      </p:sp>
      <p:sp>
        <p:nvSpPr>
          <p:cNvPr id="87" name="Rounded Rectangle 86"/>
          <p:cNvSpPr/>
          <p:nvPr/>
        </p:nvSpPr>
        <p:spPr>
          <a:xfrm>
            <a:off x="813816"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886968"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Append-only
SQLite</a:t>
            </a:r>
          </a:p>
        </p:txBody>
      </p:sp>
      <p:sp>
        <p:nvSpPr>
          <p:cNvPr id="89" name="Isosceles Triangle 88"/>
          <p:cNvSpPr/>
          <p:nvPr/>
        </p:nvSpPr>
        <p:spPr>
          <a:xfrm rot="5400000">
            <a:off x="2363724"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2569464"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2642616"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PDF + QR
report</a:t>
            </a:r>
          </a:p>
        </p:txBody>
      </p:sp>
      <p:sp>
        <p:nvSpPr>
          <p:cNvPr id="92" name="Isosceles Triangle 91"/>
          <p:cNvSpPr/>
          <p:nvPr/>
        </p:nvSpPr>
        <p:spPr>
          <a:xfrm rot="5400000">
            <a:off x="4119372"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4325112"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4398264"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Batch id on
every test</a:t>
            </a:r>
          </a:p>
        </p:txBody>
      </p:sp>
      <p:sp>
        <p:nvSpPr>
          <p:cNvPr id="95" name="Isosceles Triangle 94"/>
          <p:cNvSpPr/>
          <p:nvPr/>
        </p:nvSpPr>
        <p:spPr>
          <a:xfrm rot="5400000">
            <a:off x="5875020"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6080760"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6153912"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Recall scoped to
a batch</a:t>
            </a:r>
          </a:p>
        </p:txBody>
      </p:sp>
      <p:sp>
        <p:nvSpPr>
          <p:cNvPr id="98" name="Isosceles Triangle 97"/>
          <p:cNvSpPr/>
          <p:nvPr/>
        </p:nvSpPr>
        <p:spPr>
          <a:xfrm rot="5400000">
            <a:off x="7630667"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7836408"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7909560"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PWA frontend,
no install</a:t>
            </a:r>
          </a:p>
        </p:txBody>
      </p:sp>
      <p:sp>
        <p:nvSpPr>
          <p:cNvPr id="101" name="TextBox 100"/>
          <p:cNvSpPr txBox="1"/>
          <p:nvPr/>
        </p:nvSpPr>
        <p:spPr>
          <a:xfrm>
            <a:off x="813816" y="4590288"/>
            <a:ext cx="4937760" cy="155448"/>
          </a:xfrm>
          <a:prstGeom prst="rect">
            <a:avLst/>
          </a:prstGeom>
          <a:noFill/>
        </p:spPr>
        <p:txBody>
          <a:bodyPr wrap="square" lIns="0" rIns="0" tIns="0" bIns="0" anchor="t">
            <a:spAutoFit/>
          </a:bodyPr>
          <a:lstStyle/>
          <a:p>
            <a:pPr algn="l"/>
            <a:r>
              <a:rPr sz="819" b="1">
                <a:solidFill>
                  <a:srgbClr val="6B7A72"/>
                </a:solidFill>
                <a:latin typeface="DM Sans"/>
              </a:rPr>
              <a:t>WHY THE SMALLER MODEL SHIPS</a:t>
            </a:r>
          </a:p>
        </p:txBody>
      </p:sp>
      <p:pic>
        <p:nvPicPr>
          <p:cNvPr id="102" name="Picture 101" descr="c_models.png"/>
          <p:cNvPicPr>
            <a:picLocks noChangeAspect="1"/>
          </p:cNvPicPr>
          <p:nvPr/>
        </p:nvPicPr>
        <p:blipFill>
          <a:blip r:embed="rId3"/>
          <a:stretch>
            <a:fillRect/>
          </a:stretch>
        </p:blipFill>
        <p:spPr>
          <a:xfrm>
            <a:off x="813816" y="4766654"/>
            <a:ext cx="4937760" cy="1028011"/>
          </a:xfrm>
          <a:prstGeom prst="rect">
            <a:avLst/>
          </a:prstGeom>
        </p:spPr>
      </p:pic>
      <p:sp>
        <p:nvSpPr>
          <p:cNvPr id="103" name="Rounded Rectangle 102"/>
          <p:cNvSpPr/>
          <p:nvPr/>
        </p:nvSpPr>
        <p:spPr>
          <a:xfrm>
            <a:off x="5961888" y="4590288"/>
            <a:ext cx="5641848" cy="12435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181344" y="4764024"/>
            <a:ext cx="5202936" cy="932688"/>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The model does not beat the rule table, so the deck does not claim it does</a:t>
            </a:r>
          </a:p>
          <a:p>
            <a:pPr algn="l">
              <a:lnSpc>
                <a:spcPct val="112000"/>
              </a:lnSpc>
              <a:spcAft>
                <a:spcPts val="350"/>
              </a:spcAft>
            </a:pPr>
            <a:r>
              <a:rPr sz="880" b="0">
                <a:solidFill>
                  <a:srgbClr val="1F3A30"/>
                </a:solidFill>
                <a:latin typeface="DM Sans"/>
              </a:rPr>
              <a:t>A 12-feature gradient booster and a ResNet18 were trained on the same split. On held-out lighting the booster scores 0.933 accuracy at 0.733 coverage, while the rule table scores 1.000 - a delta of -0.067, and the model abstains rather than guess. The ResNet18 abstains on all 45 held-out samples at its 0.999 threshold. The booster ships anyway: 179 KB against 45 MB, and it answers at 0.55 confidence, which leaves room to still answer when a real phone camera shifts the colour.</a:t>
            </a:r>
          </a:p>
        </p:txBody>
      </p:sp>
      <p:sp>
        <p:nvSpPr>
          <p:cNvPr id="105" name="TextBox 104"/>
          <p:cNvSpPr txBox="1"/>
          <p:nvPr/>
        </p:nvSpPr>
        <p:spPr>
          <a:xfrm>
            <a:off x="813816" y="5925312"/>
            <a:ext cx="10881360" cy="237744"/>
          </a:xfrm>
          <a:prstGeom prst="rect">
            <a:avLst/>
          </a:prstGeom>
          <a:noFill/>
        </p:spPr>
        <p:txBody>
          <a:bodyPr wrap="square" lIns="0" rIns="0" tIns="0" bIns="0" anchor="t">
            <a:spAutoFit/>
          </a:bodyPr>
          <a:lstStyle/>
          <a:p>
            <a:pPr algn="l"/>
            <a:r>
              <a:rPr sz="760" b="0">
                <a:solidFill>
                  <a:srgbClr val="9DB3A7"/>
                </a:solidFill>
                <a:latin typeface="DM Sans"/>
              </a:rPr>
              <a:t>Stack: Python 3.12 · OpenCV · scikit-learn · ONNX Runtime on CPU · FastAPI · SQLite · browser frontend. No GPU is needed at inference.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7"/>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69" name="Google Shape;69;p7"/>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Implementation / Prototype</a:t>
            </a:r>
            <a:endParaRPr b="0" i="0" sz="3600" u="none" cap="none" strike="noStrike">
              <a:solidFill>
                <a:schemeClr val="dk1"/>
              </a:solidFill>
              <a:latin typeface="Calibri"/>
              <a:ea typeface="Calibri"/>
              <a:cs typeface="Calibri"/>
              <a:sym typeface="Calibri"/>
            </a:endParaRPr>
          </a:p>
        </p:txBody>
      </p:sp>
      <p:sp>
        <p:nvSpPr>
          <p:cNvPr id="71" name="Google Shape;71;p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05</a:t>
            </a:r>
            <a:endParaRPr b="0" i="0" sz="1200" u="none" cap="none" strike="noStrike">
              <a:solidFill>
                <a:schemeClr val="dk1"/>
              </a:solidFill>
              <a:latin typeface="Calibri"/>
              <a:ea typeface="Calibri"/>
              <a:cs typeface="Calibri"/>
              <a:sym typeface="Calibri"/>
            </a:endParaRPr>
          </a:p>
        </p:txBody>
      </p:sp>
      <p:sp>
        <p:nvSpPr>
          <p:cNvPr id="72" name="Rounded Rectangle 71"/>
          <p:cNvSpPr/>
          <p:nvPr/>
        </p:nvSpPr>
        <p:spPr>
          <a:xfrm>
            <a:off x="81381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Picture 72" descr="s_verdict_starch.png"/>
          <p:cNvPicPr>
            <a:picLocks noChangeAspect="1"/>
          </p:cNvPicPr>
          <p:nvPr/>
        </p:nvPicPr>
        <p:blipFill>
          <a:blip r:embed="rId3"/>
          <a:stretch>
            <a:fillRect/>
          </a:stretch>
        </p:blipFill>
        <p:spPr>
          <a:xfrm>
            <a:off x="1039813" y="2103120"/>
            <a:ext cx="3068445" cy="1499616"/>
          </a:xfrm>
          <a:prstGeom prst="rect">
            <a:avLst/>
          </a:prstGeom>
        </p:spPr>
      </p:pic>
      <p:sp>
        <p:nvSpPr>
          <p:cNvPr id="74" name="TextBox 73"/>
          <p:cNvSpPr txBox="1"/>
          <p:nvPr/>
        </p:nvSpPr>
        <p:spPr>
          <a:xfrm>
            <a:off x="81381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Verdict screen: type, confidence, severity, and what to do next</a:t>
            </a:r>
          </a:p>
        </p:txBody>
      </p:sp>
      <p:sp>
        <p:nvSpPr>
          <p:cNvPr id="75" name="Rounded Rectangle 74"/>
          <p:cNvSpPr/>
          <p:nvPr/>
        </p:nvSpPr>
        <p:spPr>
          <a:xfrm>
            <a:off x="449427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6" name="Picture 75" descr="s_verdict_pure.png"/>
          <p:cNvPicPr>
            <a:picLocks noChangeAspect="1"/>
          </p:cNvPicPr>
          <p:nvPr/>
        </p:nvPicPr>
        <p:blipFill>
          <a:blip r:embed="rId4"/>
          <a:stretch>
            <a:fillRect/>
          </a:stretch>
        </p:blipFill>
        <p:spPr>
          <a:xfrm>
            <a:off x="4720273" y="2103120"/>
            <a:ext cx="3068445" cy="1499616"/>
          </a:xfrm>
          <a:prstGeom prst="rect">
            <a:avLst/>
          </a:prstGeom>
        </p:spPr>
      </p:pic>
      <p:sp>
        <p:nvSpPr>
          <p:cNvPr id="77" name="TextBox 76"/>
          <p:cNvSpPr txBox="1"/>
          <p:nvPr/>
        </p:nvSpPr>
        <p:spPr>
          <a:xfrm>
            <a:off x="449427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A clean sample comes back as none, not as a blank screen</a:t>
            </a:r>
          </a:p>
        </p:txBody>
      </p:sp>
      <p:sp>
        <p:nvSpPr>
          <p:cNvPr id="78" name="Rounded Rectangle 77"/>
          <p:cNvSpPr/>
          <p:nvPr/>
        </p:nvSpPr>
        <p:spPr>
          <a:xfrm>
            <a:off x="817473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s_evidence.png"/>
          <p:cNvPicPr>
            <a:picLocks noChangeAspect="1"/>
          </p:cNvPicPr>
          <p:nvPr/>
        </p:nvPicPr>
        <p:blipFill>
          <a:blip r:embed="rId5"/>
          <a:stretch>
            <a:fillRect/>
          </a:stretch>
        </p:blipFill>
        <p:spPr>
          <a:xfrm>
            <a:off x="8211312" y="2204941"/>
            <a:ext cx="3447288" cy="1295972"/>
          </a:xfrm>
          <a:prstGeom prst="rect">
            <a:avLst/>
          </a:prstGeom>
        </p:spPr>
      </p:pic>
      <p:sp>
        <p:nvSpPr>
          <p:cNvPr id="80" name="TextBox 79"/>
          <p:cNvSpPr txBox="1"/>
          <p:nvPr/>
        </p:nvSpPr>
        <p:spPr>
          <a:xfrm>
            <a:off x="817473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Evidence log: every test stamped, each with a PDF and QR report</a:t>
            </a:r>
          </a:p>
        </p:txBody>
      </p:sp>
      <p:sp>
        <p:nvSpPr>
          <p:cNvPr id="81" name="TextBox 80"/>
          <p:cNvSpPr txBox="1"/>
          <p:nvPr/>
        </p:nvSpPr>
        <p:spPr>
          <a:xfrm>
            <a:off x="813816" y="3986784"/>
            <a:ext cx="2962656" cy="155448"/>
          </a:xfrm>
          <a:prstGeom prst="rect">
            <a:avLst/>
          </a:prstGeom>
          <a:noFill/>
        </p:spPr>
        <p:txBody>
          <a:bodyPr wrap="square" lIns="0" rIns="0" tIns="0" bIns="0" anchor="t">
            <a:spAutoFit/>
          </a:bodyPr>
          <a:lstStyle/>
          <a:p>
            <a:pPr algn="l"/>
            <a:r>
              <a:rPr sz="819" b="1">
                <a:solidFill>
                  <a:srgbClr val="6B7A72"/>
                </a:solidFill>
                <a:latin typeface="DM Sans"/>
              </a:rPr>
              <a:t>HELD OUT BY LIGHTING, NOT BY IMAGE</a:t>
            </a:r>
          </a:p>
        </p:txBody>
      </p:sp>
      <p:pic>
        <p:nvPicPr>
          <p:cNvPr id="82" name="Picture 81" descr="c_confusion.png"/>
          <p:cNvPicPr>
            <a:picLocks noChangeAspect="1"/>
          </p:cNvPicPr>
          <p:nvPr/>
        </p:nvPicPr>
        <p:blipFill>
          <a:blip r:embed="rId6"/>
          <a:stretch>
            <a:fillRect/>
          </a:stretch>
        </p:blipFill>
        <p:spPr>
          <a:xfrm>
            <a:off x="1067087" y="4169663"/>
            <a:ext cx="1889184" cy="1645920"/>
          </a:xfrm>
          <a:prstGeom prst="rect">
            <a:avLst/>
          </a:prstGeom>
        </p:spPr>
      </p:pic>
      <p:sp>
        <p:nvSpPr>
          <p:cNvPr id="83" name="TextBox 82"/>
          <p:cNvSpPr txBox="1"/>
          <p:nvPr/>
        </p:nvSpPr>
        <p:spPr>
          <a:xfrm>
            <a:off x="813816" y="5833872"/>
            <a:ext cx="2962656" cy="237744"/>
          </a:xfrm>
          <a:prstGeom prst="rect">
            <a:avLst/>
          </a:prstGeom>
          <a:noFill/>
        </p:spPr>
        <p:txBody>
          <a:bodyPr wrap="square" lIns="0" rIns="0" tIns="0" bIns="0" anchor="t">
            <a:spAutoFit/>
          </a:bodyPr>
          <a:lstStyle/>
          <a:p>
            <a:pPr algn="l"/>
            <a:r>
              <a:rPr sz="740" b="0">
                <a:solidFill>
                  <a:srgbClr val="9DB3A7"/>
                </a:solidFill>
                <a:latin typeface="DM Sans"/>
              </a:rPr>
              <a:t>45 samples, 3 lighting conditions the model never saw in training</a:t>
            </a:r>
          </a:p>
        </p:txBody>
      </p:sp>
      <p:sp>
        <p:nvSpPr>
          <p:cNvPr id="84" name="TextBox 83"/>
          <p:cNvSpPr txBox="1"/>
          <p:nvPr/>
        </p:nvSpPr>
        <p:spPr>
          <a:xfrm>
            <a:off x="3968496" y="3986784"/>
            <a:ext cx="3931920" cy="155448"/>
          </a:xfrm>
          <a:prstGeom prst="rect">
            <a:avLst/>
          </a:prstGeom>
          <a:noFill/>
        </p:spPr>
        <p:txBody>
          <a:bodyPr wrap="square" lIns="0" rIns="0" tIns="0" bIns="0" anchor="t">
            <a:spAutoFit/>
          </a:bodyPr>
          <a:lstStyle/>
          <a:p>
            <a:pPr algn="l"/>
            <a:r>
              <a:rPr sz="819" b="1">
                <a:solidFill>
                  <a:srgbClr val="6B7A72"/>
                </a:solidFill>
                <a:latin typeface="DM Sans"/>
              </a:rPr>
              <a:t>TRAINING SET, 534 SYNTHETIC STRIP IMAGES</a:t>
            </a:r>
          </a:p>
        </p:txBody>
      </p:sp>
      <p:pic>
        <p:nvPicPr>
          <p:cNvPr id="85" name="Picture 84" descr="c_dataset.png"/>
          <p:cNvPicPr>
            <a:picLocks noChangeAspect="1"/>
          </p:cNvPicPr>
          <p:nvPr/>
        </p:nvPicPr>
        <p:blipFill>
          <a:blip r:embed="rId7"/>
          <a:stretch>
            <a:fillRect/>
          </a:stretch>
        </p:blipFill>
        <p:spPr>
          <a:xfrm>
            <a:off x="4492686" y="4169663"/>
            <a:ext cx="2883538" cy="1298448"/>
          </a:xfrm>
          <a:prstGeom prst="rect">
            <a:avLst/>
          </a:prstGeom>
        </p:spPr>
      </p:pic>
      <p:sp>
        <p:nvSpPr>
          <p:cNvPr id="86" name="TextBox 85"/>
          <p:cNvSpPr txBox="1"/>
          <p:nvPr/>
        </p:nvSpPr>
        <p:spPr>
          <a:xfrm>
            <a:off x="3968496" y="5559552"/>
            <a:ext cx="3931920" cy="475488"/>
          </a:xfrm>
          <a:prstGeom prst="rect">
            <a:avLst/>
          </a:prstGeom>
          <a:noFill/>
        </p:spPr>
        <p:txBody>
          <a:bodyPr wrap="square" lIns="0" rIns="0" tIns="0" bIns="0" anchor="t">
            <a:spAutoFit/>
          </a:bodyPr>
          <a:lstStyle/>
          <a:p>
            <a:pPr algn="l">
              <a:lnSpc>
                <a:spcPct val="114000"/>
              </a:lnSpc>
            </a:pPr>
            <a:r>
              <a:rPr sz="800" b="0">
                <a:solidFill>
                  <a:srgbClr val="6B7A72"/>
                </a:solidFill>
                <a:latin typeface="DM Sans"/>
              </a:rPr>
              <a:t>Splits are assigned by lighting condition, so no condition appears in two splits. The model returns inconclusive on 12 of the 45 held-out samples: 9 are the 9 labelled inconclusive, and the other 3 are one starch and two detergent it declined to call rather than guess. On the 33 it does answer, it is right every time.</a:t>
            </a:r>
          </a:p>
        </p:txBody>
      </p:sp>
      <p:sp>
        <p:nvSpPr>
          <p:cNvPr id="87" name="Rounded Rectangle 86"/>
          <p:cNvSpPr/>
          <p:nvPr/>
        </p:nvSpPr>
        <p:spPr>
          <a:xfrm>
            <a:off x="8174736" y="398678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74736" y="3986784"/>
            <a:ext cx="50292" cy="47548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375904" y="4078224"/>
            <a:ext cx="3099816" cy="310896"/>
          </a:xfrm>
          <a:prstGeom prst="rect">
            <a:avLst/>
          </a:prstGeom>
          <a:noFill/>
        </p:spPr>
        <p:txBody>
          <a:bodyPr wrap="square" lIns="0" rIns="0" tIns="0" bIns="0" anchor="t">
            <a:spAutoFit/>
          </a:bodyPr>
          <a:lstStyle/>
          <a:p>
            <a:pPr algn="l">
              <a:spcAft>
                <a:spcPts val="100"/>
              </a:spcAft>
            </a:pPr>
            <a:r>
              <a:rPr sz="1600" b="1">
                <a:solidFill>
                  <a:srgbClr val="2A4A3E"/>
                </a:solidFill>
                <a:latin typeface="Rubik"/>
              </a:rPr>
              <a:t>6.0 ms</a:t>
            </a:r>
          </a:p>
          <a:p>
            <a:pPr algn="l">
              <a:lnSpc>
                <a:spcPct val="106000"/>
              </a:lnSpc>
            </a:pPr>
            <a:r>
              <a:rPr sz="780" b="0">
                <a:solidFill>
                  <a:srgbClr val="6B7A72"/>
                </a:solidFill>
                <a:latin typeface="DM Sans"/>
              </a:rPr>
              <a:t>median analysis time, in-process (n=20)</a:t>
            </a:r>
          </a:p>
        </p:txBody>
      </p:sp>
      <p:sp>
        <p:nvSpPr>
          <p:cNvPr id="90" name="Rounded Rectangle 89"/>
          <p:cNvSpPr/>
          <p:nvPr/>
        </p:nvSpPr>
        <p:spPr>
          <a:xfrm>
            <a:off x="8174736" y="453542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174736" y="4535424"/>
            <a:ext cx="50292" cy="47548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75904" y="4626864"/>
            <a:ext cx="3099816" cy="310896"/>
          </a:xfrm>
          <a:prstGeom prst="rect">
            <a:avLst/>
          </a:prstGeom>
          <a:noFill/>
        </p:spPr>
        <p:txBody>
          <a:bodyPr wrap="square" lIns="0" rIns="0" tIns="0" bIns="0" anchor="t">
            <a:spAutoFit/>
          </a:bodyPr>
          <a:lstStyle/>
          <a:p>
            <a:pPr algn="l">
              <a:spcAft>
                <a:spcPts val="100"/>
              </a:spcAft>
            </a:pPr>
            <a:r>
              <a:rPr sz="1600" b="1">
                <a:solidFill>
                  <a:srgbClr val="F26B2A"/>
                </a:solidFill>
                <a:latin typeface="Rubik"/>
              </a:rPr>
              <a:t>19.3 ms</a:t>
            </a:r>
          </a:p>
          <a:p>
            <a:pPr algn="l">
              <a:lnSpc>
                <a:spcPct val="106000"/>
              </a:lnSpc>
            </a:pPr>
            <a:r>
              <a:rPr sz="780" b="0">
                <a:solidFill>
                  <a:srgbClr val="6B7A72"/>
                </a:solidFill>
                <a:latin typeface="DM Sans"/>
              </a:rPr>
              <a:t>full HTTP request to verdict (n=12)</a:t>
            </a:r>
          </a:p>
        </p:txBody>
      </p:sp>
      <p:sp>
        <p:nvSpPr>
          <p:cNvPr id="93" name="Rounded Rectangle 92"/>
          <p:cNvSpPr/>
          <p:nvPr/>
        </p:nvSpPr>
        <p:spPr>
          <a:xfrm>
            <a:off x="8174736" y="508406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174736" y="5084064"/>
            <a:ext cx="50292" cy="475488"/>
          </a:xfrm>
          <a:prstGeom prst="rect">
            <a:avLst/>
          </a:prstGeom>
          <a:solidFill>
            <a:srgbClr val="B88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75904" y="5175503"/>
            <a:ext cx="3099816" cy="310896"/>
          </a:xfrm>
          <a:prstGeom prst="rect">
            <a:avLst/>
          </a:prstGeom>
          <a:noFill/>
        </p:spPr>
        <p:txBody>
          <a:bodyPr wrap="square" lIns="0" rIns="0" tIns="0" bIns="0" anchor="t">
            <a:spAutoFit/>
          </a:bodyPr>
          <a:lstStyle/>
          <a:p>
            <a:pPr algn="l">
              <a:spcAft>
                <a:spcPts val="100"/>
              </a:spcAft>
            </a:pPr>
            <a:r>
              <a:rPr sz="1600" b="1">
                <a:solidFill>
                  <a:srgbClr val="B88F14"/>
                </a:solidFill>
                <a:latin typeface="Rubik"/>
              </a:rPr>
              <a:t>0.42 s</a:t>
            </a:r>
          </a:p>
          <a:p>
            <a:pPr algn="l">
              <a:lnSpc>
                <a:spcPct val="106000"/>
              </a:lnSpc>
            </a:pPr>
            <a:r>
              <a:rPr sz="780" b="0">
                <a:solidFill>
                  <a:srgbClr val="6B7A72"/>
                </a:solidFill>
                <a:latin typeface="DM Sans"/>
              </a:rPr>
              <a:t>cold start, API ready to serve</a:t>
            </a:r>
          </a:p>
        </p:txBody>
      </p:sp>
      <p:sp>
        <p:nvSpPr>
          <p:cNvPr id="96" name="Rounded Rectangle 95"/>
          <p:cNvSpPr/>
          <p:nvPr/>
        </p:nvSpPr>
        <p:spPr>
          <a:xfrm>
            <a:off x="8174736" y="563270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174736" y="5632704"/>
            <a:ext cx="50292" cy="475488"/>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75904" y="5724144"/>
            <a:ext cx="3099816" cy="310896"/>
          </a:xfrm>
          <a:prstGeom prst="rect">
            <a:avLst/>
          </a:prstGeom>
          <a:noFill/>
        </p:spPr>
        <p:txBody>
          <a:bodyPr wrap="square" lIns="0" rIns="0" tIns="0" bIns="0" anchor="t">
            <a:spAutoFit/>
          </a:bodyPr>
          <a:lstStyle/>
          <a:p>
            <a:pPr algn="l">
              <a:spcAft>
                <a:spcPts val="100"/>
              </a:spcAft>
            </a:pPr>
            <a:r>
              <a:rPr sz="1200" b="1">
                <a:solidFill>
                  <a:srgbClr val="D9581C"/>
                </a:solidFill>
                <a:latin typeface="Rubik"/>
              </a:rPr>
              <a:t>291 tests · 90% coverage</a:t>
            </a:r>
          </a:p>
          <a:p>
            <a:pPr algn="l">
              <a:lnSpc>
                <a:spcPct val="106000"/>
              </a:lnSpc>
            </a:pPr>
            <a:r>
              <a:rPr sz="780" b="0">
                <a:solidFill>
                  <a:srgbClr val="6B7A72"/>
                </a:solidFill>
                <a:latin typeface="DM Sans"/>
              </a:rPr>
              <a:t>passing, ruff clean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8"/>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78" name="Google Shape;78;p8"/>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Feasibility &amp; Impact</a:t>
            </a:r>
            <a:endParaRPr b="0" i="0" sz="3600" u="none" cap="none" strike="noStrike">
              <a:solidFill>
                <a:schemeClr val="dk1"/>
              </a:solidFill>
              <a:latin typeface="Calibri"/>
              <a:ea typeface="Calibri"/>
              <a:cs typeface="Calibri"/>
              <a:sym typeface="Calibri"/>
            </a:endParaRPr>
          </a:p>
        </p:txBody>
      </p:sp>
      <p:sp>
        <p:nvSpPr>
          <p:cNvPr id="80" name="Google Shape;80;p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06</a:t>
            </a:r>
            <a:endParaRPr b="0" i="0" sz="1200" u="none" cap="none" strike="noStrike">
              <a:solidFill>
                <a:schemeClr val="dk1"/>
              </a:solidFill>
              <a:latin typeface="Calibri"/>
              <a:ea typeface="Calibri"/>
              <a:cs typeface="Calibri"/>
              <a:sym typeface="Calibri"/>
            </a:endParaRPr>
          </a:p>
        </p:txBody>
      </p:sp>
      <p:sp>
        <p:nvSpPr>
          <p:cNvPr id="81" name="TextBox 80"/>
          <p:cNvSpPr txBox="1"/>
          <p:nvPr/>
        </p:nvSpPr>
        <p:spPr>
          <a:xfrm>
            <a:off x="813816" y="2066543"/>
            <a:ext cx="4937760" cy="155448"/>
          </a:xfrm>
          <a:prstGeom prst="rect">
            <a:avLst/>
          </a:prstGeom>
          <a:noFill/>
        </p:spPr>
        <p:txBody>
          <a:bodyPr wrap="square" lIns="0" rIns="0" tIns="0" bIns="0" anchor="t">
            <a:spAutoFit/>
          </a:bodyPr>
          <a:lstStyle/>
          <a:p>
            <a:pPr algn="l"/>
            <a:r>
              <a:rPr sz="819" b="1">
                <a:solidFill>
                  <a:srgbClr val="6B7A72"/>
                </a:solidFill>
                <a:latin typeface="DM Sans"/>
              </a:rPr>
              <a:t>MEASURED SPEED, AGAINST THE 10-SECOND PROMISE</a:t>
            </a:r>
          </a:p>
        </p:txBody>
      </p:sp>
      <p:pic>
        <p:nvPicPr>
          <p:cNvPr id="82" name="Picture 81" descr="c_latency.png"/>
          <p:cNvPicPr>
            <a:picLocks noChangeAspect="1"/>
          </p:cNvPicPr>
          <p:nvPr/>
        </p:nvPicPr>
        <p:blipFill>
          <a:blip r:embed="rId3"/>
          <a:stretch>
            <a:fillRect/>
          </a:stretch>
        </p:blipFill>
        <p:spPr>
          <a:xfrm>
            <a:off x="813816" y="2232241"/>
            <a:ext cx="4937760" cy="1424253"/>
          </a:xfrm>
          <a:prstGeom prst="rect">
            <a:avLst/>
          </a:prstGeom>
        </p:spPr>
      </p:pic>
      <p:sp>
        <p:nvSpPr>
          <p:cNvPr id="83" name="TextBox 82"/>
          <p:cNvSpPr txBox="1"/>
          <p:nvPr/>
        </p:nvSpPr>
        <p:spPr>
          <a:xfrm>
            <a:off x="5961888" y="2066543"/>
            <a:ext cx="5641848" cy="155448"/>
          </a:xfrm>
          <a:prstGeom prst="rect">
            <a:avLst/>
          </a:prstGeom>
          <a:noFill/>
        </p:spPr>
        <p:txBody>
          <a:bodyPr wrap="square" lIns="0" rIns="0" tIns="0" bIns="0" anchor="t">
            <a:spAutoFit/>
          </a:bodyPr>
          <a:lstStyle/>
          <a:p>
            <a:pPr algn="l"/>
            <a:r>
              <a:rPr sz="819" b="1">
                <a:solidFill>
                  <a:srgbClr val="6B7A72"/>
                </a:solidFill>
                <a:latin typeface="DM Sans"/>
              </a:rPr>
              <a:t>WHAT THE MODEL DOES WITH AMBIGUITY</a:t>
            </a:r>
          </a:p>
        </p:txBody>
      </p:sp>
      <p:pic>
        <p:nvPicPr>
          <p:cNvPr id="84" name="Picture 83" descr="c_abstain.png"/>
          <p:cNvPicPr>
            <a:picLocks noChangeAspect="1"/>
          </p:cNvPicPr>
          <p:nvPr/>
        </p:nvPicPr>
        <p:blipFill>
          <a:blip r:embed="rId4"/>
          <a:stretch>
            <a:fillRect/>
          </a:stretch>
        </p:blipFill>
        <p:spPr>
          <a:xfrm>
            <a:off x="6684917" y="2395728"/>
            <a:ext cx="4195789" cy="1005840"/>
          </a:xfrm>
          <a:prstGeom prst="rect">
            <a:avLst/>
          </a:prstGeom>
        </p:spPr>
      </p:pic>
      <p:sp>
        <p:nvSpPr>
          <p:cNvPr id="85" name="TextBox 84"/>
          <p:cNvSpPr txBox="1"/>
          <p:nvPr/>
        </p:nvSpPr>
        <p:spPr>
          <a:xfrm>
            <a:off x="5961888" y="3602736"/>
            <a:ext cx="5641848" cy="201168"/>
          </a:xfrm>
          <a:prstGeom prst="rect">
            <a:avLst/>
          </a:prstGeom>
          <a:noFill/>
        </p:spPr>
        <p:txBody>
          <a:bodyPr wrap="square" lIns="0" rIns="0" tIns="0" bIns="0" anchor="t">
            <a:spAutoFit/>
          </a:bodyPr>
          <a:lstStyle/>
          <a:p>
            <a:pPr algn="l"/>
            <a:r>
              <a:rPr sz="740" b="0">
                <a:solidFill>
                  <a:srgbClr val="9DB3A7"/>
                </a:solidFill>
                <a:latin typeface="DM Sans"/>
              </a:rPr>
              <a:t>Both bars are the same run: 33 answered, 12 declined.</a:t>
            </a:r>
          </a:p>
        </p:txBody>
      </p:sp>
      <p:sp>
        <p:nvSpPr>
          <p:cNvPr id="86" name="Rounded Rectangle 85"/>
          <p:cNvSpPr/>
          <p:nvPr/>
        </p:nvSpPr>
        <p:spPr>
          <a:xfrm>
            <a:off x="813816" y="3913632"/>
            <a:ext cx="3401568"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13816" y="3913632"/>
            <a:ext cx="3401568"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33271" y="4087368"/>
            <a:ext cx="2962656" cy="201168"/>
          </a:xfrm>
          <a:prstGeom prst="rect">
            <a:avLst/>
          </a:prstGeom>
          <a:noFill/>
        </p:spPr>
        <p:txBody>
          <a:bodyPr wrap="square" lIns="0" rIns="0" tIns="0" bIns="0" anchor="t">
            <a:spAutoFit/>
          </a:bodyPr>
          <a:lstStyle/>
          <a:p>
            <a:pPr algn="l"/>
            <a:r>
              <a:rPr sz="1000" b="1">
                <a:solidFill>
                  <a:srgbClr val="2A4A3E"/>
                </a:solidFill>
                <a:latin typeface="Rubik"/>
              </a:rPr>
              <a:t>Cost per test (estimate)</a:t>
            </a:r>
          </a:p>
        </p:txBody>
      </p:sp>
      <p:sp>
        <p:nvSpPr>
          <p:cNvPr id="89" name="TextBox 88"/>
          <p:cNvSpPr txBox="1"/>
          <p:nvPr/>
        </p:nvSpPr>
        <p:spPr>
          <a:xfrm>
            <a:off x="1033271" y="4407408"/>
            <a:ext cx="1920240" cy="201168"/>
          </a:xfrm>
          <a:prstGeom prst="rect">
            <a:avLst/>
          </a:prstGeom>
          <a:noFill/>
        </p:spPr>
        <p:txBody>
          <a:bodyPr wrap="square" lIns="0" rIns="0" tIns="0" bIns="0" anchor="t">
            <a:spAutoFit/>
          </a:bodyPr>
          <a:lstStyle/>
          <a:p>
            <a:pPr algn="l"/>
            <a:r>
              <a:rPr sz="880" b="0">
                <a:solidFill>
                  <a:srgbClr val="1F3A30"/>
                </a:solidFill>
                <a:latin typeface="DM Sans"/>
              </a:rPr>
              <a:t>Printed card, two zones</a:t>
            </a:r>
          </a:p>
        </p:txBody>
      </p:sp>
      <p:sp>
        <p:nvSpPr>
          <p:cNvPr id="90" name="TextBox 89"/>
          <p:cNvSpPr txBox="1"/>
          <p:nvPr/>
        </p:nvSpPr>
        <p:spPr>
          <a:xfrm>
            <a:off x="2953512" y="4407408"/>
            <a:ext cx="1042415" cy="201168"/>
          </a:xfrm>
          <a:prstGeom prst="rect">
            <a:avLst/>
          </a:prstGeom>
          <a:noFill/>
        </p:spPr>
        <p:txBody>
          <a:bodyPr wrap="square" lIns="0" rIns="0" tIns="0" bIns="0" anchor="t">
            <a:spAutoFit/>
          </a:bodyPr>
          <a:lstStyle/>
          <a:p>
            <a:pPr algn="r"/>
            <a:r>
              <a:rPr sz="880" b="1">
                <a:solidFill>
                  <a:srgbClr val="2A4A3E"/>
                </a:solidFill>
                <a:latin typeface="DM Sans"/>
              </a:rPr>
              <a:t>≈ ₹2</a:t>
            </a:r>
          </a:p>
        </p:txBody>
      </p:sp>
      <p:sp>
        <p:nvSpPr>
          <p:cNvPr id="91" name="TextBox 90"/>
          <p:cNvSpPr txBox="1"/>
          <p:nvPr/>
        </p:nvSpPr>
        <p:spPr>
          <a:xfrm>
            <a:off x="1033271" y="4681728"/>
            <a:ext cx="1920240" cy="201168"/>
          </a:xfrm>
          <a:prstGeom prst="rect">
            <a:avLst/>
          </a:prstGeom>
          <a:noFill/>
        </p:spPr>
        <p:txBody>
          <a:bodyPr wrap="square" lIns="0" rIns="0" tIns="0" bIns="0" anchor="t">
            <a:spAutoFit/>
          </a:bodyPr>
          <a:lstStyle/>
          <a:p>
            <a:pPr algn="l"/>
            <a:r>
              <a:rPr sz="880" b="0">
                <a:solidFill>
                  <a:srgbClr val="1F3A30"/>
                </a:solidFill>
                <a:latin typeface="DM Sans"/>
              </a:rPr>
              <a:t>One iodine or MB drop</a:t>
            </a:r>
          </a:p>
        </p:txBody>
      </p:sp>
      <p:sp>
        <p:nvSpPr>
          <p:cNvPr id="92" name="TextBox 91"/>
          <p:cNvSpPr txBox="1"/>
          <p:nvPr/>
        </p:nvSpPr>
        <p:spPr>
          <a:xfrm>
            <a:off x="2953512" y="4681728"/>
            <a:ext cx="1042415" cy="201168"/>
          </a:xfrm>
          <a:prstGeom prst="rect">
            <a:avLst/>
          </a:prstGeom>
          <a:noFill/>
        </p:spPr>
        <p:txBody>
          <a:bodyPr wrap="square" lIns="0" rIns="0" tIns="0" bIns="0" anchor="t">
            <a:spAutoFit/>
          </a:bodyPr>
          <a:lstStyle/>
          <a:p>
            <a:pPr algn="r"/>
            <a:r>
              <a:rPr sz="880" b="1">
                <a:solidFill>
                  <a:srgbClr val="2A4A3E"/>
                </a:solidFill>
                <a:latin typeface="DM Sans"/>
              </a:rPr>
              <a:t>≈ ₹1</a:t>
            </a:r>
          </a:p>
        </p:txBody>
      </p:sp>
      <p:sp>
        <p:nvSpPr>
          <p:cNvPr id="93" name="TextBox 92"/>
          <p:cNvSpPr txBox="1"/>
          <p:nvPr/>
        </p:nvSpPr>
        <p:spPr>
          <a:xfrm>
            <a:off x="1033271" y="4956048"/>
            <a:ext cx="1920240" cy="201168"/>
          </a:xfrm>
          <a:prstGeom prst="rect">
            <a:avLst/>
          </a:prstGeom>
          <a:noFill/>
        </p:spPr>
        <p:txBody>
          <a:bodyPr wrap="square" lIns="0" rIns="0" tIns="0" bIns="0" anchor="t">
            <a:spAutoFit/>
          </a:bodyPr>
          <a:lstStyle/>
          <a:p>
            <a:pPr algn="l"/>
            <a:r>
              <a:rPr sz="880" b="0">
                <a:solidFill>
                  <a:srgbClr val="1F3A30"/>
                </a:solidFill>
                <a:latin typeface="DM Sans"/>
              </a:rPr>
              <a:t>Phone and network</a:t>
            </a:r>
          </a:p>
        </p:txBody>
      </p:sp>
      <p:sp>
        <p:nvSpPr>
          <p:cNvPr id="94" name="TextBox 93"/>
          <p:cNvSpPr txBox="1"/>
          <p:nvPr/>
        </p:nvSpPr>
        <p:spPr>
          <a:xfrm>
            <a:off x="2953512" y="4956048"/>
            <a:ext cx="1042415" cy="201168"/>
          </a:xfrm>
          <a:prstGeom prst="rect">
            <a:avLst/>
          </a:prstGeom>
          <a:noFill/>
        </p:spPr>
        <p:txBody>
          <a:bodyPr wrap="square" lIns="0" rIns="0" tIns="0" bIns="0" anchor="t">
            <a:spAutoFit/>
          </a:bodyPr>
          <a:lstStyle/>
          <a:p>
            <a:pPr algn="r"/>
            <a:r>
              <a:rPr sz="880" b="1">
                <a:solidFill>
                  <a:srgbClr val="2A4A3E"/>
                </a:solidFill>
                <a:latin typeface="DM Sans"/>
              </a:rPr>
              <a:t>already owned</a:t>
            </a:r>
          </a:p>
        </p:txBody>
      </p:sp>
      <p:sp>
        <p:nvSpPr>
          <p:cNvPr id="95" name="Rectangle 94"/>
          <p:cNvSpPr/>
          <p:nvPr/>
        </p:nvSpPr>
        <p:spPr>
          <a:xfrm>
            <a:off x="1033271" y="5266944"/>
            <a:ext cx="2962656" cy="12801"/>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33271" y="5358384"/>
            <a:ext cx="2962656" cy="219456"/>
          </a:xfrm>
          <a:prstGeom prst="rect">
            <a:avLst/>
          </a:prstGeom>
          <a:noFill/>
        </p:spPr>
        <p:txBody>
          <a:bodyPr wrap="square" lIns="0" rIns="0" tIns="0" bIns="0" anchor="t">
            <a:spAutoFit/>
          </a:bodyPr>
          <a:lstStyle/>
          <a:p>
            <a:pPr algn="l"/>
            <a:r>
              <a:rPr sz="960" b="1">
                <a:solidFill>
                  <a:srgbClr val="2A4A3E"/>
                </a:solidFill>
                <a:latin typeface="Rubik"/>
              </a:rPr>
              <a:t>≈ ₹3 per test, excluding the phone</a:t>
            </a:r>
          </a:p>
        </p:txBody>
      </p:sp>
      <p:sp>
        <p:nvSpPr>
          <p:cNvPr id="97" name="TextBox 96"/>
          <p:cNvSpPr txBox="1"/>
          <p:nvPr/>
        </p:nvSpPr>
        <p:spPr>
          <a:xfrm>
            <a:off x="1033271" y="5614416"/>
            <a:ext cx="2962656" cy="310896"/>
          </a:xfrm>
          <a:prstGeom prst="rect">
            <a:avLst/>
          </a:prstGeom>
          <a:noFill/>
        </p:spPr>
        <p:txBody>
          <a:bodyPr wrap="square" lIns="0" rIns="0" tIns="0" bIns="0" anchor="t">
            <a:spAutoFit/>
          </a:bodyPr>
          <a:lstStyle/>
          <a:p>
            <a:pPr algn="l">
              <a:lnSpc>
                <a:spcPct val="110000"/>
              </a:lnSpc>
            </a:pPr>
            <a:r>
              <a:rPr sz="700" b="0">
                <a:solidFill>
                  <a:srgbClr val="6B7A72"/>
                </a:solidFill>
                <a:latin typeface="DM Sans"/>
              </a:rPr>
              <a:t>Estimate only. Reagent prices are pending; the kit is being bought this week and the figure will be restated once.</a:t>
            </a:r>
          </a:p>
        </p:txBody>
      </p:sp>
      <p:sp>
        <p:nvSpPr>
          <p:cNvPr id="98" name="Rounded Rectangle 97"/>
          <p:cNvSpPr/>
          <p:nvPr/>
        </p:nvSpPr>
        <p:spPr>
          <a:xfrm>
            <a:off x="4389120" y="3913632"/>
            <a:ext cx="3401568"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389120" y="3913632"/>
            <a:ext cx="3401568"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608576" y="4087368"/>
            <a:ext cx="2962656" cy="179222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What a vendor actually needs</a:t>
            </a:r>
          </a:p>
          <a:p>
            <a:pPr algn="l">
              <a:lnSpc>
                <a:spcPct val="112000"/>
              </a:lnSpc>
              <a:spcAft>
                <a:spcPts val="350"/>
              </a:spcAft>
            </a:pPr>
            <a:r>
              <a:rPr sz="880" b="0">
                <a:solidFill>
                  <a:srgbClr val="1F3A30"/>
                </a:solidFill>
                <a:latin typeface="DM Sans"/>
              </a:rPr>
              <a:t>Printed cards, two dropper bottles and a phone. No app store, no account, no internet after the first page load, no calibration by hand.</a:t>
            </a:r>
          </a:p>
          <a:p>
            <a:pPr algn="l">
              <a:lnSpc>
                <a:spcPct val="112000"/>
              </a:lnSpc>
              <a:spcAft>
                <a:spcPts val="350"/>
              </a:spcAft>
            </a:pPr>
            <a:r>
              <a:rPr sz="880" b="0">
                <a:solidFill>
                  <a:srgbClr val="1F3A30"/>
                </a:solidFill>
                <a:latin typeface="DM Sans"/>
              </a:rPr>
              <a:t/>
            </a:r>
          </a:p>
          <a:p>
            <a:pPr algn="l">
              <a:lnSpc>
                <a:spcPct val="112000"/>
              </a:lnSpc>
              <a:spcAft>
                <a:spcPts val="350"/>
              </a:spcAft>
            </a:pPr>
            <a:r>
              <a:rPr sz="880" b="0">
                <a:solidFill>
                  <a:srgbClr val="1F3A30"/>
                </a:solidFill>
                <a:latin typeface="DM Sans"/>
              </a:rPr>
              <a:t>The same card and app work for milk, water and any liquid the two reagents screen for.</a:t>
            </a:r>
          </a:p>
        </p:txBody>
      </p:sp>
      <p:sp>
        <p:nvSpPr>
          <p:cNvPr id="101" name="Rounded Rectangle 100"/>
          <p:cNvSpPr/>
          <p:nvPr/>
        </p:nvSpPr>
        <p:spPr>
          <a:xfrm>
            <a:off x="8010144" y="3913632"/>
            <a:ext cx="3593592"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8010144" y="3913632"/>
            <a:ext cx="3593592" cy="4114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229600" y="4087368"/>
            <a:ext cx="3154680" cy="179222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Impact, and the road to 24 October</a:t>
            </a:r>
          </a:p>
          <a:p>
            <a:pPr algn="l">
              <a:lnSpc>
                <a:spcPct val="112000"/>
              </a:lnSpc>
              <a:spcAft>
                <a:spcPts val="350"/>
              </a:spcAft>
            </a:pPr>
            <a:r>
              <a:rPr sz="880" b="0">
                <a:solidFill>
                  <a:srgbClr val="1F3A30"/>
                </a:solidFill>
                <a:latin typeface="DM Sans"/>
              </a:rPr>
              <a:t>Every test carries a batch id and a QR, so a distributor can scope a recall to the batches that failed instead of pulling a whole product line.</a:t>
            </a:r>
          </a:p>
          <a:p>
            <a:pPr algn="l">
              <a:lnSpc>
                <a:spcPct val="112000"/>
              </a:lnSpc>
              <a:spcAft>
                <a:spcPts val="350"/>
              </a:spcAft>
            </a:pPr>
            <a:r>
              <a:rPr sz="880" b="0">
                <a:solidFill>
                  <a:srgbClr val="1F3A30"/>
                </a:solidFill>
                <a:latin typeface="DM Sans"/>
              </a:rPr>
              <a:t/>
            </a:r>
          </a:p>
          <a:p>
            <a:pPr algn="l">
              <a:lnSpc>
                <a:spcPct val="112000"/>
              </a:lnSpc>
              <a:spcAft>
                <a:spcPts val="350"/>
              </a:spcAft>
            </a:pPr>
            <a:r>
              <a:rPr sz="880" b="0">
                <a:solidFill>
                  <a:srgbClr val="1F3A30"/>
                </a:solidFill>
                <a:latin typeface="DM Sans"/>
              </a:rPr>
              <a:t>23 Oct reagent shoot attempted, both stocks past date · 24 Oct final, live and offline.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9"/>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87" name="Google Shape;87;p9"/>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Research &amp; References</a:t>
            </a:r>
            <a:endParaRPr b="0" i="0" sz="3600" u="none" cap="none" strike="noStrike">
              <a:solidFill>
                <a:schemeClr val="dk1"/>
              </a:solidFill>
              <a:latin typeface="Calibri"/>
              <a:ea typeface="Calibri"/>
              <a:cs typeface="Calibri"/>
              <a:sym typeface="Calibri"/>
            </a:endParaRPr>
          </a:p>
        </p:txBody>
      </p:sp>
      <p:sp>
        <p:nvSpPr>
          <p:cNvPr id="94" name="Google Shape;94;p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08</a:t>
            </a:r>
            <a:endParaRPr b="0" i="0" sz="1200" u="none" cap="none" strike="noStrike">
              <a:solidFill>
                <a:schemeClr val="dk1"/>
              </a:solidFill>
              <a:latin typeface="Calibri"/>
              <a:ea typeface="Calibri"/>
              <a:cs typeface="Calibri"/>
              <a:sym typeface="Calibri"/>
            </a:endParaRPr>
          </a:p>
        </p:txBody>
      </p:sp>
      <p:sp>
        <p:nvSpPr>
          <p:cNvPr id="95" name="TextBox 94"/>
          <p:cNvSpPr txBox="1"/>
          <p:nvPr/>
        </p:nvSpPr>
        <p:spPr>
          <a:xfrm>
            <a:off x="1051560" y="2212848"/>
            <a:ext cx="3063240" cy="201168"/>
          </a:xfrm>
          <a:prstGeom prst="rect">
            <a:avLst/>
          </a:prstGeom>
          <a:noFill/>
        </p:spPr>
        <p:txBody>
          <a:bodyPr wrap="square" lIns="0" rIns="0" tIns="0" bIns="0" anchor="t">
            <a:spAutoFit/>
          </a:bodyPr>
          <a:lstStyle/>
          <a:p>
            <a:pPr algn="l"/>
            <a:r>
              <a:rPr sz="960" b="1">
                <a:solidFill>
                  <a:srgbClr val="2A4A3E"/>
                </a:solidFill>
                <a:latin typeface="Rubik"/>
              </a:rPr>
              <a:t>Research papers &amp; patents</a:t>
            </a:r>
          </a:p>
        </p:txBody>
      </p:sp>
      <p:sp>
        <p:nvSpPr>
          <p:cNvPr id="96" name="Rectangle 95"/>
          <p:cNvSpPr/>
          <p:nvPr/>
        </p:nvSpPr>
        <p:spPr>
          <a:xfrm>
            <a:off x="1051560"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51560"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Fragkos N., Bouzembrak Y., Erasmus S. W. (2026)</a:t>
            </a:r>
          </a:p>
          <a:p>
            <a:pPr algn="l">
              <a:lnSpc>
                <a:spcPct val="116000"/>
              </a:lnSpc>
            </a:pPr>
            <a:r>
              <a:rPr sz="800" b="0">
                <a:solidFill>
                  <a:srgbClr val="6B7A72"/>
                </a:solidFill>
                <a:latin typeface="DM Sans"/>
              </a:rPr>
              <a:t>The role of artificial intelligence in combating food fraud: a systematic literature review. Critical Reviews in Food Science and Nutrition. doi:10.1080/10408398.2026.2654710</a:t>
            </a:r>
          </a:p>
        </p:txBody>
      </p:sp>
      <p:sp>
        <p:nvSpPr>
          <p:cNvPr id="98" name="TextBox 97"/>
          <p:cNvSpPr txBox="1"/>
          <p:nvPr/>
        </p:nvSpPr>
        <p:spPr>
          <a:xfrm>
            <a:off x="1051560"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Food Chemistry 468:142439 (2025)</a:t>
            </a:r>
          </a:p>
          <a:p>
            <a:pPr algn="l">
              <a:lnSpc>
                <a:spcPct val="116000"/>
              </a:lnSpc>
            </a:pPr>
            <a:r>
              <a:rPr sz="800" b="0">
                <a:solidFill>
                  <a:srgbClr val="6B7A72"/>
                </a:solidFill>
                <a:latin typeface="DM Sans"/>
              </a:rPr>
              <a:t>Recent advances on AI-based approaches for food adulteration and fraud detection: challenges and opportunities. PMID 39675268</a:t>
            </a:r>
          </a:p>
        </p:txBody>
      </p:sp>
      <p:sp>
        <p:nvSpPr>
          <p:cNvPr id="99" name="TextBox 98"/>
          <p:cNvSpPr txBox="1"/>
          <p:nvPr/>
        </p:nvSpPr>
        <p:spPr>
          <a:xfrm>
            <a:off x="4590288" y="2212848"/>
            <a:ext cx="3063240" cy="201168"/>
          </a:xfrm>
          <a:prstGeom prst="rect">
            <a:avLst/>
          </a:prstGeom>
          <a:noFill/>
        </p:spPr>
        <p:txBody>
          <a:bodyPr wrap="square" lIns="0" rIns="0" tIns="0" bIns="0" anchor="t">
            <a:spAutoFit/>
          </a:bodyPr>
          <a:lstStyle/>
          <a:p>
            <a:pPr algn="l"/>
            <a:r>
              <a:rPr sz="960" b="1">
                <a:solidFill>
                  <a:srgbClr val="2A4A3E"/>
                </a:solidFill>
                <a:latin typeface="Rubik"/>
              </a:rPr>
              <a:t>Data, reports &amp; regulations</a:t>
            </a:r>
          </a:p>
        </p:txBody>
      </p:sp>
      <p:sp>
        <p:nvSpPr>
          <p:cNvPr id="100" name="Rectangle 99"/>
          <p:cNvSpPr/>
          <p:nvPr/>
        </p:nvSpPr>
        <p:spPr>
          <a:xfrm>
            <a:off x="4590288"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90288"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FSSAI, tabled in Parliament 24 July 2026</a:t>
            </a:r>
          </a:p>
          <a:p>
            <a:pPr algn="l">
              <a:lnSpc>
                <a:spcPct val="116000"/>
              </a:lnSpc>
            </a:pPr>
            <a:r>
              <a:rPr sz="800" b="0">
                <a:solidFill>
                  <a:srgbClr val="6B7A72"/>
                </a:solidFill>
                <a:latin typeface="DM Sans"/>
              </a:rPr>
              <a:t>Lok Sabha Unstarred Question No. 1092. 14,668 of 39,351 milk and dairy samples non-conforming in FY 2025-26.</a:t>
            </a:r>
          </a:p>
        </p:txBody>
      </p:sp>
      <p:sp>
        <p:nvSpPr>
          <p:cNvPr id="102" name="TextBox 101"/>
          <p:cNvSpPr txBox="1"/>
          <p:nvPr/>
        </p:nvSpPr>
        <p:spPr>
          <a:xfrm>
            <a:off x="4590288"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WHO, Food safety fact sheet, 4 June 2026</a:t>
            </a:r>
          </a:p>
          <a:p>
            <a:pPr algn="l">
              <a:lnSpc>
                <a:spcPct val="116000"/>
              </a:lnSpc>
            </a:pPr>
            <a:r>
              <a:rPr sz="800" b="0">
                <a:solidFill>
                  <a:srgbClr val="6B7A72"/>
                </a:solidFill>
                <a:latin typeface="DM Sans"/>
              </a:rPr>
              <a:t>866 million illnesses, 1.52 million deaths and US$ 310 billion a year; children under 5 carry 29% of the burden.</a:t>
            </a:r>
          </a:p>
        </p:txBody>
      </p:sp>
      <p:sp>
        <p:nvSpPr>
          <p:cNvPr id="103" name="TextBox 102"/>
          <p:cNvSpPr txBox="1"/>
          <p:nvPr/>
        </p:nvSpPr>
        <p:spPr>
          <a:xfrm>
            <a:off x="8129016" y="2212848"/>
            <a:ext cx="3063240" cy="201168"/>
          </a:xfrm>
          <a:prstGeom prst="rect">
            <a:avLst/>
          </a:prstGeom>
          <a:noFill/>
        </p:spPr>
        <p:txBody>
          <a:bodyPr wrap="square" lIns="0" rIns="0" tIns="0" bIns="0" anchor="t">
            <a:spAutoFit/>
          </a:bodyPr>
          <a:lstStyle/>
          <a:p>
            <a:pPr algn="l"/>
            <a:r>
              <a:rPr sz="960" b="1">
                <a:solidFill>
                  <a:srgbClr val="2A4A3E"/>
                </a:solidFill>
                <a:latin typeface="Rubik"/>
              </a:rPr>
              <a:t>Tools, datasets &amp; field work</a:t>
            </a:r>
          </a:p>
        </p:txBody>
      </p:sp>
      <p:sp>
        <p:nvSpPr>
          <p:cNvPr id="104" name="Rectangle 103"/>
          <p:cNvSpPr/>
          <p:nvPr/>
        </p:nvSpPr>
        <p:spPr>
          <a:xfrm>
            <a:off x="8129016"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29016"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Open-source stack</a:t>
            </a:r>
          </a:p>
          <a:p>
            <a:pPr algn="l">
              <a:lnSpc>
                <a:spcPct val="116000"/>
              </a:lnSpc>
            </a:pPr>
            <a:r>
              <a:rPr sz="800" b="0">
                <a:solidFill>
                  <a:srgbClr val="6B7A72"/>
                </a:solidFill>
                <a:latin typeface="DM Sans"/>
              </a:rPr>
              <a:t>OpenCV, scikit-learn, ONNX Runtime, FastAPI, SQLite, Python 3.12. Model trained on an RTX 4050, served on CPU.</a:t>
            </a:r>
          </a:p>
        </p:txBody>
      </p:sp>
      <p:sp>
        <p:nvSpPr>
          <p:cNvPr id="106" name="TextBox 105"/>
          <p:cNvSpPr txBox="1"/>
          <p:nvPr/>
        </p:nvSpPr>
        <p:spPr>
          <a:xfrm>
            <a:off x="8129016"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Dataset and field work</a:t>
            </a:r>
          </a:p>
          <a:p>
            <a:pPr algn="l">
              <a:lnSpc>
                <a:spcPct val="116000"/>
              </a:lnSpc>
            </a:pPr>
            <a:r>
              <a:rPr sz="800" b="0">
                <a:solidFill>
                  <a:srgbClr val="6B7A72"/>
                </a:solidFill>
                <a:latin typeface="DM Sans"/>
              </a:rPr>
              <a:t>534 synthetic strip images across 5 lighting conditions, plus printed colour targets photographed to validate the imaging half before any chemistry. A real-reagent shoot was attempted 23 October; both stocks were past date, so no chemistry was run.</a:t>
            </a:r>
          </a:p>
        </p:txBody>
      </p:sp>
      <p:sp>
        <p:nvSpPr>
          <p:cNvPr id="107" name="Rounded Rectangle 106"/>
          <p:cNvSpPr/>
          <p:nvPr/>
        </p:nvSpPr>
        <p:spPr>
          <a:xfrm>
            <a:off x="813816" y="4773168"/>
            <a:ext cx="10881360" cy="12435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69848" y="4974336"/>
            <a:ext cx="10369296" cy="914400"/>
          </a:xfrm>
          <a:prstGeom prst="rect">
            <a:avLst/>
          </a:prstGeom>
          <a:noFill/>
        </p:spPr>
        <p:txBody>
          <a:bodyPr wrap="square" lIns="0" rIns="0" tIns="0" bIns="0" anchor="t">
            <a:spAutoFit/>
          </a:bodyPr>
          <a:lstStyle/>
          <a:p>
            <a:pPr algn="l">
              <a:spcAft>
                <a:spcPts val="400"/>
              </a:spcAft>
            </a:pPr>
            <a:r>
              <a:rPr sz="900" b="1">
                <a:solidFill>
                  <a:srgbClr val="2A4A3E"/>
                </a:solidFill>
                <a:latin typeface="Rubik"/>
              </a:rPr>
              <a:t>How the sources were used</a:t>
            </a:r>
          </a:p>
          <a:p>
            <a:pPr algn="l">
              <a:lnSpc>
                <a:spcPct val="118000"/>
              </a:lnSpc>
            </a:pPr>
            <a:r>
              <a:rPr sz="819" b="0">
                <a:solidFill>
                  <a:srgbClr val="6B7A72"/>
                </a:solidFill>
                <a:latin typeface="DM Sans"/>
              </a:rPr>
              <a:t>WHO and FSSAI figures set the size of the problem on slide 2 and are quoted with their publication dates. The two review papers informed the decision to keep a rule-table fallback beside the learned model, since both reviews flag model opacity as the main barrier to regulatory adoption. No figure in this deck was rounded into existence; every number traces to a file in the repository or to a cited publication.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0"/>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101" name="Google Shape;101;p10"/>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Conclusion</a:t>
            </a:r>
            <a:endParaRPr b="0" i="0" sz="3600" u="none" cap="none" strike="noStrike">
              <a:solidFill>
                <a:schemeClr val="dk1"/>
              </a:solidFill>
              <a:latin typeface="Calibri"/>
              <a:ea typeface="Calibri"/>
              <a:cs typeface="Calibri"/>
              <a:sym typeface="Calibri"/>
            </a:endParaRPr>
          </a:p>
        </p:txBody>
      </p:sp>
      <p:sp>
        <p:nvSpPr>
          <p:cNvPr id="103" name="Google Shape;103;p10"/>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07</a:t>
            </a:r>
            <a:endParaRPr b="0" i="0" sz="1200" u="none" cap="none" strike="noStrike">
              <a:solidFill>
                <a:schemeClr val="dk1"/>
              </a:solidFill>
              <a:latin typeface="Calibri"/>
              <a:ea typeface="Calibri"/>
              <a:cs typeface="Calibri"/>
              <a:sym typeface="Calibri"/>
            </a:endParaRPr>
          </a:p>
        </p:txBody>
      </p:sp>
      <p:sp>
        <p:nvSpPr>
          <p:cNvPr id="104" name="TextBox 103"/>
          <p:cNvSpPr txBox="1"/>
          <p:nvPr/>
        </p:nvSpPr>
        <p:spPr>
          <a:xfrm>
            <a:off x="813816" y="2103120"/>
            <a:ext cx="5120640" cy="640080"/>
          </a:xfrm>
          <a:prstGeom prst="rect">
            <a:avLst/>
          </a:prstGeom>
          <a:noFill/>
        </p:spPr>
        <p:txBody>
          <a:bodyPr wrap="square" lIns="0" rIns="0" tIns="0" bIns="0" anchor="t">
            <a:spAutoFit/>
          </a:bodyPr>
          <a:lstStyle/>
          <a:p>
            <a:pPr algn="l">
              <a:lnSpc>
                <a:spcPct val="114000"/>
              </a:lnSpc>
            </a:pPr>
            <a:r>
              <a:rPr sz="1300" b="1">
                <a:solidFill>
                  <a:srgbClr val="2A4A3E"/>
                </a:solidFill>
                <a:latin typeface="Rubik"/>
              </a:rPr>
              <a:t>A printed card and a phone camera, turned into a repeatable adulteration screen that keeps its own record.</a:t>
            </a:r>
          </a:p>
        </p:txBody>
      </p:sp>
      <p:sp>
        <p:nvSpPr>
          <p:cNvPr id="105" name="Rounded Rectangle 104"/>
          <p:cNvSpPr/>
          <p:nvPr/>
        </p:nvSpPr>
        <p:spPr>
          <a:xfrm>
            <a:off x="813816" y="2871216"/>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813816" y="2871216"/>
            <a:ext cx="50292" cy="786384"/>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14984" y="2962656"/>
            <a:ext cx="2157984" cy="621792"/>
          </a:xfrm>
          <a:prstGeom prst="rect">
            <a:avLst/>
          </a:prstGeom>
          <a:noFill/>
        </p:spPr>
        <p:txBody>
          <a:bodyPr wrap="square" lIns="0" rIns="0" tIns="0" bIns="0" anchor="t">
            <a:spAutoFit/>
          </a:bodyPr>
          <a:lstStyle/>
          <a:p>
            <a:pPr algn="l">
              <a:spcAft>
                <a:spcPts val="100"/>
              </a:spcAft>
            </a:pPr>
            <a:r>
              <a:rPr sz="1900" b="1">
                <a:solidFill>
                  <a:srgbClr val="2A4A3E"/>
                </a:solidFill>
                <a:latin typeface="Rubik"/>
              </a:rPr>
              <a:t>291</a:t>
            </a:r>
          </a:p>
          <a:p>
            <a:pPr algn="l">
              <a:lnSpc>
                <a:spcPct val="106000"/>
              </a:lnSpc>
            </a:pPr>
            <a:r>
              <a:rPr sz="819" b="0">
                <a:solidFill>
                  <a:srgbClr val="6B7A72"/>
                </a:solidFill>
                <a:latin typeface="DM Sans"/>
              </a:rPr>
              <a:t>tests passing, 90% coverage</a:t>
            </a:r>
          </a:p>
        </p:txBody>
      </p:sp>
      <p:sp>
        <p:nvSpPr>
          <p:cNvPr id="108" name="Rounded Rectangle 107"/>
          <p:cNvSpPr/>
          <p:nvPr/>
        </p:nvSpPr>
        <p:spPr>
          <a:xfrm>
            <a:off x="3419856" y="2871216"/>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3419856" y="2871216"/>
            <a:ext cx="50292" cy="786384"/>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21024" y="2962656"/>
            <a:ext cx="2157984" cy="621792"/>
          </a:xfrm>
          <a:prstGeom prst="rect">
            <a:avLst/>
          </a:prstGeom>
          <a:noFill/>
        </p:spPr>
        <p:txBody>
          <a:bodyPr wrap="square" lIns="0" rIns="0" tIns="0" bIns="0" anchor="t">
            <a:spAutoFit/>
          </a:bodyPr>
          <a:lstStyle/>
          <a:p>
            <a:pPr algn="l">
              <a:spcAft>
                <a:spcPts val="100"/>
              </a:spcAft>
            </a:pPr>
            <a:r>
              <a:rPr sz="1900" b="1">
                <a:solidFill>
                  <a:srgbClr val="F26B2A"/>
                </a:solidFill>
                <a:latin typeface="Rubik"/>
              </a:rPr>
              <a:t>6.0 ms</a:t>
            </a:r>
          </a:p>
          <a:p>
            <a:pPr algn="l">
              <a:lnSpc>
                <a:spcPct val="106000"/>
              </a:lnSpc>
            </a:pPr>
            <a:r>
              <a:rPr sz="819" b="0">
                <a:solidFill>
                  <a:srgbClr val="6B7A72"/>
                </a:solidFill>
                <a:latin typeface="DM Sans"/>
              </a:rPr>
              <a:t>median analysis time</a:t>
            </a:r>
          </a:p>
        </p:txBody>
      </p:sp>
      <p:sp>
        <p:nvSpPr>
          <p:cNvPr id="111" name="Rounded Rectangle 110"/>
          <p:cNvSpPr/>
          <p:nvPr/>
        </p:nvSpPr>
        <p:spPr>
          <a:xfrm>
            <a:off x="813816" y="3767328"/>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813816" y="3767328"/>
            <a:ext cx="50292" cy="786384"/>
          </a:xfrm>
          <a:prstGeom prst="rect">
            <a:avLst/>
          </a:prstGeom>
          <a:solidFill>
            <a:srgbClr val="B88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14984" y="3858768"/>
            <a:ext cx="2157984" cy="621792"/>
          </a:xfrm>
          <a:prstGeom prst="rect">
            <a:avLst/>
          </a:prstGeom>
          <a:noFill/>
        </p:spPr>
        <p:txBody>
          <a:bodyPr wrap="square" lIns="0" rIns="0" tIns="0" bIns="0" anchor="t">
            <a:spAutoFit/>
          </a:bodyPr>
          <a:lstStyle/>
          <a:p>
            <a:pPr algn="l">
              <a:spcAft>
                <a:spcPts val="100"/>
              </a:spcAft>
            </a:pPr>
            <a:r>
              <a:rPr sz="1900" b="1">
                <a:solidFill>
                  <a:srgbClr val="B88F14"/>
                </a:solidFill>
                <a:latin typeface="Rubik"/>
              </a:rPr>
              <a:t>5</a:t>
            </a:r>
          </a:p>
          <a:p>
            <a:pPr algn="l">
              <a:lnSpc>
                <a:spcPct val="106000"/>
              </a:lnSpc>
            </a:pPr>
            <a:r>
              <a:rPr sz="819" b="0">
                <a:solidFill>
                  <a:srgbClr val="6B7A72"/>
                </a:solidFill>
                <a:latin typeface="DM Sans"/>
              </a:rPr>
              <a:t>verdict classes, one of them unsure</a:t>
            </a:r>
          </a:p>
        </p:txBody>
      </p:sp>
      <p:sp>
        <p:nvSpPr>
          <p:cNvPr id="114" name="Rounded Rectangle 113"/>
          <p:cNvSpPr/>
          <p:nvPr/>
        </p:nvSpPr>
        <p:spPr>
          <a:xfrm>
            <a:off x="3419856" y="3767328"/>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3419856" y="3767328"/>
            <a:ext cx="50292" cy="786384"/>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621024" y="3858768"/>
            <a:ext cx="2157984" cy="621792"/>
          </a:xfrm>
          <a:prstGeom prst="rect">
            <a:avLst/>
          </a:prstGeom>
          <a:noFill/>
        </p:spPr>
        <p:txBody>
          <a:bodyPr wrap="square" lIns="0" rIns="0" tIns="0" bIns="0" anchor="t">
            <a:spAutoFit/>
          </a:bodyPr>
          <a:lstStyle/>
          <a:p>
            <a:pPr algn="l">
              <a:spcAft>
                <a:spcPts val="100"/>
              </a:spcAft>
            </a:pPr>
            <a:r>
              <a:rPr sz="1900" b="1">
                <a:solidFill>
                  <a:srgbClr val="D9581C"/>
                </a:solidFill>
                <a:latin typeface="Rubik"/>
              </a:rPr>
              <a:t>0</a:t>
            </a:r>
          </a:p>
          <a:p>
            <a:pPr algn="l">
              <a:lnSpc>
                <a:spcPct val="106000"/>
              </a:lnSpc>
            </a:pPr>
            <a:r>
              <a:rPr sz="819" b="0">
                <a:solidFill>
                  <a:srgbClr val="6B7A72"/>
                </a:solidFill>
                <a:latin typeface="DM Sans"/>
              </a:rPr>
              <a:t>fabricated verdicts by design</a:t>
            </a:r>
          </a:p>
        </p:txBody>
      </p:sp>
      <p:sp>
        <p:nvSpPr>
          <p:cNvPr id="117" name="Rounded Rectangle 116"/>
          <p:cNvSpPr/>
          <p:nvPr/>
        </p:nvSpPr>
        <p:spPr>
          <a:xfrm>
            <a:off x="6144768" y="2103120"/>
            <a:ext cx="5458968" cy="1316736"/>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6144768" y="2103120"/>
            <a:ext cx="5458968"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364224" y="2276856"/>
            <a:ext cx="5020056" cy="1005839"/>
          </a:xfrm>
          <a:prstGeom prst="rect">
            <a:avLst/>
          </a:prstGeom>
          <a:noFill/>
        </p:spPr>
        <p:txBody>
          <a:bodyPr wrap="square" lIns="0" rIns="0" tIns="0" bIns="0" anchor="t">
            <a:spAutoFit/>
          </a:bodyPr>
          <a:lstStyle/>
          <a:p>
            <a:pPr algn="l">
              <a:spcAft>
                <a:spcPts val="400"/>
              </a:spcAft>
            </a:pPr>
            <a:r>
              <a:rPr sz="1019" b="1">
                <a:solidFill>
                  <a:srgbClr val="2A4A3E"/>
                </a:solidFill>
                <a:latin typeface="Rubik"/>
              </a:rPr>
              <a:t>What is built and running</a:t>
            </a:r>
          </a:p>
          <a:p>
            <a:pPr algn="l">
              <a:lnSpc>
                <a:spcPct val="112000"/>
              </a:lnSpc>
              <a:spcAft>
                <a:spcPts val="350"/>
              </a:spcAft>
            </a:pPr>
            <a:r>
              <a:rPr sz="900" b="0">
                <a:solidFill>
                  <a:srgbClr val="1F3A30"/>
                </a:solidFill>
                <a:latin typeface="DM Sans"/>
              </a:rPr>
              <a:t>Capture, calibration, zone measurement, classification, abstention, evidence log, PDF and QR export, and a browser UI that works on a phone. The repository holds 34 commits of test-driven work and starts from a clean checkout in one command.</a:t>
            </a:r>
          </a:p>
        </p:txBody>
      </p:sp>
      <p:sp>
        <p:nvSpPr>
          <p:cNvPr id="120" name="Rounded Rectangle 119"/>
          <p:cNvSpPr/>
          <p:nvPr/>
        </p:nvSpPr>
        <p:spPr>
          <a:xfrm>
            <a:off x="6144768" y="3529584"/>
            <a:ext cx="5458968" cy="120700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6144768" y="3529584"/>
            <a:ext cx="5458968"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364224" y="3703320"/>
            <a:ext cx="5020056" cy="896112"/>
          </a:xfrm>
          <a:prstGeom prst="rect">
            <a:avLst/>
          </a:prstGeom>
          <a:noFill/>
        </p:spPr>
        <p:txBody>
          <a:bodyPr wrap="square" lIns="0" rIns="0" tIns="0" bIns="0" anchor="t">
            <a:spAutoFit/>
          </a:bodyPr>
          <a:lstStyle/>
          <a:p>
            <a:pPr algn="l">
              <a:spcAft>
                <a:spcPts val="400"/>
              </a:spcAft>
            </a:pPr>
            <a:r>
              <a:rPr sz="1019" b="1">
                <a:solidFill>
                  <a:srgbClr val="2A4A3E"/>
                </a:solidFill>
                <a:latin typeface="Rubik"/>
              </a:rPr>
              <a:t>What we are honest about</a:t>
            </a:r>
          </a:p>
          <a:p>
            <a:pPr algn="l">
              <a:lnSpc>
                <a:spcPct val="112000"/>
              </a:lnSpc>
              <a:spcAft>
                <a:spcPts val="350"/>
              </a:spcAft>
            </a:pPr>
            <a:r>
              <a:rPr sz="900" b="0">
                <a:solidFill>
                  <a:srgbClr val="1F3A30"/>
                </a:solidFill>
                <a:latin typeface="DM Sans"/>
              </a:rPr>
              <a:t>The classifier is validated on synthetic reagent scenes, not real chemistry. A 23 October shoot found both stocks past date: degraded iodine gives false negatives, and reduced methylene blue reads colourless, which is what a positive looks like. Running them would have yielded results we could not separate from our own failure modes, so imaging was validated against printed targets instead. A reading is a screening signal, not a legal test result.</a:t>
            </a:r>
          </a:p>
        </p:txBody>
      </p:sp>
      <p:sp>
        <p:nvSpPr>
          <p:cNvPr id="123" name="TextBox 122"/>
          <p:cNvSpPr txBox="1"/>
          <p:nvPr/>
        </p:nvSpPr>
        <p:spPr>
          <a:xfrm>
            <a:off x="813816" y="4754880"/>
            <a:ext cx="10881360" cy="155448"/>
          </a:xfrm>
          <a:prstGeom prst="rect">
            <a:avLst/>
          </a:prstGeom>
          <a:noFill/>
        </p:spPr>
        <p:txBody>
          <a:bodyPr wrap="square" lIns="0" rIns="0" tIns="0" bIns="0" anchor="t">
            <a:spAutoFit/>
          </a:bodyPr>
          <a:lstStyle/>
          <a:p>
            <a:pPr algn="l"/>
            <a:r>
              <a:rPr sz="819" b="1">
                <a:solidFill>
                  <a:srgbClr val="6B7A72"/>
                </a:solidFill>
                <a:latin typeface="DM Sans"/>
              </a:rPr>
              <a:t>ROADMAP TO 24 OCTOBER</a:t>
            </a:r>
          </a:p>
        </p:txBody>
      </p:sp>
      <p:sp>
        <p:nvSpPr>
          <p:cNvPr id="124" name="Rounded Rectangle 123"/>
          <p:cNvSpPr/>
          <p:nvPr/>
        </p:nvSpPr>
        <p:spPr>
          <a:xfrm>
            <a:off x="81381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813816" y="4937760"/>
            <a:ext cx="2587752" cy="41148"/>
          </a:xfrm>
          <a:prstGeom prst="rect">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7840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14 Oct</a:t>
            </a:r>
          </a:p>
          <a:p>
            <a:pPr algn="l">
              <a:lnSpc>
                <a:spcPct val="112000"/>
              </a:lnSpc>
            </a:pPr>
            <a:r>
              <a:rPr sz="819" b="0">
                <a:solidFill>
                  <a:srgbClr val="6B7A72"/>
                </a:solidFill>
                <a:latin typeface="DM Sans"/>
              </a:rPr>
              <a:t>Shortlist announced</a:t>
            </a:r>
          </a:p>
        </p:txBody>
      </p:sp>
      <p:sp>
        <p:nvSpPr>
          <p:cNvPr id="127" name="Rounded Rectangle 126"/>
          <p:cNvSpPr/>
          <p:nvPr/>
        </p:nvSpPr>
        <p:spPr>
          <a:xfrm>
            <a:off x="357987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3579876" y="4937760"/>
            <a:ext cx="2587752" cy="4114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74446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15-22 Oct</a:t>
            </a:r>
          </a:p>
          <a:p>
            <a:pPr algn="l">
              <a:lnSpc>
                <a:spcPct val="112000"/>
              </a:lnSpc>
            </a:pPr>
            <a:r>
              <a:rPr sz="819" b="0">
                <a:solidFill>
                  <a:srgbClr val="6B7A72"/>
                </a:solidFill>
                <a:latin typeface="DM Sans"/>
              </a:rPr>
              <a:t>Printable targets, mid-grey backdrop and frame guide built</a:t>
            </a:r>
          </a:p>
        </p:txBody>
      </p:sp>
      <p:sp>
        <p:nvSpPr>
          <p:cNvPr id="130" name="Rounded Rectangle 129"/>
          <p:cNvSpPr/>
          <p:nvPr/>
        </p:nvSpPr>
        <p:spPr>
          <a:xfrm>
            <a:off x="634593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6345936" y="4937760"/>
            <a:ext cx="2587752"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510527"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23 Oct</a:t>
            </a:r>
          </a:p>
          <a:p>
            <a:pPr algn="l">
              <a:lnSpc>
                <a:spcPct val="112000"/>
              </a:lnSpc>
            </a:pPr>
            <a:r>
              <a:rPr sz="819" b="0">
                <a:solidFill>
                  <a:srgbClr val="6B7A72"/>
                </a:solidFill>
                <a:latin typeface="DM Sans"/>
              </a:rPr>
              <a:t>Reagent shoot attempted, both stocks past date, rehearsal</a:t>
            </a:r>
          </a:p>
        </p:txBody>
      </p:sp>
      <p:sp>
        <p:nvSpPr>
          <p:cNvPr id="133" name="Rounded Rectangle 132"/>
          <p:cNvSpPr/>
          <p:nvPr/>
        </p:nvSpPr>
        <p:spPr>
          <a:xfrm>
            <a:off x="911199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9111996" y="4937760"/>
            <a:ext cx="2587752"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27658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24 Oct</a:t>
            </a:r>
          </a:p>
          <a:p>
            <a:pPr algn="l">
              <a:lnSpc>
                <a:spcPct val="112000"/>
              </a:lnSpc>
            </a:pPr>
            <a:r>
              <a:rPr sz="819" b="0">
                <a:solidFill>
                  <a:srgbClr val="6B7A72"/>
                </a:solidFill>
                <a:latin typeface="DM Sans"/>
              </a:rPr>
              <a:t>Final, 09:00-12:00 at PCCOE, live demo, offline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30"/>
        </a:solidFill>
      </p:bgPr>
    </p:bg>
    <p:spTree>
      <p:nvGrpSpPr>
        <p:cNvPr id="108" name="Shape 108"/>
        <p:cNvGrpSpPr/>
        <p:nvPr/>
      </p:nvGrpSpPr>
      <p:grpSpPr>
        <a:xfrm>
          <a:off x="0" y="0"/>
          <a:ext cx="0" cy="0"/>
          <a:chOff x="0" y="0"/>
          <a:chExt cx="0" cy="0"/>
        </a:xfrm>
      </p:grpSpPr>
      <p:sp>
        <p:nvSpPr>
          <p:cNvPr id="109" name="Google Shape;109;p11"/>
          <p:cNvSpPr/>
          <p:nvPr/>
        </p:nvSpPr>
        <p:spPr>
          <a:xfrm>
            <a:off x="3371255" y="2621260"/>
            <a:ext cx="5449491"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4F1E8"/>
              </a:buClr>
              <a:buSzPts val="7000"/>
              <a:buFont typeface="Rubik"/>
              <a:buNone/>
            </a:pPr>
            <a:r>
              <a:rPr b="1" i="0" lang="en-US" sz="7000" u="none" cap="none" strike="noStrike">
                <a:solidFill>
                  <a:srgbClr val="F4F1E8"/>
                </a:solidFill>
                <a:latin typeface="Rubik"/>
                <a:ea typeface="Rubik"/>
                <a:cs typeface="Rubik"/>
                <a:sym typeface="Rubik"/>
              </a:rPr>
              <a:t>Thank You</a:t>
            </a:r>
            <a:endParaRPr b="0" i="0" sz="7000" u="none" cap="none" strike="noStrike">
              <a:solidFill>
                <a:schemeClr val="dk1"/>
              </a:solidFill>
              <a:latin typeface="Calibri"/>
              <a:ea typeface="Calibri"/>
              <a:cs typeface="Calibri"/>
              <a:sym typeface="Calibri"/>
            </a:endParaRPr>
          </a:p>
        </p:txBody>
      </p:sp>
      <p:sp>
        <p:nvSpPr>
          <p:cNvPr id="110" name="Google Shape;110;p11"/>
          <p:cNvSpPr/>
          <p:nvPr/>
        </p:nvSpPr>
        <p:spPr>
          <a:xfrm>
            <a:off x="4186421" y="3713460"/>
            <a:ext cx="3819108" cy="34543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5C842"/>
              </a:buClr>
              <a:buSzPts val="1800"/>
              <a:buFont typeface="DM Sans"/>
              <a:buNone/>
            </a:pPr>
            <a:r>
              <a:rPr b="0" i="0" lang="en-US" sz="1800" u="none" cap="none" strike="noStrike">
                <a:solidFill>
                  <a:srgbClr val="F5C842"/>
                </a:solidFill>
                <a:latin typeface="DM Sans"/>
                <a:ea typeface="DM Sans"/>
                <a:cs typeface="DM Sans"/>
                <a:sym typeface="DM Sans"/>
              </a:rPr>
              <a:t>[Team Name] · [Contact email]</a:t>
            </a:r>
            <a:endParaRPr b="0" i="0" sz="1800" u="none" cap="none" strike="noStrike">
              <a:solidFill>
                <a:schemeClr val="dk1"/>
              </a:solidFill>
              <a:latin typeface="Calibri"/>
              <a:ea typeface="Calibri"/>
              <a:cs typeface="Calibri"/>
              <a:sym typeface="Calibri"/>
            </a:endParaRPr>
          </a:p>
        </p:txBody>
      </p:sp>
      <p:sp>
        <p:nvSpPr>
          <p:cNvPr id="111" name="Google Shape;111;p1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DB3A7"/>
              </a:buClr>
              <a:buSzPts val="1200"/>
              <a:buFont typeface="DM Sans"/>
              <a:buNone/>
            </a:pPr>
            <a:r>
              <a:rPr b="0" i="0" lang="en-US" sz="1200" u="none" cap="none" strike="noStrike">
                <a:solidFill>
                  <a:srgbClr val="9DB3A7"/>
                </a:solidFill>
                <a:latin typeface="DM Sans"/>
                <a:ea typeface="DM Sans"/>
                <a:cs typeface="DM Sans"/>
                <a:sym typeface="DM Sans"/>
              </a:rPr>
              <a:t>Tech4Food 2026 · New Era of Smarter Food Safety · PCCOE, Pune · 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SaafScan — Tech4Food 2026 Round 1 idea submission</dc:title>
  <cp:lastModifiedBy>python-pptx</cp:lastModifiedBy>
  <cp:revision>1</cp:revision>
  <dcterms:modified xsi:type="dcterms:W3CDTF">2026-10-23T17:50:38Z</dcterms:modified>
  <dc:creator>SaafScan team</dc:creator>
  <dc:subject>Phone-camera adulterant screening</dc:subject>
  <dc:description>Built from the official Tech4Food template. Team placeholders are left for completion before export.</dc:description>
</cp:coreProperties>
</file>