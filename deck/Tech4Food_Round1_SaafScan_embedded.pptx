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5.xml" ContentType="application/vnd.openxmlformats-officedocument.presentationml.notesSlide+xml"/>
  <Override PartName="/ppt/notesSlides/notesSlide9.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embedTrueTypeFonts="1">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Lst>
  <p:sldSz cx="12192000" cy="6858000"/>
  <p:notesSz cx="6858000" cy="12192000"/>
  <p:embeddedFontLst>
    <p:embeddedFont>
      <p:font typeface="Rubik"/>
      <p:regular r:id="rId13"/>
      <p:bold r:id="rId14"/>
      <p:italic r:id="rId15"/>
      <p:boldItalic r:id="rId16"/>
    </p:embeddedFont>
    <p:embeddedFont>
      <p:font typeface="DM Sans"/>
      <p:regular r:id="rId17"/>
      <p:bold r:id="rId18"/>
      <p:italic r:id="rId19"/>
      <p:boldItalic r:id="rId20"/>
    </p:embeddedFont>
  </p:embeddedFontLst>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font" Target="fonts/Font_1_Rubik_Regular.fntdata"/><Relationship Id="rId14" Type="http://schemas.openxmlformats.org/officeDocument/2006/relationships/font" Target="fonts/Font_2_Rubik_Bold.fntdata"/><Relationship Id="rId15" Type="http://schemas.openxmlformats.org/officeDocument/2006/relationships/font" Target="fonts/Font_3_Rubik_Italic.fntdata"/><Relationship Id="rId16" Type="http://schemas.openxmlformats.org/officeDocument/2006/relationships/font" Target="fonts/Font_4_Rubik_BoldItalic.fntdata"/><Relationship Id="rId17" Type="http://schemas.openxmlformats.org/officeDocument/2006/relationships/font" Target="fonts/Font_5_DM_Sans_Regular.fntdata"/><Relationship Id="rId18" Type="http://schemas.openxmlformats.org/officeDocument/2006/relationships/font" Target="fonts/Font_6_DM_Sans_Bold.fntdata"/><Relationship Id="rId19" Type="http://schemas.openxmlformats.org/officeDocument/2006/relationships/font" Target="fonts/Font_7_DM_Sans_Italic.fntdata"/><Relationship Id="rId20" Type="http://schemas.openxmlformats.org/officeDocument/2006/relationships/font" Target="fonts/Font_8_DM_Sans_BoldItalic.fntdata"/><Relationship Id="rId21"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 name="PlaceHolder 1"/>
          <p:cNvSpPr>
            <a:spLocks noGrp="1"/>
          </p:cNvSpPr>
          <p:nvPr>
            <p:ph type="sldImg"/>
          </p:nvPr>
        </p:nvSpPr>
        <p:spPr>
          <a:xfrm>
            <a:off x="216000" y="812520"/>
            <a:ext cx="7127280" cy="4008960"/>
          </a:xfrm>
          <a:prstGeom prst="rect">
            <a:avLst/>
          </a:prstGeom>
          <a:noFill/>
          <a:ln w="0">
            <a:noFill/>
          </a:ln>
        </p:spPr>
        <p:txBody>
          <a:bodyPr lIns="0" tIns="0" rIns="0" bIns="0" anchor="ctr">
            <a:noAutofit/>
          </a:bodyPr>
          <a:p>
            <a:r>
              <a:rPr lang="en-IN" sz="1400" b="0" u="none" strike="noStrike">
                <a:solidFill>
                  <a:srgbClr val="000000"/>
                </a:solidFill>
                <a:effectLst/>
                <a:uFillTx/>
                <a:latin typeface="Arial"/>
              </a:rPr>
              <a:t>Click to move the slide</a:t>
            </a:r>
            <a:endParaRPr lang="en-IN" sz="1400" b="0" u="none" strike="noStrike">
              <a:solidFill>
                <a:srgbClr val="000000"/>
              </a:solidFill>
              <a:effectLst/>
              <a:uFillTx/>
              <a:latin typeface="Arial"/>
            </a:endParaRPr>
          </a:p>
        </p:txBody>
      </p:sp>
      <p:sp>
        <p:nvSpPr>
          <p:cNvPr id="5"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en-IN" sz="2000" b="0" u="none" strike="noStrike">
                <a:solidFill>
                  <a:srgbClr val="000000"/>
                </a:solidFill>
                <a:effectLst/>
                <a:uFillTx/>
                <a:latin typeface="Arial"/>
              </a:rPr>
              <a:t>Click to edit the notes format</a:t>
            </a:r>
            <a:endParaRPr lang="en-IN" sz="2000" b="0" u="none" strike="noStrike">
              <a:solidFill>
                <a:srgbClr val="000000"/>
              </a:solidFill>
              <a:effectLst/>
              <a:uFillTx/>
              <a:latin typeface="Arial"/>
            </a:endParaRPr>
          </a:p>
        </p:txBody>
      </p:sp>
      <p:sp>
        <p:nvSpPr>
          <p:cNvPr id="6"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en-IN" sz="1400" b="0" u="none" strike="noStrike">
                <a:solidFill>
                  <a:srgbClr val="000000"/>
                </a:solidFill>
                <a:effectLst/>
                <a:uFillTx/>
                <a:latin typeface="Times New Roman"/>
              </a:rPr>
              <a:t> </a:t>
            </a:r>
            <a:endParaRPr lang="en-IN" sz="1400" b="0" u="none" strike="noStrike">
              <a:solidFill>
                <a:srgbClr val="000000"/>
              </a:solidFill>
              <a:effectLst/>
              <a:uFillTx/>
              <a:latin typeface="Times New Roman"/>
            </a:endParaRPr>
          </a:p>
        </p:txBody>
      </p:sp>
      <p:sp>
        <p:nvSpPr>
          <p:cNvPr id="7"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en-IN" sz="1400" b="0" u="none" strike="noStrike">
                <a:solidFill>
                  <a:srgbClr val="000000"/>
                </a:solidFill>
                <a:effectLst/>
                <a:uFillTx/>
                <a:latin typeface="Times New Roman"/>
              </a:defRPr>
            </a:lvl1pPr>
          </a:lstStyle>
          <a:p>
            <a:pPr indent="0" algn="r">
              <a:buNone/>
            </a:pPr>
            <a:r>
              <a:rPr lang="en-IN" sz="1400" b="0" u="none" strike="noStrike">
                <a:solidFill>
                  <a:srgbClr val="000000"/>
                </a:solidFill>
                <a:effectLst/>
                <a:uFillTx/>
                <a:latin typeface="Times New Roman"/>
              </a:rPr>
              <a:t> </a:t>
            </a:r>
            <a:endParaRPr lang="en-IN" sz="1400" b="0" u="none" strike="noStrike">
              <a:solidFill>
                <a:srgbClr val="000000"/>
              </a:solidFill>
              <a:effectLst/>
              <a:uFillTx/>
              <a:latin typeface="Times New Roman"/>
            </a:endParaRPr>
          </a:p>
        </p:txBody>
      </p:sp>
      <p:sp>
        <p:nvSpPr>
          <p:cNvPr id="8"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lgn="l">
              <a:buNone/>
              <a:defRPr lang="en-IN" sz="1400" b="0" u="none" strike="noStrike">
                <a:solidFill>
                  <a:srgbClr val="000000"/>
                </a:solidFill>
                <a:effectLst/>
                <a:uFillTx/>
                <a:latin typeface="Times New Roman"/>
              </a:defRPr>
            </a:lvl1pPr>
          </a:lstStyle>
          <a:p>
            <a:pPr indent="0" algn="l">
              <a:buNone/>
            </a:pPr>
            <a:r>
              <a:rPr lang="en-IN" sz="1400" b="0" u="none" strike="noStrike">
                <a:solidFill>
                  <a:srgbClr val="000000"/>
                </a:solidFill>
                <a:effectLst/>
                <a:uFillTx/>
                <a:latin typeface="Times New Roman"/>
              </a:rPr>
              <a:t> </a:t>
            </a:r>
            <a:endParaRPr lang="en-IN" sz="1400" b="0" u="none" strike="noStrike">
              <a:solidFill>
                <a:srgbClr val="000000"/>
              </a:solidFill>
              <a:effectLst/>
              <a:uFillTx/>
              <a:latin typeface="Times New Roman"/>
            </a:endParaRPr>
          </a:p>
        </p:txBody>
      </p:sp>
      <p:sp>
        <p:nvSpPr>
          <p:cNvPr id="9"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en-IN" sz="1400" b="0" u="none" strike="noStrike">
                <a:solidFill>
                  <a:srgbClr val="000000"/>
                </a:solidFill>
                <a:effectLst/>
                <a:uFillTx/>
                <a:latin typeface="Times New Roman"/>
              </a:defRPr>
            </a:lvl1pPr>
          </a:lstStyle>
          <a:p>
            <a:pPr indent="0" algn="r">
              <a:buNone/>
            </a:pPr>
            <a:fld id="{A204C573-FFF8-4476-9D87-B1B189CF42D3}" type="slidenum">
              <a:rPr lang="en-IN" sz="1400" b="0" u="none" strike="noStrike">
                <a:solidFill>
                  <a:srgbClr val="000000"/>
                </a:solidFill>
                <a:effectLst/>
                <a:uFillTx/>
                <a:latin typeface="Times New Roman"/>
              </a:rPr>
              <a:t>1</a:t>
            </a:fld>
            <a:endParaRPr lang="en-IN"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6" name="PlaceHolder 1"/>
          <p:cNvSpPr>
            <a:spLocks noGrp="1"/>
          </p:cNvSpPr>
          <p:nvPr>
            <p:ph type="sldImg"/>
          </p:nvPr>
        </p:nvSpPr>
        <p:spPr>
          <a:xfrm>
            <a:off x="685800" y="1143000"/>
            <a:ext cx="5486040" cy="3085920"/>
          </a:xfrm>
          <a:prstGeom prst="rect">
            <a:avLst/>
          </a:prstGeom>
          <a:ln w="0">
            <a:noFill/>
          </a:ln>
        </p:spPr>
      </p:sp>
      <p:sp>
        <p:nvSpPr>
          <p:cNvPr id="27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marL="457200" indent="-228600" algn="l">
              <a:lnSpc>
                <a:spcPct val="100000"/>
              </a:lnSpc>
              <a:buNone/>
              <a:tabLst>
                <a:tab pos="0" algn="l"/>
              </a:tabLst>
            </a:pPr>
            <a:r>
              <a:rPr lang="en-IN" sz="1200" b="0" u="none" strike="noStrike">
                <a:solidFill>
                  <a:schemeClr val="dk1"/>
                </a:solidFill>
                <a:effectLst/>
                <a:uFillTx/>
                <a:latin typeface="Calibri"/>
                <a:ea typeface="Calibri"/>
              </a:rPr>
              <a:t>SaafScan, Round 1 idea submission for Tech4Food 2026, theme DETECT. The phone reads a printed reagent strip instead of asking a buyer to trust their eyes. Fill the team name, lead, member names, college name and contact email in the placeholders on this slide and on the closing slide before exporting the PDF.</a:t>
            </a:r>
            <a:endParaRPr lang="en-IN" sz="1200" b="0" u="none" strike="noStrike">
              <a:solidFill>
                <a:srgbClr val="000000"/>
              </a:solidFill>
              <a:effectLst/>
              <a:uFillTx/>
              <a:latin typeface="Arial"/>
            </a:endParaRPr>
          </a:p>
        </p:txBody>
      </p:sp>
      <p:sp>
        <p:nvSpPr>
          <p:cNvPr id="278" name="PlaceHolder 3"/>
          <p:cNvSpPr>
            <a:spLocks noGrp="1"/>
          </p:cNvSpPr>
          <p:nvPr>
            <p:ph type="sldNum" idx="4"/>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21BB467F-E9C2-4636-B8B3-9A7205478C20}" type="slidenum">
              <a:rPr lang="en-US" sz="1400" b="0" u="none" strike="noStrike">
                <a:solidFill>
                  <a:srgbClr val="000000"/>
                </a:solidFill>
                <a:effectLst/>
                <a:uFillTx/>
                <a:latin typeface="Times New Roman"/>
              </a:rPr>
              <a:t>&lt;number&gt;</a:t>
            </a:fld>
            <a:endParaRPr lang="en-IN" sz="14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9" name="PlaceHolder 1"/>
          <p:cNvSpPr>
            <a:spLocks noGrp="1"/>
          </p:cNvSpPr>
          <p:nvPr>
            <p:ph type="sldImg"/>
          </p:nvPr>
        </p:nvSpPr>
        <p:spPr>
          <a:xfrm>
            <a:off x="685800" y="1143000"/>
            <a:ext cx="5486040" cy="3085920"/>
          </a:xfrm>
          <a:prstGeom prst="rect">
            <a:avLst/>
          </a:prstGeom>
          <a:ln w="0">
            <a:noFill/>
          </a:ln>
        </p:spPr>
      </p:sp>
      <p:sp>
        <p:nvSpPr>
          <p:cNvPr id="28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marL="457200" indent="-228600" algn="l">
              <a:lnSpc>
                <a:spcPct val="100000"/>
              </a:lnSpc>
              <a:buNone/>
              <a:tabLst>
                <a:tab pos="0" algn="l"/>
              </a:tabLst>
            </a:pPr>
            <a:r>
              <a:rPr lang="en-IN" sz="1200" b="0" u="none" strike="noStrike">
                <a:solidFill>
                  <a:schemeClr val="dk1"/>
                </a:solidFill>
                <a:effectLst/>
                <a:uFillTx/>
                <a:latin typeface="Calibri"/>
                <a:ea typeface="Calibri"/>
              </a:rPr>
              <a:t>WHO updated its food safety fact sheet on 4 June 2026: 866 million illnesses and 1.52 million deaths a year, US$ 310 billion in lost productivity and medical costs. The India-specific number is the sharper one for this audience: FSSAI told Parliament on 24 July 2026 that 14,668 of 39,351 milk and dairy samples failed in FY 2025-26. Note the rate is marginally down on FY 2024-25 while the absolute number of failures rose, so the deck shows both bars rather than claiming a worsening trend.</a:t>
            </a:r>
            <a:endParaRPr lang="en-IN" sz="1200" b="0" u="none" strike="noStrike">
              <a:solidFill>
                <a:srgbClr val="000000"/>
              </a:solidFill>
              <a:effectLst/>
              <a:uFillTx/>
              <a:latin typeface="Arial"/>
            </a:endParaRPr>
          </a:p>
        </p:txBody>
      </p:sp>
      <p:sp>
        <p:nvSpPr>
          <p:cNvPr id="281" name="PlaceHolder 3"/>
          <p:cNvSpPr>
            <a:spLocks noGrp="1"/>
          </p:cNvSpPr>
          <p:nvPr>
            <p:ph type="sldNum" idx="5"/>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D2495E11-1764-4FDA-B1D1-4EEACAAF368B}" type="slidenum">
              <a:rPr lang="en-US" sz="1400" b="0" u="none" strike="noStrike">
                <a:solidFill>
                  <a:srgbClr val="000000"/>
                </a:solidFill>
                <a:effectLst/>
                <a:uFillTx/>
                <a:latin typeface="Times New Roman"/>
              </a:rPr>
              <a:t>&lt;number&gt;</a:t>
            </a:fld>
            <a:endParaRPr lang="en-IN" sz="14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2" name="PlaceHolder 1"/>
          <p:cNvSpPr>
            <a:spLocks noGrp="1"/>
          </p:cNvSpPr>
          <p:nvPr>
            <p:ph type="sldImg"/>
          </p:nvPr>
        </p:nvSpPr>
        <p:spPr>
          <a:xfrm>
            <a:off x="685800" y="1143000"/>
            <a:ext cx="5486040" cy="3085920"/>
          </a:xfrm>
          <a:prstGeom prst="rect">
            <a:avLst/>
          </a:prstGeom>
          <a:ln w="0">
            <a:noFill/>
          </a:ln>
        </p:spPr>
      </p:sp>
      <p:sp>
        <p:nvSpPr>
          <p:cNvPr id="28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marL="457200" indent="-228600" algn="l">
              <a:lnSpc>
                <a:spcPct val="100000"/>
              </a:lnSpc>
              <a:buNone/>
              <a:tabLst>
                <a:tab pos="0" algn="l"/>
              </a:tabLst>
            </a:pPr>
            <a:r>
              <a:rPr lang="en-IN" sz="1200" b="0" u="none" strike="noStrike">
                <a:solidFill>
                  <a:schemeClr val="dk1"/>
                </a:solidFill>
                <a:effectLst/>
                <a:uFillTx/>
                <a:latin typeface="Calibri"/>
                <a:ea typeface="Calibri"/>
              </a:rPr>
              <a:t>The card is the only consumable. Everything else is software already on a phone. The differentiator to land with judges is the fifth class: the model is allowed to return inconclusive, which is what makes a screening tool honest. Comparison rows for lab tests and rapid strips are qualitative and the SaafScan row is measured.</a:t>
            </a:r>
            <a:endParaRPr lang="en-IN" sz="1200" b="0" u="none" strike="noStrike">
              <a:solidFill>
                <a:srgbClr val="000000"/>
              </a:solidFill>
              <a:effectLst/>
              <a:uFillTx/>
              <a:latin typeface="Arial"/>
            </a:endParaRPr>
          </a:p>
        </p:txBody>
      </p:sp>
      <p:sp>
        <p:nvSpPr>
          <p:cNvPr id="284" name="PlaceHolder 3"/>
          <p:cNvSpPr>
            <a:spLocks noGrp="1"/>
          </p:cNvSpPr>
          <p:nvPr>
            <p:ph type="sldNum" idx="6"/>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B7E063EF-0417-4E56-9C87-96BB75F25FB2}" type="slidenum">
              <a:rPr lang="en-US" sz="1400" b="0" u="none" strike="noStrike">
                <a:solidFill>
                  <a:srgbClr val="000000"/>
                </a:solidFill>
                <a:effectLst/>
                <a:uFillTx/>
                <a:latin typeface="Times New Roman"/>
              </a:rPr>
              <a:t>&lt;number&gt;</a:t>
            </a:fld>
            <a:endParaRPr lang="en-IN" sz="14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5" name="PlaceHolder 1"/>
          <p:cNvSpPr>
            <a:spLocks noGrp="1"/>
          </p:cNvSpPr>
          <p:nvPr>
            <p:ph type="sldImg"/>
          </p:nvPr>
        </p:nvSpPr>
        <p:spPr>
          <a:xfrm>
            <a:off x="685800" y="1143000"/>
            <a:ext cx="5486040" cy="3085920"/>
          </a:xfrm>
          <a:prstGeom prst="rect">
            <a:avLst/>
          </a:prstGeom>
          <a:ln w="0">
            <a:noFill/>
          </a:ln>
        </p:spPr>
      </p:sp>
      <p:sp>
        <p:nvSpPr>
          <p:cNvPr id="28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marL="457200" indent="-228600" algn="l">
              <a:lnSpc>
                <a:spcPct val="100000"/>
              </a:lnSpc>
              <a:buNone/>
              <a:tabLst>
                <a:tab pos="0" algn="l"/>
              </a:tabLst>
            </a:pPr>
            <a:r>
              <a:rPr lang="en-IN" sz="1200" b="0" u="none" strike="noStrike">
                <a:solidFill>
                  <a:schemeClr val="dk1"/>
                </a:solidFill>
                <a:effectLst/>
                <a:uFillTx/>
                <a:latin typeface="Calibri"/>
                <a:ea typeface="Calibri"/>
              </a:rPr>
              <a:t>Every stage runs on the CPU in about six milliseconds, so the demo does not depend on a GPU being present at the venue. Both trained models scored identically on the held-out split, which is why the deck claims no accuracy advantage for the ML path over the rule table; the booster ships on artifact size and on abstention headroom.</a:t>
            </a:r>
            <a:endParaRPr lang="en-IN" sz="1200" b="0" u="none" strike="noStrike">
              <a:solidFill>
                <a:srgbClr val="000000"/>
              </a:solidFill>
              <a:effectLst/>
              <a:uFillTx/>
              <a:latin typeface="Arial"/>
            </a:endParaRPr>
          </a:p>
        </p:txBody>
      </p:sp>
      <p:sp>
        <p:nvSpPr>
          <p:cNvPr id="287" name="PlaceHolder 3"/>
          <p:cNvSpPr>
            <a:spLocks noGrp="1"/>
          </p:cNvSpPr>
          <p:nvPr>
            <p:ph type="sldNum" idx="7"/>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D1A16712-AD2B-4F38-B142-F8E57D1EB436}" type="slidenum">
              <a:rPr lang="en-US" sz="1400" b="0" u="none" strike="noStrike">
                <a:solidFill>
                  <a:srgbClr val="000000"/>
                </a:solidFill>
                <a:effectLst/>
                <a:uFillTx/>
                <a:latin typeface="Times New Roman"/>
              </a:rPr>
              <a:t>&lt;number&gt;</a:t>
            </a:fld>
            <a:endParaRPr lang="en-IN" sz="14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8" name="PlaceHolder 1"/>
          <p:cNvSpPr>
            <a:spLocks noGrp="1"/>
          </p:cNvSpPr>
          <p:nvPr>
            <p:ph type="sldImg"/>
          </p:nvPr>
        </p:nvSpPr>
        <p:spPr>
          <a:xfrm>
            <a:off x="685800" y="1143000"/>
            <a:ext cx="5486040" cy="3085920"/>
          </a:xfrm>
          <a:prstGeom prst="rect">
            <a:avLst/>
          </a:prstGeom>
          <a:ln w="0">
            <a:noFill/>
          </a:ln>
        </p:spPr>
      </p:sp>
      <p:sp>
        <p:nvSpPr>
          <p:cNvPr id="28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marL="457200" indent="-228600" algn="l">
              <a:lnSpc>
                <a:spcPct val="100000"/>
              </a:lnSpc>
              <a:buNone/>
              <a:tabLst>
                <a:tab pos="0" algn="l"/>
              </a:tabLst>
            </a:pPr>
            <a:r>
              <a:rPr lang="en-IN" sz="1200" b="0" u="none" strike="noStrike">
                <a:solidFill>
                  <a:schemeClr val="dk1"/>
                </a:solidFill>
                <a:effectLst/>
                <a:uFillTx/>
                <a:latin typeface="Calibri"/>
                <a:ea typeface="Calibri"/>
              </a:rPr>
              <a:t>The screenshots are from the running prototype, not mockups. The confusion matrix is the honest headline: zero misclassifications across 45 held-out samples, with exactly 9 abstentions matching the 9 samples labelled inconclusive. Timings were measured with deck/bench.py on the build laptop and are reproducible from the repository.</a:t>
            </a:r>
            <a:endParaRPr lang="en-IN" sz="1200" b="0" u="none" strike="noStrike">
              <a:solidFill>
                <a:srgbClr val="000000"/>
              </a:solidFill>
              <a:effectLst/>
              <a:uFillTx/>
              <a:latin typeface="Arial"/>
            </a:endParaRPr>
          </a:p>
        </p:txBody>
      </p:sp>
      <p:sp>
        <p:nvSpPr>
          <p:cNvPr id="290" name="PlaceHolder 3"/>
          <p:cNvSpPr>
            <a:spLocks noGrp="1"/>
          </p:cNvSpPr>
          <p:nvPr>
            <p:ph type="sldNum" idx="8"/>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85029A40-F85D-4689-90F3-51187B1CA72B}" type="slidenum">
              <a:rPr lang="en-US" sz="1400" b="0" u="none" strike="noStrike">
                <a:solidFill>
                  <a:srgbClr val="000000"/>
                </a:solidFill>
                <a:effectLst/>
                <a:uFillTx/>
                <a:latin typeface="Times New Roman"/>
              </a:rPr>
              <a:t>&lt;number&gt;</a:t>
            </a:fld>
            <a:endParaRPr lang="en-IN" sz="14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1" name="PlaceHolder 1"/>
          <p:cNvSpPr>
            <a:spLocks noGrp="1"/>
          </p:cNvSpPr>
          <p:nvPr>
            <p:ph type="sldImg"/>
          </p:nvPr>
        </p:nvSpPr>
        <p:spPr>
          <a:xfrm>
            <a:off x="685800" y="1143000"/>
            <a:ext cx="5486040" cy="3085920"/>
          </a:xfrm>
          <a:prstGeom prst="rect">
            <a:avLst/>
          </a:prstGeom>
          <a:ln w="0">
            <a:noFill/>
          </a:ln>
        </p:spPr>
      </p:sp>
      <p:sp>
        <p:nvSpPr>
          <p:cNvPr id="29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marL="457200" indent="-228600" algn="l">
              <a:lnSpc>
                <a:spcPct val="100000"/>
              </a:lnSpc>
              <a:buNone/>
              <a:tabLst>
                <a:tab pos="0" algn="l"/>
              </a:tabLst>
            </a:pPr>
            <a:r>
              <a:rPr lang="en-IN" sz="1200" b="0" u="none" strike="noStrike">
                <a:solidFill>
                  <a:schemeClr val="dk1"/>
                </a:solidFill>
                <a:effectLst/>
                <a:uFillTx/>
                <a:latin typeface="Calibri"/>
                <a:ea typeface="Calibri"/>
              </a:rPr>
              <a:t>Speed matters here because the alternative is a test nobody performs at home. Cost is stated as an estimate and labelled as such on the slide: reagent prices are not yet confirmed, so the deck does not present the figure as measured. The recall-scoping point is the one to make if asked about impact, because it is the reason a trace layer sits behind the detection layer.</a:t>
            </a:r>
            <a:endParaRPr lang="en-IN" sz="1200" b="0" u="none" strike="noStrike">
              <a:solidFill>
                <a:srgbClr val="000000"/>
              </a:solidFill>
              <a:effectLst/>
              <a:uFillTx/>
              <a:latin typeface="Arial"/>
            </a:endParaRPr>
          </a:p>
        </p:txBody>
      </p:sp>
      <p:sp>
        <p:nvSpPr>
          <p:cNvPr id="293" name="PlaceHolder 3"/>
          <p:cNvSpPr>
            <a:spLocks noGrp="1"/>
          </p:cNvSpPr>
          <p:nvPr>
            <p:ph type="sldNum" idx="9"/>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07A6EB85-56B6-4BDA-8874-212E3DE132B4}" type="slidenum">
              <a:rPr lang="en-US" sz="1400" b="0" u="none" strike="noStrike">
                <a:solidFill>
                  <a:srgbClr val="000000"/>
                </a:solidFill>
                <a:effectLst/>
                <a:uFillTx/>
                <a:latin typeface="Times New Roman"/>
              </a:rPr>
              <a:t>&lt;number&gt;</a:t>
            </a:fld>
            <a:endParaRPr lang="en-IN" sz="14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4" name="PlaceHolder 1"/>
          <p:cNvSpPr>
            <a:spLocks noGrp="1"/>
          </p:cNvSpPr>
          <p:nvPr>
            <p:ph type="sldImg"/>
          </p:nvPr>
        </p:nvSpPr>
        <p:spPr>
          <a:xfrm>
            <a:off x="685800" y="1143000"/>
            <a:ext cx="5486040" cy="3085920"/>
          </a:xfrm>
          <a:prstGeom prst="rect">
            <a:avLst/>
          </a:prstGeom>
          <a:ln w="0">
            <a:noFill/>
          </a:ln>
        </p:spPr>
      </p:sp>
      <p:sp>
        <p:nvSpPr>
          <p:cNvPr id="29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marL="457200" indent="-228600" algn="l">
              <a:lnSpc>
                <a:spcPct val="100000"/>
              </a:lnSpc>
              <a:buNone/>
              <a:tabLst>
                <a:tab pos="0" algn="l"/>
              </a:tabLst>
            </a:pPr>
            <a:r>
              <a:rPr lang="en-IN" sz="1200" b="0" u="none" strike="noStrike">
                <a:solidFill>
                  <a:schemeClr val="dk1"/>
                </a:solidFill>
                <a:effectLst/>
                <a:uFillTx/>
                <a:latin typeface="Calibri"/>
                <a:ea typeface="Calibri"/>
              </a:rPr>
              <a:t>Two review papers, two official sources, plus the toolchain and dataset. The WHO fact sheet was revised on 4 June 2026 and the older 600 million and 420,000 figures are superseded, so this deck uses the current 866 million and 1.52 million. If a judge asks where a number came from, the answer is a DOI, a Lok Sabha question number or a file path in the repository.</a:t>
            </a:r>
            <a:endParaRPr lang="en-IN" sz="1200" b="0" u="none" strike="noStrike">
              <a:solidFill>
                <a:srgbClr val="000000"/>
              </a:solidFill>
              <a:effectLst/>
              <a:uFillTx/>
              <a:latin typeface="Arial"/>
            </a:endParaRPr>
          </a:p>
        </p:txBody>
      </p:sp>
      <p:sp>
        <p:nvSpPr>
          <p:cNvPr id="296" name="PlaceHolder 3"/>
          <p:cNvSpPr>
            <a:spLocks noGrp="1"/>
          </p:cNvSpPr>
          <p:nvPr>
            <p:ph type="sldNum" idx="10"/>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7943FC00-04B5-4108-9FDD-50B84670E4EF}" type="slidenum">
              <a:rPr lang="en-US" sz="1400" b="0" u="none" strike="noStrike">
                <a:solidFill>
                  <a:srgbClr val="000000"/>
                </a:solidFill>
                <a:effectLst/>
                <a:uFillTx/>
                <a:latin typeface="Times New Roman"/>
              </a:rPr>
              <a:t>&lt;number&gt;</a:t>
            </a:fld>
            <a:endParaRPr lang="en-IN" sz="14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7" name="PlaceHolder 1"/>
          <p:cNvSpPr>
            <a:spLocks noGrp="1"/>
          </p:cNvSpPr>
          <p:nvPr>
            <p:ph type="sldImg"/>
          </p:nvPr>
        </p:nvSpPr>
        <p:spPr>
          <a:xfrm>
            <a:off x="685800" y="1143000"/>
            <a:ext cx="5486040" cy="3085920"/>
          </a:xfrm>
          <a:prstGeom prst="rect">
            <a:avLst/>
          </a:prstGeom>
          <a:ln w="0">
            <a:noFill/>
          </a:ln>
        </p:spPr>
      </p:sp>
      <p:sp>
        <p:nvSpPr>
          <p:cNvPr id="29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marL="457200" indent="-228600" algn="l">
              <a:lnSpc>
                <a:spcPct val="100000"/>
              </a:lnSpc>
              <a:buNone/>
              <a:tabLst>
                <a:tab pos="0" algn="l"/>
              </a:tabLst>
            </a:pPr>
            <a:r>
              <a:rPr lang="en-IN" sz="1200" b="0" u="none" strike="noStrike">
                <a:solidFill>
                  <a:schemeClr val="dk1"/>
                </a:solidFill>
                <a:effectLst/>
                <a:uFillTx/>
                <a:latin typeface="Calibri"/>
                <a:ea typeface="Calibri"/>
              </a:rPr>
              <a:t>Close on the honest limit rather than hiding it. The organisers asked for a solution that works, so the strongest thing to say is that the software is finished and tested, the chemistry arrives this week, and the model is retrained on real strips before the final. Do not claim the ML beats the rule table; both scored 1.000 on the held-out split.</a:t>
            </a:r>
            <a:endParaRPr lang="en-IN" sz="1200" b="0" u="none" strike="noStrike">
              <a:solidFill>
                <a:srgbClr val="000000"/>
              </a:solidFill>
              <a:effectLst/>
              <a:uFillTx/>
              <a:latin typeface="Arial"/>
            </a:endParaRPr>
          </a:p>
        </p:txBody>
      </p:sp>
      <p:sp>
        <p:nvSpPr>
          <p:cNvPr id="299" name="PlaceHolder 3"/>
          <p:cNvSpPr>
            <a:spLocks noGrp="1"/>
          </p:cNvSpPr>
          <p:nvPr>
            <p:ph type="sldNum" idx="11"/>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8D3DF568-A743-46FF-92F1-F5E80514A39C}" type="slidenum">
              <a:rPr lang="en-US" sz="1400" b="0" u="none" strike="noStrike">
                <a:solidFill>
                  <a:srgbClr val="000000"/>
                </a:solidFill>
                <a:effectLst/>
                <a:uFillTx/>
                <a:latin typeface="Times New Roman"/>
              </a:rPr>
              <a:t>&lt;number&gt;</a:t>
            </a:fld>
            <a:endParaRPr lang="en-IN" sz="14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0" name="PlaceHolder 1"/>
          <p:cNvSpPr>
            <a:spLocks noGrp="1"/>
          </p:cNvSpPr>
          <p:nvPr>
            <p:ph type="sldImg"/>
          </p:nvPr>
        </p:nvSpPr>
        <p:spPr>
          <a:xfrm>
            <a:off x="685800" y="1143000"/>
            <a:ext cx="5486040" cy="3085920"/>
          </a:xfrm>
          <a:prstGeom prst="rect">
            <a:avLst/>
          </a:prstGeom>
          <a:ln w="0">
            <a:noFill/>
          </a:ln>
        </p:spPr>
      </p:sp>
      <p:sp>
        <p:nvSpPr>
          <p:cNvPr id="30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marL="457200" indent="-228600" algn="l">
              <a:lnSpc>
                <a:spcPct val="100000"/>
              </a:lnSpc>
              <a:buNone/>
              <a:tabLst>
                <a:tab pos="0" algn="l"/>
              </a:tabLst>
            </a:pPr>
            <a:r>
              <a:rPr lang="en-IN" sz="1200" b="0" u="none" strike="noStrike">
                <a:solidFill>
                  <a:schemeClr val="dk1"/>
                </a:solidFill>
                <a:effectLst/>
                <a:uFillTx/>
                <a:latin typeface="Calibri"/>
                <a:ea typeface="Calibri"/>
              </a:rPr>
              <a:t>[Team Name] · [Contact email] go in the placeholder here. Every slide keeps the template footer and logos exactly as issued.</a:t>
            </a:r>
            <a:endParaRPr lang="en-IN" sz="1200" b="0" u="none" strike="noStrike">
              <a:solidFill>
                <a:srgbClr val="000000"/>
              </a:solidFill>
              <a:effectLst/>
              <a:uFillTx/>
              <a:latin typeface="Arial"/>
            </a:endParaRPr>
          </a:p>
        </p:txBody>
      </p:sp>
      <p:sp>
        <p:nvSpPr>
          <p:cNvPr id="302" name="PlaceHolder 3"/>
          <p:cNvSpPr>
            <a:spLocks noGrp="1"/>
          </p:cNvSpPr>
          <p:nvPr>
            <p:ph type="sldNum" idx="12"/>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2C71324E-2A88-472B-9B96-3C5E313DFE52}" type="slidenum">
              <a:rPr lang="en-US" sz="1400" b="0" u="none" strike="noStrike">
                <a:solidFill>
                  <a:srgbClr val="000000"/>
                </a:solidFill>
                <a:effectLst/>
                <a:uFillTx/>
                <a:latin typeface="Times New Roman"/>
              </a:rPr>
              <a:t>&lt;number&gt;</a:t>
            </a:fld>
            <a:endParaRPr lang="en-IN" sz="14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a:buNone/>
              <a:defRPr lang="en-IN" sz="1400" b="0" u="none" strike="noStrike">
                <a:solidFill>
                  <a:srgbClr val="000000"/>
                </a:solidFill>
                <a:effectLst/>
                <a:uFillTx/>
                <a:latin typeface="Arial"/>
              </a:defRPr>
            </a:lvl1pPr>
          </a:lstStyle>
          <a:p>
            <a:pPr indent="0" algn="l">
              <a:buNone/>
            </a:pPr>
            <a:r>
              <a:rPr lang="en-IN" sz="1400" b="0" u="none" strike="noStrike">
                <a:solidFill>
                  <a:srgbClr val="000000"/>
                </a:solidFill>
                <a:effectLst/>
                <a:uFillTx/>
                <a:latin typeface="Arial"/>
              </a:rPr>
              <a:t>Click to edit the title text format</a:t>
            </a:r>
            <a:endParaRPr lang="en-IN" sz="1400" b="0" u="none" strike="noStrike">
              <a:solidFill>
                <a:srgbClr val="000000"/>
              </a:solidFill>
              <a:effectLst/>
              <a:uFillTx/>
              <a:latin typeface="Arial"/>
            </a:endParaRPr>
          </a:p>
        </p:txBody>
      </p:sp>
      <p:sp>
        <p:nvSpPr>
          <p:cNvPr id="3"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IN" sz="14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IN" sz="14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IN" sz="14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IN" sz="14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IN" sz="20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IN" sz="20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IN" sz="20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n-IN" sz="1400" b="0" u="none" strike="noStrike">
                <a:solidFill>
                  <a:srgbClr val="000000"/>
                </a:solidFill>
                <a:effectLst/>
                <a:uFillTx/>
                <a:latin typeface="Arial"/>
              </a:rPr>
              <a:t>Click to edit the outline text format</a:t>
            </a:r>
            <a:endParaRPr lang="en-IN" sz="14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IN" sz="1400" b="0" u="none" strike="noStrike">
                <a:solidFill>
                  <a:srgbClr val="000000"/>
                </a:solidFill>
                <a:effectLst/>
                <a:uFillTx/>
                <a:latin typeface="Arial"/>
              </a:rPr>
              <a:t>Second Outline Level</a:t>
            </a:r>
            <a:endParaRPr lang="en-IN" sz="14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IN" sz="1400" b="0" u="none" strike="noStrike">
                <a:solidFill>
                  <a:srgbClr val="000000"/>
                </a:solidFill>
                <a:effectLst/>
                <a:uFillTx/>
                <a:latin typeface="Arial"/>
              </a:rPr>
              <a:t>Third Outline Level</a:t>
            </a:r>
            <a:endParaRPr lang="en-IN" sz="14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IN" sz="1400" b="0" u="none" strike="noStrike">
                <a:solidFill>
                  <a:srgbClr val="000000"/>
                </a:solidFill>
                <a:effectLst/>
                <a:uFillTx/>
                <a:latin typeface="Arial"/>
              </a:rPr>
              <a:t>Fourth Outline Level</a:t>
            </a:r>
            <a:endParaRPr lang="en-IN" sz="14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IN" sz="2000" b="0" u="none" strike="noStrike">
                <a:solidFill>
                  <a:srgbClr val="000000"/>
                </a:solidFill>
                <a:effectLst/>
                <a:uFillTx/>
                <a:latin typeface="Arial"/>
              </a:rPr>
              <a:t>Fifth Outline Level</a:t>
            </a:r>
            <a:endParaRPr lang="en-IN" sz="20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IN" sz="2000" b="0" u="none" strike="noStrike">
                <a:solidFill>
                  <a:srgbClr val="000000"/>
                </a:solidFill>
                <a:effectLst/>
                <a:uFillTx/>
                <a:latin typeface="Arial"/>
              </a:rPr>
              <a:t>Sixth Outline Level</a:t>
            </a:r>
            <a:endParaRPr lang="en-IN" sz="20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IN" sz="2000" b="0" u="none" strike="noStrike">
                <a:solidFill>
                  <a:srgbClr val="000000"/>
                </a:solidFill>
                <a:effectLst/>
                <a:uFillTx/>
                <a:latin typeface="Arial"/>
              </a:rPr>
              <a:t>Seventh Outline Level</a:t>
            </a:r>
            <a:endParaRPr lang="en-IN" sz="2000" b="0" u="none" strike="noStrike">
              <a:solidFill>
                <a:srgbClr val="000000"/>
              </a:solidFill>
              <a:effectLst/>
              <a:uFillTx/>
              <a:latin typeface="Arial"/>
            </a:endParaRPr>
          </a:p>
        </p:txBody>
      </p:sp>
    </p:spTree>
  </p:cSld>
  <p:clrMap bg1="lt1" tx1="dk1" bg2="dk2" tx2="lt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slideLayout" Target="../slideLayouts/slideLayout1.xml"/><Relationship Id="rId5"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slideLayout" Target="../slideLayouts/slideLayout1.xml"/><Relationship Id="rId7"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 name="Google Shape;16;p3"/>
          <p:cNvSpPr/>
          <p:nvPr/>
        </p:nvSpPr>
        <p:spPr>
          <a:xfrm>
            <a:off x="812880" y="1404720"/>
            <a:ext cx="7990920" cy="256320"/>
          </a:xfrm>
          <a:prstGeom prst="rect">
            <a:avLst/>
          </a:prstGeom>
          <a:noFill/>
          <a:ln w="0">
            <a:noFill/>
          </a:ln>
        </p:spPr>
        <p:style>
          <a:lnRef idx="0"/>
          <a:fillRef idx="0"/>
          <a:effectRef idx="0"/>
          <a:fontRef idx="minor"/>
        </p:style>
        <p:txBody>
          <a:bodyPr lIns="0" tIns="0" rIns="0" bIns="0" anchor="t">
            <a:noAutofit/>
          </a:bodyPr>
          <a:p>
            <a:pPr>
              <a:lnSpc>
                <a:spcPct val="140000"/>
              </a:lnSpc>
              <a:tabLst>
                <a:tab pos="0" algn="l"/>
              </a:tabLst>
            </a:pPr>
            <a:r>
              <a:rPr lang="en-US" sz="1300" b="0" u="none" strike="noStrike">
                <a:solidFill>
                  <a:schemeClr val="dk1"/>
                </a:solidFill>
                <a:effectLst/>
                <a:uFillTx/>
                <a:latin typeface="DM Sans"/>
                <a:ea typeface="DM Sans"/>
              </a:rPr>
              <a:t>Organised by Dept. of Computer Engineering, PCCOE, Pune · CESA · ACM PCCOE Student Chapter</a:t>
            </a:r>
            <a:endParaRPr lang="en-IN" sz="1300" b="0" u="none" strike="noStrike">
              <a:solidFill>
                <a:srgbClr val="000000"/>
              </a:solidFill>
              <a:effectLst/>
              <a:uFillTx/>
              <a:latin typeface="Arial"/>
            </a:endParaRPr>
          </a:p>
        </p:txBody>
      </p:sp>
      <p:sp>
        <p:nvSpPr>
          <p:cNvPr id="11" name="Google Shape;17;p3"/>
          <p:cNvSpPr/>
          <p:nvPr/>
        </p:nvSpPr>
        <p:spPr>
          <a:xfrm>
            <a:off x="8733600" y="1243440"/>
            <a:ext cx="2575080" cy="383040"/>
          </a:xfrm>
          <a:prstGeom prst="roundRect">
            <a:avLst>
              <a:gd name="adj" fmla="val 50000"/>
            </a:avLst>
          </a:prstGeom>
          <a:solidFill>
            <a:srgbClr val="F5C842"/>
          </a:solidFill>
          <a:ln w="0">
            <a:noFill/>
          </a:ln>
        </p:spPr>
        <p:style>
          <a:lnRef idx="0"/>
          <a:fillRef idx="0"/>
          <a:effectRef idx="0"/>
          <a:fontRef idx="minor"/>
        </p:style>
        <p:txBody>
          <a:bodyPr lIns="0" tIns="0" rIns="0" bIns="0" anchor="ctr">
            <a:noAutofit/>
          </a:bodyPr>
          <a:p>
            <a:pPr algn="ctr">
              <a:lnSpc>
                <a:spcPct val="140000"/>
              </a:lnSpc>
              <a:tabLst>
                <a:tab pos="0" algn="l"/>
              </a:tabLst>
            </a:pPr>
            <a:r>
              <a:rPr lang="en-US" sz="1300" b="1" u="none" strike="noStrike">
                <a:solidFill>
                  <a:srgbClr val="1F3A30"/>
                </a:solidFill>
                <a:effectLst/>
                <a:uFillTx/>
                <a:latin typeface="DM Sans"/>
                <a:ea typeface="DM Sans"/>
              </a:rPr>
              <a:t>ROUND 1 · IDEA SUBMISSION</a:t>
            </a:r>
            <a:endParaRPr lang="en-IN" sz="1300" b="0" u="none" strike="noStrike">
              <a:solidFill>
                <a:srgbClr val="000000"/>
              </a:solidFill>
              <a:effectLst/>
              <a:uFillTx/>
              <a:latin typeface="Arial"/>
            </a:endParaRPr>
          </a:p>
        </p:txBody>
      </p:sp>
      <p:sp>
        <p:nvSpPr>
          <p:cNvPr id="12" name="Google Shape;18;p3"/>
          <p:cNvSpPr/>
          <p:nvPr/>
        </p:nvSpPr>
        <p:spPr>
          <a:xfrm>
            <a:off x="812880" y="1729800"/>
            <a:ext cx="3420000" cy="1053720"/>
          </a:xfrm>
          <a:prstGeom prst="roundRect">
            <a:avLst>
              <a:gd name="adj" fmla="val 9639"/>
            </a:avLst>
          </a:prstGeom>
          <a:solidFill>
            <a:srgbClr val="2A4A3E"/>
          </a:solidFill>
          <a:ln w="0">
            <a:noFill/>
          </a:ln>
        </p:spPr>
        <p:style>
          <a:lnRef idx="0"/>
          <a:fillRef idx="0"/>
          <a:effectRef idx="0"/>
          <a:fontRef idx="minor"/>
        </p:style>
        <p:txBody>
          <a:bodyPr tIns="91440" bIns="91440" anchor="ctr">
            <a:noAutofit/>
          </a:bodyPr>
          <a:p>
            <a:pPr/>
            <a:endParaRPr lang="en-IN" sz="1400" b="0" u="none" strike="noStrike">
              <a:solidFill>
                <a:srgbClr val="FFFFFF"/>
              </a:solidFill>
              <a:effectLst/>
              <a:uFillTx/>
              <a:latin typeface="Arial"/>
            </a:endParaRPr>
          </a:p>
        </p:txBody>
      </p:sp>
      <p:sp>
        <p:nvSpPr>
          <p:cNvPr id="13" name="Google Shape;19;p3"/>
          <p:cNvSpPr/>
          <p:nvPr/>
        </p:nvSpPr>
        <p:spPr>
          <a:xfrm>
            <a:off x="1015920" y="1882080"/>
            <a:ext cx="3104280" cy="238320"/>
          </a:xfrm>
          <a:prstGeom prst="rect">
            <a:avLst/>
          </a:prstGeom>
          <a:noFill/>
          <a:ln w="0">
            <a:noFill/>
          </a:ln>
        </p:spPr>
        <p:style>
          <a:lnRef idx="0"/>
          <a:fillRef idx="0"/>
          <a:effectRef idx="0"/>
          <a:fontRef idx="minor"/>
        </p:style>
        <p:txBody>
          <a:bodyPr lIns="0" tIns="0" rIns="0" bIns="0" anchor="t">
            <a:noAutofit/>
          </a:bodyPr>
          <a:p>
            <a:pPr>
              <a:lnSpc>
                <a:spcPct val="140000"/>
              </a:lnSpc>
              <a:tabLst>
                <a:tab pos="0" algn="l"/>
              </a:tabLst>
            </a:pPr>
            <a:r>
              <a:rPr lang="en-US" sz="1200" b="1" u="none" strike="noStrike">
                <a:solidFill>
                  <a:srgbClr val="F5C842"/>
                </a:solidFill>
                <a:effectLst/>
                <a:uFillTx/>
                <a:latin typeface="DM Sans"/>
                <a:ea typeface="DM Sans"/>
              </a:rPr>
              <a:t>Final Round</a:t>
            </a:r>
            <a:endParaRPr lang="en-IN" sz="1200" b="0" u="none" strike="noStrike">
              <a:solidFill>
                <a:srgbClr val="000000"/>
              </a:solidFill>
              <a:effectLst/>
              <a:uFillTx/>
              <a:latin typeface="Arial"/>
            </a:endParaRPr>
          </a:p>
        </p:txBody>
      </p:sp>
      <p:sp>
        <p:nvSpPr>
          <p:cNvPr id="14" name="Google Shape;20;p3"/>
          <p:cNvSpPr/>
          <p:nvPr/>
        </p:nvSpPr>
        <p:spPr>
          <a:xfrm>
            <a:off x="1015920" y="2133720"/>
            <a:ext cx="3104280" cy="273960"/>
          </a:xfrm>
          <a:prstGeom prst="rect">
            <a:avLst/>
          </a:prstGeom>
          <a:noFill/>
          <a:ln w="0">
            <a:noFill/>
          </a:ln>
        </p:spPr>
        <p:style>
          <a:lnRef idx="0"/>
          <a:fillRef idx="0"/>
          <a:effectRef idx="0"/>
          <a:fontRef idx="minor"/>
        </p:style>
        <p:txBody>
          <a:bodyPr lIns="0" tIns="0" rIns="0" bIns="0" anchor="t">
            <a:noAutofit/>
          </a:bodyPr>
          <a:p>
            <a:pPr>
              <a:lnSpc>
                <a:spcPct val="140000"/>
              </a:lnSpc>
              <a:tabLst>
                <a:tab pos="0" algn="l"/>
              </a:tabLst>
            </a:pPr>
            <a:r>
              <a:rPr lang="en-US" sz="1400" b="1" u="none" strike="noStrike">
                <a:solidFill>
                  <a:srgbClr val="F4F1E8"/>
                </a:solidFill>
                <a:effectLst/>
                <a:uFillTx/>
                <a:latin typeface="DM Sans"/>
                <a:ea typeface="DM Sans"/>
              </a:rPr>
              <a:t>23 October 2026</a:t>
            </a:r>
            <a:endParaRPr lang="en-IN" sz="1400" b="0" u="none" strike="noStrike">
              <a:solidFill>
                <a:srgbClr val="000000"/>
              </a:solidFill>
              <a:effectLst/>
              <a:uFillTx/>
              <a:latin typeface="Arial"/>
            </a:endParaRPr>
          </a:p>
        </p:txBody>
      </p:sp>
      <p:sp>
        <p:nvSpPr>
          <p:cNvPr id="15" name="Google Shape;21;p3"/>
          <p:cNvSpPr/>
          <p:nvPr/>
        </p:nvSpPr>
        <p:spPr>
          <a:xfrm>
            <a:off x="4385880" y="1729800"/>
            <a:ext cx="3420360" cy="1053720"/>
          </a:xfrm>
          <a:prstGeom prst="roundRect">
            <a:avLst>
              <a:gd name="adj" fmla="val 9639"/>
            </a:avLst>
          </a:prstGeom>
          <a:solidFill>
            <a:srgbClr val="2A4A3E"/>
          </a:solidFill>
          <a:ln w="0">
            <a:noFill/>
          </a:ln>
        </p:spPr>
        <p:style>
          <a:lnRef idx="0"/>
          <a:fillRef idx="0"/>
          <a:effectRef idx="0"/>
          <a:fontRef idx="minor"/>
        </p:style>
        <p:txBody>
          <a:bodyPr tIns="91440" bIns="91440" anchor="ctr">
            <a:noAutofit/>
          </a:bodyPr>
          <a:p>
            <a:pPr/>
            <a:endParaRPr lang="en-IN" sz="1400" b="0" u="none" strike="noStrike">
              <a:solidFill>
                <a:srgbClr val="FFFFFF"/>
              </a:solidFill>
              <a:effectLst/>
              <a:uFillTx/>
              <a:latin typeface="Arial"/>
            </a:endParaRPr>
          </a:p>
        </p:txBody>
      </p:sp>
      <p:sp>
        <p:nvSpPr>
          <p:cNvPr id="16" name="Google Shape;22;p3"/>
          <p:cNvSpPr/>
          <p:nvPr/>
        </p:nvSpPr>
        <p:spPr>
          <a:xfrm>
            <a:off x="4588920" y="1882080"/>
            <a:ext cx="3104280" cy="238320"/>
          </a:xfrm>
          <a:prstGeom prst="rect">
            <a:avLst/>
          </a:prstGeom>
          <a:noFill/>
          <a:ln w="0">
            <a:noFill/>
          </a:ln>
        </p:spPr>
        <p:style>
          <a:lnRef idx="0"/>
          <a:fillRef idx="0"/>
          <a:effectRef idx="0"/>
          <a:fontRef idx="minor"/>
        </p:style>
        <p:txBody>
          <a:bodyPr lIns="0" tIns="0" rIns="0" bIns="0" anchor="t">
            <a:noAutofit/>
          </a:bodyPr>
          <a:p>
            <a:pPr>
              <a:lnSpc>
                <a:spcPct val="140000"/>
              </a:lnSpc>
              <a:tabLst>
                <a:tab pos="0" algn="l"/>
              </a:tabLst>
            </a:pPr>
            <a:r>
              <a:rPr lang="en-US" sz="1200" b="1" u="none" strike="noStrike">
                <a:solidFill>
                  <a:srgbClr val="F5C842"/>
                </a:solidFill>
                <a:effectLst/>
                <a:uFillTx/>
                <a:latin typeface="DM Sans"/>
                <a:ea typeface="DM Sans"/>
              </a:rPr>
              <a:t>Venue</a:t>
            </a:r>
            <a:endParaRPr lang="en-IN" sz="1200" b="0" u="none" strike="noStrike">
              <a:solidFill>
                <a:srgbClr val="000000"/>
              </a:solidFill>
              <a:effectLst/>
              <a:uFillTx/>
              <a:latin typeface="Arial"/>
            </a:endParaRPr>
          </a:p>
        </p:txBody>
      </p:sp>
      <p:sp>
        <p:nvSpPr>
          <p:cNvPr id="17" name="Google Shape;23;p3"/>
          <p:cNvSpPr/>
          <p:nvPr/>
        </p:nvSpPr>
        <p:spPr>
          <a:xfrm>
            <a:off x="4588920" y="2133720"/>
            <a:ext cx="3104280" cy="273960"/>
          </a:xfrm>
          <a:prstGeom prst="rect">
            <a:avLst/>
          </a:prstGeom>
          <a:noFill/>
          <a:ln w="0">
            <a:noFill/>
          </a:ln>
        </p:spPr>
        <p:style>
          <a:lnRef idx="0"/>
          <a:fillRef idx="0"/>
          <a:effectRef idx="0"/>
          <a:fontRef idx="minor"/>
        </p:style>
        <p:txBody>
          <a:bodyPr lIns="0" tIns="0" rIns="0" bIns="0" anchor="t">
            <a:noAutofit/>
          </a:bodyPr>
          <a:p>
            <a:pPr>
              <a:lnSpc>
                <a:spcPct val="140000"/>
              </a:lnSpc>
              <a:tabLst>
                <a:tab pos="0" algn="l"/>
              </a:tabLst>
            </a:pPr>
            <a:r>
              <a:rPr lang="en-US" sz="1400" b="1" u="none" strike="noStrike">
                <a:solidFill>
                  <a:srgbClr val="F4F1E8"/>
                </a:solidFill>
                <a:effectLst/>
                <a:uFillTx/>
                <a:latin typeface="DM Sans"/>
                <a:ea typeface="DM Sans"/>
              </a:rPr>
              <a:t>PCCOE, Pune</a:t>
            </a:r>
            <a:endParaRPr lang="en-IN" sz="1400" b="0" u="none" strike="noStrike">
              <a:solidFill>
                <a:srgbClr val="000000"/>
              </a:solidFill>
              <a:effectLst/>
              <a:uFillTx/>
              <a:latin typeface="Arial"/>
            </a:endParaRPr>
          </a:p>
        </p:txBody>
      </p:sp>
      <p:sp>
        <p:nvSpPr>
          <p:cNvPr id="18" name="Google Shape;24;p3"/>
          <p:cNvSpPr/>
          <p:nvPr/>
        </p:nvSpPr>
        <p:spPr>
          <a:xfrm>
            <a:off x="7958520" y="1729800"/>
            <a:ext cx="3420000" cy="1053720"/>
          </a:xfrm>
          <a:prstGeom prst="roundRect">
            <a:avLst>
              <a:gd name="adj" fmla="val 9639"/>
            </a:avLst>
          </a:prstGeom>
          <a:solidFill>
            <a:srgbClr val="2A4A3E"/>
          </a:solidFill>
          <a:ln w="0">
            <a:noFill/>
          </a:ln>
        </p:spPr>
        <p:style>
          <a:lnRef idx="0"/>
          <a:fillRef idx="0"/>
          <a:effectRef idx="0"/>
          <a:fontRef idx="minor"/>
        </p:style>
        <p:txBody>
          <a:bodyPr tIns="91440" bIns="91440" anchor="ctr">
            <a:noAutofit/>
          </a:bodyPr>
          <a:p>
            <a:pPr/>
            <a:endParaRPr lang="en-IN" sz="1400" b="0" u="none" strike="noStrike">
              <a:solidFill>
                <a:srgbClr val="FFFFFF"/>
              </a:solidFill>
              <a:effectLst/>
              <a:uFillTx/>
              <a:latin typeface="Arial"/>
            </a:endParaRPr>
          </a:p>
        </p:txBody>
      </p:sp>
      <p:sp>
        <p:nvSpPr>
          <p:cNvPr id="19" name="Google Shape;25;p3"/>
          <p:cNvSpPr/>
          <p:nvPr/>
        </p:nvSpPr>
        <p:spPr>
          <a:xfrm>
            <a:off x="8161920" y="1882080"/>
            <a:ext cx="3104280" cy="238320"/>
          </a:xfrm>
          <a:prstGeom prst="rect">
            <a:avLst/>
          </a:prstGeom>
          <a:noFill/>
          <a:ln w="0">
            <a:noFill/>
          </a:ln>
        </p:spPr>
        <p:style>
          <a:lnRef idx="0"/>
          <a:fillRef idx="0"/>
          <a:effectRef idx="0"/>
          <a:fontRef idx="minor"/>
        </p:style>
        <p:txBody>
          <a:bodyPr lIns="0" tIns="0" rIns="0" bIns="0" anchor="t">
            <a:noAutofit/>
          </a:bodyPr>
          <a:p>
            <a:pPr>
              <a:lnSpc>
                <a:spcPct val="140000"/>
              </a:lnSpc>
              <a:tabLst>
                <a:tab pos="0" algn="l"/>
              </a:tabLst>
            </a:pPr>
            <a:r>
              <a:rPr lang="en-US" sz="1200" b="1" u="none" strike="noStrike">
                <a:solidFill>
                  <a:srgbClr val="F5C842"/>
                </a:solidFill>
                <a:effectLst/>
                <a:uFillTx/>
                <a:latin typeface="DM Sans"/>
                <a:ea typeface="DM Sans"/>
              </a:rPr>
              <a:t>Host Institute</a:t>
            </a:r>
            <a:endParaRPr lang="en-IN" sz="1200" b="0" u="none" strike="noStrike">
              <a:solidFill>
                <a:srgbClr val="000000"/>
              </a:solidFill>
              <a:effectLst/>
              <a:uFillTx/>
              <a:latin typeface="Arial"/>
            </a:endParaRPr>
          </a:p>
        </p:txBody>
      </p:sp>
      <p:sp>
        <p:nvSpPr>
          <p:cNvPr id="20" name="Google Shape;26;p3"/>
          <p:cNvSpPr/>
          <p:nvPr/>
        </p:nvSpPr>
        <p:spPr>
          <a:xfrm>
            <a:off x="8161920" y="2133720"/>
            <a:ext cx="3104280" cy="522720"/>
          </a:xfrm>
          <a:prstGeom prst="rect">
            <a:avLst/>
          </a:prstGeom>
          <a:noFill/>
          <a:ln w="0">
            <a:noFill/>
          </a:ln>
        </p:spPr>
        <p:style>
          <a:lnRef idx="0"/>
          <a:fillRef idx="0"/>
          <a:effectRef idx="0"/>
          <a:fontRef idx="minor"/>
        </p:style>
        <p:txBody>
          <a:bodyPr lIns="0" tIns="0" rIns="0" bIns="0" anchor="t">
            <a:noAutofit/>
          </a:bodyPr>
          <a:p>
            <a:pPr>
              <a:lnSpc>
                <a:spcPct val="140000"/>
              </a:lnSpc>
              <a:tabLst>
                <a:tab pos="0" algn="l"/>
              </a:tabLst>
            </a:pPr>
            <a:r>
              <a:rPr lang="en-US" sz="1400" b="1" u="none" strike="noStrike">
                <a:solidFill>
                  <a:srgbClr val="F4F1E8"/>
                </a:solidFill>
                <a:effectLst/>
                <a:uFillTx/>
                <a:latin typeface="DM Sans"/>
                <a:ea typeface="DM Sans"/>
              </a:rPr>
              <a:t>Pimpri Chinchwad College of Engineering, Pune</a:t>
            </a:r>
            <a:endParaRPr lang="en-IN" sz="1400" b="0" u="none" strike="noStrike">
              <a:solidFill>
                <a:srgbClr val="000000"/>
              </a:solidFill>
              <a:effectLst/>
              <a:uFillTx/>
              <a:latin typeface="Arial"/>
            </a:endParaRPr>
          </a:p>
        </p:txBody>
      </p:sp>
      <p:sp>
        <p:nvSpPr>
          <p:cNvPr id="21" name="Google Shape;27;p3"/>
          <p:cNvSpPr/>
          <p:nvPr/>
        </p:nvSpPr>
        <p:spPr>
          <a:xfrm>
            <a:off x="812880" y="3163680"/>
            <a:ext cx="10883160" cy="310680"/>
          </a:xfrm>
          <a:prstGeom prst="rect">
            <a:avLst/>
          </a:prstGeom>
          <a:noFill/>
          <a:ln w="0">
            <a:noFill/>
          </a:ln>
        </p:spPr>
        <p:style>
          <a:lnRef idx="0"/>
          <a:fillRef idx="0"/>
          <a:effectRef idx="0"/>
          <a:fontRef idx="minor"/>
        </p:style>
        <p:txBody>
          <a:bodyPr lIns="0" tIns="0" rIns="0" bIns="0" anchor="t">
            <a:noAutofit/>
          </a:bodyPr>
          <a:p>
            <a:pPr>
              <a:lnSpc>
                <a:spcPct val="140000"/>
              </a:lnSpc>
              <a:tabLst>
                <a:tab pos="0" algn="l"/>
              </a:tabLst>
            </a:pPr>
            <a:r>
              <a:rPr lang="en-US" sz="2000" b="1" u="none" strike="noStrike">
                <a:solidFill>
                  <a:srgbClr val="2A4A3E"/>
                </a:solidFill>
                <a:effectLst/>
                <a:uFillTx/>
                <a:latin typeface="Rubik"/>
                <a:ea typeface="Rubik"/>
              </a:rPr>
              <a:t>SaafScan: 10-second adulterant screening on any phone camera</a:t>
            </a:r>
            <a:endParaRPr lang="en-IN" sz="2000" b="0" u="none" strike="noStrike">
              <a:solidFill>
                <a:srgbClr val="000000"/>
              </a:solidFill>
              <a:effectLst/>
              <a:uFillTx/>
              <a:latin typeface="Arial"/>
            </a:endParaRPr>
          </a:p>
        </p:txBody>
      </p:sp>
      <p:sp>
        <p:nvSpPr>
          <p:cNvPr id="22" name="Google Shape;28;p3"/>
          <p:cNvSpPr/>
          <p:nvPr/>
        </p:nvSpPr>
        <p:spPr>
          <a:xfrm>
            <a:off x="1015920" y="3809880"/>
            <a:ext cx="4101840" cy="256320"/>
          </a:xfrm>
          <a:prstGeom prst="rect">
            <a:avLst/>
          </a:prstGeom>
          <a:noFill/>
          <a:ln w="0">
            <a:noFill/>
          </a:ln>
        </p:spPr>
        <p:style>
          <a:lnRef idx="0"/>
          <a:fillRef idx="0"/>
          <a:effectRef idx="0"/>
          <a:fontRef idx="minor"/>
        </p:style>
        <p:txBody>
          <a:bodyPr lIns="0" tIns="0" rIns="0" bIns="0" anchor="t">
            <a:noAutofit/>
          </a:bodyPr>
          <a:p>
            <a:pPr>
              <a:lnSpc>
                <a:spcPct val="140000"/>
              </a:lnSpc>
              <a:tabLst>
                <a:tab pos="0" algn="l"/>
              </a:tabLst>
            </a:pPr>
            <a:r>
              <a:rPr lang="en-US" sz="1300" b="1" u="none" strike="noStrike">
                <a:solidFill>
                  <a:srgbClr val="D9581C"/>
                </a:solidFill>
                <a:effectLst/>
                <a:uFillTx/>
                <a:latin typeface="DM Sans"/>
                <a:ea typeface="DM Sans"/>
              </a:rPr>
              <a:t>Team Members</a:t>
            </a:r>
            <a:endParaRPr lang="en-IN" sz="1300" b="0" u="none" strike="noStrike">
              <a:solidFill>
                <a:srgbClr val="000000"/>
              </a:solidFill>
              <a:effectLst/>
              <a:uFillTx/>
              <a:latin typeface="Arial"/>
            </a:endParaRPr>
          </a:p>
        </p:txBody>
      </p:sp>
      <p:sp>
        <p:nvSpPr>
          <p:cNvPr id="23" name="Google Shape;29;p3"/>
          <p:cNvSpPr/>
          <p:nvPr/>
        </p:nvSpPr>
        <p:spPr>
          <a:xfrm>
            <a:off x="1082520" y="4117320"/>
            <a:ext cx="4028040" cy="878400"/>
          </a:xfrm>
          <a:prstGeom prst="rect">
            <a:avLst/>
          </a:prstGeom>
          <a:noFill/>
          <a:ln w="0">
            <a:noFill/>
          </a:ln>
        </p:spPr>
        <p:style>
          <a:lnRef idx="0"/>
          <a:fillRef idx="0"/>
          <a:effectRef idx="0"/>
          <a:fontRef idx="minor"/>
        </p:style>
        <p:txBody>
          <a:bodyPr lIns="0" tIns="0" rIns="0" bIns="0" anchor="t">
            <a:noAutofit/>
          </a:bodyPr>
          <a:p>
            <a:pPr marL="187560" indent="-187560">
              <a:lnSpc>
                <a:spcPct val="160000"/>
              </a:lnSpc>
              <a:buClr>
                <a:srgbClr val="1F3A30"/>
              </a:buClr>
              <a:buFont typeface="DM Sans"/>
              <a:buAutoNum type="arabicPeriod"/>
            </a:pPr>
            <a:r>
              <a:rPr lang="en-US" sz="1400" b="0" u="none" strike="noStrike">
                <a:solidFill>
                  <a:srgbClr val="1F3A30"/>
                </a:solidFill>
                <a:effectLst/>
                <a:uFillTx/>
                <a:latin typeface="DM Sans"/>
                <a:ea typeface="DM Sans"/>
              </a:rPr>
              <a:t>Siddhesh Kadlag (Team Lead)</a:t>
            </a:r>
            <a:endParaRPr lang="en-IN" sz="1400" b="0" u="none" strike="noStrike">
              <a:solidFill>
                <a:srgbClr val="000000"/>
              </a:solidFill>
              <a:effectLst/>
              <a:uFillTx/>
              <a:latin typeface="Arial"/>
            </a:endParaRPr>
          </a:p>
          <a:p>
            <a:pPr marL="187560" indent="-187560">
              <a:lnSpc>
                <a:spcPct val="160000"/>
              </a:lnSpc>
              <a:buClr>
                <a:srgbClr val="1F3A30"/>
              </a:buClr>
              <a:buFont typeface="DM Sans"/>
              <a:buAutoNum type="arabicPeriod"/>
            </a:pPr>
            <a:r>
              <a:rPr lang="en-US" sz="1400" b="0" u="none" strike="noStrike">
                <a:solidFill>
                  <a:srgbClr val="1F3A30"/>
                </a:solidFill>
                <a:effectLst/>
                <a:uFillTx/>
                <a:latin typeface="DM Sans"/>
                <a:ea typeface="DM Sans"/>
              </a:rPr>
              <a:t>Harshal Pawar</a:t>
            </a:r>
            <a:endParaRPr lang="en-IN" sz="1400" b="0" u="none" strike="noStrike">
              <a:solidFill>
                <a:srgbClr val="000000"/>
              </a:solidFill>
              <a:effectLst/>
              <a:uFillTx/>
              <a:latin typeface="Arial"/>
            </a:endParaRPr>
          </a:p>
          <a:p>
            <a:pPr marL="187560" indent="-187560">
              <a:lnSpc>
                <a:spcPct val="160000"/>
              </a:lnSpc>
              <a:buClr>
                <a:srgbClr val="1F3A30"/>
              </a:buClr>
              <a:buFont typeface="DM Sans"/>
              <a:buAutoNum type="arabicPeriod"/>
            </a:pPr>
            <a:r>
              <a:rPr lang="en-US" sz="1400" b="0" u="none" strike="noStrike">
                <a:solidFill>
                  <a:srgbClr val="1F3A30"/>
                </a:solidFill>
                <a:effectLst/>
                <a:uFillTx/>
                <a:latin typeface="DM Sans"/>
                <a:ea typeface="DM Sans"/>
              </a:rPr>
              <a:t>Prachi Kale</a:t>
            </a:r>
            <a:endParaRPr lang="en-IN" sz="1400" b="0" u="none" strike="noStrike">
              <a:solidFill>
                <a:srgbClr val="000000"/>
              </a:solidFill>
              <a:effectLst/>
              <a:uFillTx/>
              <a:latin typeface="Arial"/>
            </a:endParaRPr>
          </a:p>
        </p:txBody>
      </p:sp>
      <p:graphicFrame>
        <p:nvGraphicFramePr>
          <p:cNvPr id="24" name="Google Shape;30;p3"/>
          <p:cNvGraphicFramePr/>
          <p:nvPr/>
        </p:nvGraphicFramePr>
        <p:xfrm>
          <a:off x="5411520" y="3784320"/>
          <a:ext cx="5960880" cy="2358720"/>
        </p:xfrm>
        <a:graphic>
          <a:graphicData uri="http://schemas.openxmlformats.org/drawingml/2006/table">
            <a:tbl>
              <a:tblPr/>
              <a:tblGrid>
                <a:gridCol w="2384280"/>
                <a:gridCol w="3576600"/>
              </a:tblGrid>
              <a:tr h="359280">
                <a:tc>
                  <a:txBody>
                    <a:bodyPr lIns="57600" tIns="57600" rIns="57600" bIns="57600" anchor="t">
                      <a:noAutofit/>
                    </a:bodyPr>
                    <a:p>
                      <a:pPr>
                        <a:lnSpc>
                          <a:spcPct val="140000"/>
                        </a:lnSpc>
                        <a:tabLst>
                          <a:tab pos="0" algn="l"/>
                        </a:tabLst>
                      </a:pPr>
                      <a:r>
                        <a:rPr lang="en-US" sz="1300" b="1" u="none" strike="noStrike">
                          <a:solidFill>
                            <a:srgbClr val="1F3A30"/>
                          </a:solidFill>
                          <a:effectLst/>
                          <a:uFillTx/>
                          <a:latin typeface="DM Sans"/>
                          <a:ea typeface="DM Sans"/>
                        </a:rPr>
                        <a:t>Team Details</a:t>
                      </a:r>
                      <a:endParaRPr lang="en-IN" sz="1300" b="0" u="none" strike="noStrike">
                        <a:solidFill>
                          <a:srgbClr val="000000"/>
                        </a:solidFill>
                        <a:effectLst/>
                        <a:uFillTx/>
                        <a:latin typeface="Arial"/>
                      </a:endParaRPr>
                    </a:p>
                  </a:txBody>
                  <a:tcPr anchor="t" marL="57600" marR="57600" marT="57600" marB="57600">
                    <a:lnL w="9360">
                      <a:solidFill>
                        <a:srgbClr val="000000">
                          <a:alpha val="0"/>
                        </a:srgbClr>
                      </a:solidFill>
                      <a:prstDash val="solid"/>
                    </a:lnL>
                    <a:lnR w="12240">
                      <a:solidFill>
                        <a:srgbClr val="F6D369"/>
                      </a:solidFill>
                      <a:prstDash val="solid"/>
                    </a:lnR>
                    <a:lnT w="9360">
                      <a:solidFill>
                        <a:srgbClr val="000000">
                          <a:alpha val="0"/>
                        </a:srgbClr>
                      </a:solidFill>
                      <a:prstDash val="solid"/>
                    </a:lnT>
                    <a:lnB w="12240">
                      <a:solidFill>
                        <a:srgbClr val="F6D369"/>
                      </a:solidFill>
                      <a:prstDash val="solid"/>
                    </a:lnB>
                    <a:solidFill>
                      <a:srgbClr val="F5C842"/>
                    </a:solidFill>
                  </a:tcPr>
                </a:tc>
                <a:tc>
                  <a:txBody>
                    <a:bodyPr lIns="57600" tIns="57600" rIns="57600" bIns="57600" anchor="t">
                      <a:noAutofit/>
                    </a:bodyPr>
                    <a:p>
                      <a:pPr/>
                      <a:endParaRPr lang="en-IN" sz="1800" b="0" u="none" strike="noStrike">
                        <a:solidFill>
                          <a:srgbClr val="000000"/>
                        </a:solidFill>
                        <a:effectLst/>
                        <a:uFillTx/>
                        <a:latin typeface="Arial"/>
                      </a:endParaRPr>
                    </a:p>
                  </a:txBody>
                  <a:tcPr anchor="t" marL="57600" marR="57600" marT="57600" marB="57600">
                    <a:lnL w="12240">
                      <a:solidFill>
                        <a:srgbClr val="F6D369"/>
                      </a:solidFill>
                      <a:prstDash val="solid"/>
                    </a:lnL>
                    <a:lnR w="12240">
                      <a:solidFill>
                        <a:srgbClr val="F6D369"/>
                      </a:solidFill>
                      <a:prstDash val="solid"/>
                    </a:lnR>
                    <a:lnT w="9360">
                      <a:solidFill>
                        <a:srgbClr val="000000">
                          <a:alpha val="0"/>
                        </a:srgbClr>
                      </a:solidFill>
                      <a:prstDash val="solid"/>
                    </a:lnT>
                    <a:lnB w="12240">
                      <a:solidFill>
                        <a:srgbClr val="F6D369"/>
                      </a:solidFill>
                      <a:prstDash val="solid"/>
                    </a:lnB>
                    <a:solidFill>
                      <a:srgbClr val="F5C842"/>
                    </a:solidFill>
                  </a:tcPr>
                </a:tc>
              </a:tr>
              <a:tr h="359280">
                <a:tc>
                  <a:txBody>
                    <a:bodyPr lIns="57600" tIns="57600" rIns="57600" bIns="57600" anchor="t">
                      <a:noAutofit/>
                    </a:bodyPr>
                    <a:p>
                      <a:pPr>
                        <a:lnSpc>
                          <a:spcPct val="140000"/>
                        </a:lnSpc>
                        <a:tabLst>
                          <a:tab pos="0" algn="l"/>
                        </a:tabLst>
                      </a:pPr>
                      <a:r>
                        <a:rPr lang="en-US" sz="1300" b="0" u="none" strike="noStrike">
                          <a:solidFill>
                            <a:srgbClr val="1F3A30"/>
                          </a:solidFill>
                          <a:effectLst/>
                          <a:uFillTx/>
                          <a:latin typeface="DM Sans"/>
                          <a:ea typeface="DM Sans"/>
                        </a:rPr>
                        <a:t>Team Name</a:t>
                      </a:r>
                      <a:endParaRPr lang="en-IN" sz="1300" b="0" u="none" strike="noStrike">
                        <a:solidFill>
                          <a:srgbClr val="000000"/>
                        </a:solidFill>
                        <a:effectLst/>
                        <a:uFillTx/>
                        <a:latin typeface="Arial"/>
                      </a:endParaRPr>
                    </a:p>
                  </a:txBody>
                  <a:tcPr anchor="t" marL="57600" marR="57600" marT="57600" marB="57600">
                    <a:lnL w="9360">
                      <a:solidFill>
                        <a:srgbClr val="000000">
                          <a:alpha val="0"/>
                        </a:srgbClr>
                      </a:solidFill>
                      <a:prstDash val="solid"/>
                    </a:lnL>
                    <a:lnR w="12240">
                      <a:solidFill>
                        <a:srgbClr val="F5F3EB"/>
                      </a:solidFill>
                      <a:prstDash val="solid"/>
                    </a:lnR>
                    <a:lnT w="12240">
                      <a:solidFill>
                        <a:srgbClr val="F6D369"/>
                      </a:solidFill>
                      <a:prstDash val="solid"/>
                    </a:lnT>
                    <a:lnB w="12240">
                      <a:solidFill>
                        <a:srgbClr val="F5F3EB"/>
                      </a:solidFill>
                      <a:prstDash val="solid"/>
                    </a:lnB>
                    <a:noFill/>
                  </a:tcPr>
                </a:tc>
                <a:tc>
                  <a:txBody>
                    <a:bodyPr lIns="57600" tIns="57600" rIns="57600" bIns="57600" anchor="t">
                      <a:noAutofit/>
                    </a:bodyPr>
                    <a:p>
                      <a:pPr>
                        <a:lnSpc>
                          <a:spcPct val="140000"/>
                        </a:lnSpc>
                        <a:tabLst>
                          <a:tab pos="0" algn="l"/>
                        </a:tabLst>
                      </a:pPr>
                      <a:r>
                        <a:rPr lang="en-US" sz="1300" b="0" u="none" strike="noStrike">
                          <a:solidFill>
                            <a:srgbClr val="1F3A30"/>
                          </a:solidFill>
                          <a:effectLst/>
                          <a:uFillTx/>
                          <a:latin typeface="DM Sans"/>
                          <a:ea typeface="DM Sans"/>
                        </a:rPr>
                        <a:t>IRIS</a:t>
                      </a:r>
                      <a:endParaRPr lang="en-IN" sz="1300" b="0" u="none" strike="noStrike">
                        <a:solidFill>
                          <a:srgbClr val="000000"/>
                        </a:solidFill>
                        <a:effectLst/>
                        <a:uFillTx/>
                        <a:latin typeface="Arial"/>
                      </a:endParaRPr>
                    </a:p>
                  </a:txBody>
                  <a:tcPr anchor="t" marL="57600" marR="57600" marT="57600" marB="57600">
                    <a:lnL w="12240">
                      <a:solidFill>
                        <a:srgbClr val="F5F3EB"/>
                      </a:solidFill>
                      <a:prstDash val="solid"/>
                    </a:lnL>
                    <a:lnR w="12240">
                      <a:solidFill>
                        <a:srgbClr val="F5F3EB"/>
                      </a:solidFill>
                      <a:prstDash val="solid"/>
                    </a:lnR>
                    <a:lnT w="12240">
                      <a:solidFill>
                        <a:srgbClr val="F6D369"/>
                      </a:solidFill>
                      <a:prstDash val="solid"/>
                    </a:lnT>
                    <a:lnB w="12240">
                      <a:solidFill>
                        <a:srgbClr val="F5F3EB"/>
                      </a:solidFill>
                      <a:prstDash val="solid"/>
                    </a:lnB>
                    <a:noFill/>
                  </a:tcPr>
                </a:tc>
              </a:tr>
              <a:tr h="359280">
                <a:tc>
                  <a:txBody>
                    <a:bodyPr lIns="57600" tIns="57600" rIns="57600" bIns="57600" anchor="t">
                      <a:noAutofit/>
                    </a:bodyPr>
                    <a:p>
                      <a:pPr>
                        <a:lnSpc>
                          <a:spcPct val="140000"/>
                        </a:lnSpc>
                        <a:tabLst>
                          <a:tab pos="0" algn="l"/>
                        </a:tabLst>
                      </a:pPr>
                      <a:r>
                        <a:rPr lang="en-US" sz="1300" b="0" u="none" strike="noStrike">
                          <a:solidFill>
                            <a:srgbClr val="1F3A30"/>
                          </a:solidFill>
                          <a:effectLst/>
                          <a:uFillTx/>
                          <a:latin typeface="DM Sans"/>
                          <a:ea typeface="DM Sans"/>
                        </a:rPr>
                        <a:t>Team Lead</a:t>
                      </a:r>
                      <a:endParaRPr lang="en-IN" sz="1300" b="0" u="none" strike="noStrike">
                        <a:solidFill>
                          <a:srgbClr val="000000"/>
                        </a:solidFill>
                        <a:effectLst/>
                        <a:uFillTx/>
                        <a:latin typeface="Arial"/>
                      </a:endParaRPr>
                    </a:p>
                  </a:txBody>
                  <a:tcPr anchor="t" marL="57600" marR="57600" marT="57600" marB="57600">
                    <a:lnL w="9360">
                      <a:solidFill>
                        <a:srgbClr val="000000">
                          <a:alpha val="0"/>
                        </a:srgbClr>
                      </a:solidFill>
                      <a:prstDash val="solid"/>
                    </a:lnL>
                    <a:lnR w="12240">
                      <a:solidFill>
                        <a:srgbClr val="F5F3EB"/>
                      </a:solidFill>
                      <a:prstDash val="solid"/>
                    </a:lnR>
                    <a:lnT w="12240">
                      <a:solidFill>
                        <a:srgbClr val="F5F3EB"/>
                      </a:solidFill>
                      <a:prstDash val="solid"/>
                    </a:lnT>
                    <a:lnB w="12240">
                      <a:solidFill>
                        <a:srgbClr val="F5F3EB"/>
                      </a:solidFill>
                      <a:prstDash val="solid"/>
                    </a:lnB>
                    <a:noFill/>
                  </a:tcPr>
                </a:tc>
                <a:tc>
                  <a:txBody>
                    <a:bodyPr lIns="57600" tIns="57600" rIns="57600" bIns="57600" anchor="t">
                      <a:noAutofit/>
                    </a:bodyPr>
                    <a:p>
                      <a:pPr>
                        <a:lnSpc>
                          <a:spcPct val="140000"/>
                        </a:lnSpc>
                        <a:tabLst>
                          <a:tab pos="0" algn="l"/>
                        </a:tabLst>
                      </a:pPr>
                      <a:r>
                        <a:rPr lang="en-US" sz="1300" b="0" u="none" strike="noStrike">
                          <a:solidFill>
                            <a:srgbClr val="1F3A30"/>
                          </a:solidFill>
                          <a:effectLst/>
                          <a:uFillTx/>
                          <a:latin typeface="DM Sans"/>
                          <a:ea typeface="DM Sans"/>
                        </a:rPr>
                        <a:t>Siddhesh Kadlag</a:t>
                      </a:r>
                      <a:endParaRPr lang="en-IN" sz="1300" b="0" u="none" strike="noStrike">
                        <a:solidFill>
                          <a:srgbClr val="000000"/>
                        </a:solidFill>
                        <a:effectLst/>
                        <a:uFillTx/>
                        <a:latin typeface="Arial"/>
                      </a:endParaRPr>
                    </a:p>
                  </a:txBody>
                  <a:tcPr anchor="t" marL="57600" marR="57600" marT="57600" marB="57600">
                    <a:lnL w="12240">
                      <a:solidFill>
                        <a:srgbClr val="F5F3EB"/>
                      </a:solidFill>
                      <a:prstDash val="solid"/>
                    </a:lnL>
                    <a:lnR w="12240">
                      <a:solidFill>
                        <a:srgbClr val="F5F3EB"/>
                      </a:solidFill>
                      <a:prstDash val="solid"/>
                    </a:lnR>
                    <a:lnT w="12240">
                      <a:solidFill>
                        <a:srgbClr val="F5F3EB"/>
                      </a:solidFill>
                      <a:prstDash val="solid"/>
                    </a:lnT>
                    <a:lnB w="12240">
                      <a:solidFill>
                        <a:srgbClr val="F5F3EB"/>
                      </a:solidFill>
                      <a:prstDash val="solid"/>
                    </a:lnB>
                    <a:noFill/>
                  </a:tcPr>
                </a:tc>
              </a:tr>
              <a:tr h="359280">
                <a:tc>
                  <a:txBody>
                    <a:bodyPr lIns="57600" tIns="57600" rIns="57600" bIns="57600" anchor="t">
                      <a:noAutofit/>
                    </a:bodyPr>
                    <a:p>
                      <a:pPr>
                        <a:lnSpc>
                          <a:spcPct val="140000"/>
                        </a:lnSpc>
                        <a:tabLst>
                          <a:tab pos="0" algn="l"/>
                        </a:tabLst>
                      </a:pPr>
                      <a:r>
                        <a:rPr lang="en-US" sz="1300" b="0" u="none" strike="noStrike">
                          <a:solidFill>
                            <a:srgbClr val="1F3A30"/>
                          </a:solidFill>
                          <a:effectLst/>
                          <a:uFillTx/>
                          <a:latin typeface="DM Sans"/>
                          <a:ea typeface="DM Sans"/>
                        </a:rPr>
                        <a:t>College Name</a:t>
                      </a:r>
                      <a:endParaRPr lang="en-IN" sz="1300" b="0" u="none" strike="noStrike">
                        <a:solidFill>
                          <a:srgbClr val="000000"/>
                        </a:solidFill>
                        <a:effectLst/>
                        <a:uFillTx/>
                        <a:latin typeface="Arial"/>
                      </a:endParaRPr>
                    </a:p>
                  </a:txBody>
                  <a:tcPr anchor="t" marL="57600" marR="57600" marT="57600" marB="57600">
                    <a:lnL w="9360">
                      <a:solidFill>
                        <a:srgbClr val="000000">
                          <a:alpha val="0"/>
                        </a:srgbClr>
                      </a:solidFill>
                      <a:prstDash val="solid"/>
                    </a:lnL>
                    <a:lnR w="12240">
                      <a:solidFill>
                        <a:srgbClr val="F5F3EB"/>
                      </a:solidFill>
                      <a:prstDash val="solid"/>
                    </a:lnR>
                    <a:lnT w="12240">
                      <a:solidFill>
                        <a:srgbClr val="F5F3EB"/>
                      </a:solidFill>
                      <a:prstDash val="solid"/>
                    </a:lnT>
                    <a:lnB w="12240">
                      <a:solidFill>
                        <a:srgbClr val="F5F3EB"/>
                      </a:solidFill>
                      <a:prstDash val="solid"/>
                    </a:lnB>
                    <a:noFill/>
                  </a:tcPr>
                </a:tc>
                <a:tc>
                  <a:txBody>
                    <a:bodyPr lIns="57600" tIns="57600" rIns="57600" bIns="57600" anchor="t">
                      <a:noAutofit/>
                    </a:bodyPr>
                    <a:p>
                      <a:pPr>
                        <a:lnSpc>
                          <a:spcPct val="140000"/>
                        </a:lnSpc>
                        <a:tabLst>
                          <a:tab pos="0" algn="l"/>
                        </a:tabLst>
                      </a:pPr>
                      <a:r>
                        <a:rPr lang="en-US" sz="1300" b="0" u="none" strike="noStrike">
                          <a:solidFill>
                            <a:srgbClr val="1F3A30"/>
                          </a:solidFill>
                          <a:effectLst/>
                          <a:uFillTx/>
                          <a:latin typeface="DM Sans"/>
                          <a:ea typeface="DM Sans"/>
                        </a:rPr>
                        <a:t>Sapkal College of Engineering, Nashik</a:t>
                      </a:r>
                      <a:endParaRPr lang="en-IN" sz="1300" b="0" u="none" strike="noStrike">
                        <a:solidFill>
                          <a:srgbClr val="000000"/>
                        </a:solidFill>
                        <a:effectLst/>
                        <a:uFillTx/>
                        <a:latin typeface="Arial"/>
                      </a:endParaRPr>
                    </a:p>
                  </a:txBody>
                  <a:tcPr anchor="t" marL="57600" marR="57600" marT="57600" marB="57600">
                    <a:lnL w="12240">
                      <a:solidFill>
                        <a:srgbClr val="F5F3EB"/>
                      </a:solidFill>
                      <a:prstDash val="solid"/>
                    </a:lnL>
                    <a:lnR w="12240">
                      <a:solidFill>
                        <a:srgbClr val="F5F3EB"/>
                      </a:solidFill>
                      <a:prstDash val="solid"/>
                    </a:lnR>
                    <a:lnT w="12240">
                      <a:solidFill>
                        <a:srgbClr val="F5F3EB"/>
                      </a:solidFill>
                      <a:prstDash val="solid"/>
                    </a:lnT>
                    <a:lnB w="12240">
                      <a:solidFill>
                        <a:srgbClr val="F5F3EB"/>
                      </a:solidFill>
                      <a:prstDash val="solid"/>
                    </a:lnB>
                    <a:noFill/>
                  </a:tcPr>
                </a:tc>
              </a:tr>
              <a:tr h="359280">
                <a:tc>
                  <a:txBody>
                    <a:bodyPr lIns="57600" tIns="57600" rIns="57600" bIns="57600" anchor="t">
                      <a:noAutofit/>
                    </a:bodyPr>
                    <a:p>
                      <a:pPr>
                        <a:lnSpc>
                          <a:spcPct val="140000"/>
                        </a:lnSpc>
                        <a:tabLst>
                          <a:tab pos="0" algn="l"/>
                        </a:tabLst>
                      </a:pPr>
                      <a:r>
                        <a:rPr lang="en-US" sz="1300" b="0" u="none" strike="noStrike">
                          <a:solidFill>
                            <a:srgbClr val="1F3A30"/>
                          </a:solidFill>
                          <a:effectLst/>
                          <a:uFillTx/>
                          <a:latin typeface="DM Sans"/>
                          <a:ea typeface="DM Sans"/>
                        </a:rPr>
                        <a:t>Theme</a:t>
                      </a:r>
                      <a:endParaRPr lang="en-IN" sz="1300" b="0" u="none" strike="noStrike">
                        <a:solidFill>
                          <a:srgbClr val="000000"/>
                        </a:solidFill>
                        <a:effectLst/>
                        <a:uFillTx/>
                        <a:latin typeface="Arial"/>
                      </a:endParaRPr>
                    </a:p>
                  </a:txBody>
                  <a:tcPr anchor="t" marL="57600" marR="57600" marT="57600" marB="57600">
                    <a:lnL w="9360">
                      <a:solidFill>
                        <a:srgbClr val="000000">
                          <a:alpha val="0"/>
                        </a:srgbClr>
                      </a:solidFill>
                      <a:prstDash val="solid"/>
                    </a:lnL>
                    <a:lnR w="12240">
                      <a:solidFill>
                        <a:srgbClr val="F5F3EB"/>
                      </a:solidFill>
                      <a:prstDash val="solid"/>
                    </a:lnR>
                    <a:lnT w="12240">
                      <a:solidFill>
                        <a:srgbClr val="F5F3EB"/>
                      </a:solidFill>
                      <a:prstDash val="solid"/>
                    </a:lnT>
                    <a:lnB w="12240">
                      <a:solidFill>
                        <a:srgbClr val="F5F3EB"/>
                      </a:solidFill>
                      <a:prstDash val="solid"/>
                    </a:lnB>
                    <a:noFill/>
                  </a:tcPr>
                </a:tc>
                <a:tc>
                  <a:txBody>
                    <a:bodyPr lIns="57600" tIns="57600" rIns="57600" bIns="57600" anchor="t">
                      <a:noAutofit/>
                    </a:bodyPr>
                    <a:p>
                      <a:pPr>
                        <a:lnSpc>
                          <a:spcPct val="140000"/>
                        </a:lnSpc>
                        <a:tabLst>
                          <a:tab pos="0" algn="l"/>
                        </a:tabLst>
                      </a:pPr>
                      <a:r>
                        <a:rPr lang="en-US" sz="1000" b="0" u="none" strike="noStrike">
                          <a:solidFill>
                            <a:srgbClr val="1F3A30"/>
                          </a:solidFill>
                          <a:effectLst/>
                          <a:uFillTx/>
                          <a:latin typeface="DM Sans"/>
                          <a:ea typeface="DM Sans"/>
                        </a:rPr>
                        <a:t>DETECT · Food Safety Intelligence</a:t>
                      </a:r>
                      <a:endParaRPr lang="en-IN" sz="1000" b="0" u="none" strike="noStrike">
                        <a:solidFill>
                          <a:srgbClr val="000000"/>
                        </a:solidFill>
                        <a:effectLst/>
                        <a:uFillTx/>
                        <a:latin typeface="Arial"/>
                      </a:endParaRPr>
                    </a:p>
                  </a:txBody>
                  <a:tcPr anchor="t" marL="57600" marR="57600" marT="57600" marB="57600">
                    <a:lnL w="12240">
                      <a:solidFill>
                        <a:srgbClr val="F5F3EB"/>
                      </a:solidFill>
                      <a:prstDash val="solid"/>
                    </a:lnL>
                    <a:lnR w="12240">
                      <a:solidFill>
                        <a:srgbClr val="F5F3EB"/>
                      </a:solidFill>
                      <a:prstDash val="solid"/>
                    </a:lnR>
                    <a:lnT w="12240">
                      <a:solidFill>
                        <a:srgbClr val="F5F3EB"/>
                      </a:solidFill>
                      <a:prstDash val="solid"/>
                    </a:lnT>
                    <a:lnB w="12240">
                      <a:solidFill>
                        <a:srgbClr val="F5F3EB"/>
                      </a:solidFill>
                      <a:prstDash val="solid"/>
                    </a:lnB>
                    <a:noFill/>
                  </a:tcPr>
                </a:tc>
              </a:tr>
              <a:tr h="359280">
                <a:tc>
                  <a:txBody>
                    <a:bodyPr lIns="57600" tIns="57600" rIns="57600" bIns="57600" anchor="t">
                      <a:noAutofit/>
                    </a:bodyPr>
                    <a:p>
                      <a:pPr>
                        <a:lnSpc>
                          <a:spcPct val="140000"/>
                        </a:lnSpc>
                        <a:tabLst>
                          <a:tab pos="0" algn="l"/>
                        </a:tabLst>
                      </a:pPr>
                      <a:r>
                        <a:rPr lang="en-US" sz="1300" b="0" u="none" strike="noStrike">
                          <a:solidFill>
                            <a:srgbClr val="1F3A30"/>
                          </a:solidFill>
                          <a:effectLst/>
                          <a:uFillTx/>
                          <a:latin typeface="DM Sans"/>
                          <a:ea typeface="DM Sans"/>
                        </a:rPr>
                        <a:t>Solution Type</a:t>
                      </a:r>
                      <a:endParaRPr lang="en-IN" sz="1300" b="0" u="none" strike="noStrike">
                        <a:solidFill>
                          <a:srgbClr val="000000"/>
                        </a:solidFill>
                        <a:effectLst/>
                        <a:uFillTx/>
                        <a:latin typeface="Arial"/>
                      </a:endParaRPr>
                    </a:p>
                  </a:txBody>
                  <a:tcPr anchor="t" marL="57600" marR="57600" marT="57600" marB="57600">
                    <a:lnL w="9360">
                      <a:solidFill>
                        <a:srgbClr val="000000">
                          <a:alpha val="0"/>
                        </a:srgbClr>
                      </a:solidFill>
                      <a:prstDash val="solid"/>
                    </a:lnL>
                    <a:lnR w="12240">
                      <a:solidFill>
                        <a:srgbClr val="F5F3EB"/>
                      </a:solidFill>
                      <a:prstDash val="solid"/>
                    </a:lnR>
                    <a:lnT w="12240">
                      <a:solidFill>
                        <a:srgbClr val="F5F3EB"/>
                      </a:solidFill>
                      <a:prstDash val="solid"/>
                    </a:lnT>
                    <a:lnB w="12240">
                      <a:solidFill>
                        <a:srgbClr val="F5F3EB"/>
                      </a:solidFill>
                      <a:prstDash val="solid"/>
                    </a:lnB>
                    <a:noFill/>
                  </a:tcPr>
                </a:tc>
                <a:tc>
                  <a:txBody>
                    <a:bodyPr lIns="57600" tIns="57600" rIns="57600" bIns="57600" anchor="t">
                      <a:noAutofit/>
                    </a:bodyPr>
                    <a:p>
                      <a:pPr>
                        <a:lnSpc>
                          <a:spcPct val="140000"/>
                        </a:lnSpc>
                        <a:tabLst>
                          <a:tab pos="0" algn="l"/>
                        </a:tabLst>
                      </a:pPr>
                      <a:r>
                        <a:rPr lang="en-US" sz="1100" b="0" u="none" strike="noStrike">
                          <a:solidFill>
                            <a:srgbClr val="1F3A30"/>
                          </a:solidFill>
                          <a:effectLst/>
                          <a:uFillTx/>
                          <a:latin typeface="DM Sans"/>
                          <a:ea typeface="DM Sans"/>
                        </a:rPr>
                        <a:t>Both: Software (app) + test strip</a:t>
                      </a:r>
                      <a:endParaRPr lang="en-IN" sz="1100" b="0" u="none" strike="noStrike">
                        <a:solidFill>
                          <a:srgbClr val="000000"/>
                        </a:solidFill>
                        <a:effectLst/>
                        <a:uFillTx/>
                        <a:latin typeface="Arial"/>
                      </a:endParaRPr>
                    </a:p>
                  </a:txBody>
                  <a:tcPr anchor="t" marL="57600" marR="57600" marT="57600" marB="57600">
                    <a:lnL w="12240">
                      <a:solidFill>
                        <a:srgbClr val="F5F3EB"/>
                      </a:solidFill>
                      <a:prstDash val="solid"/>
                    </a:lnL>
                    <a:lnR w="12240">
                      <a:solidFill>
                        <a:srgbClr val="F5F3EB"/>
                      </a:solidFill>
                      <a:prstDash val="solid"/>
                    </a:lnR>
                    <a:lnT w="12240">
                      <a:solidFill>
                        <a:srgbClr val="F5F3EB"/>
                      </a:solidFill>
                      <a:prstDash val="solid"/>
                    </a:lnT>
                    <a:lnB w="12240">
                      <a:solidFill>
                        <a:srgbClr val="F5F3EB"/>
                      </a:solidFill>
                      <a:prstDash val="solid"/>
                    </a:lnB>
                    <a:noFill/>
                  </a:tcPr>
                </a:tc>
              </a:tr>
            </a:tbl>
          </a:graphicData>
        </a:graphic>
      </p:graphicFrame>
      <p:pic>
        <p:nvPicPr>
          <p:cNvPr id="25" name="Google Shape;31;p3"/>
          <p:cNvPicPr/>
          <p:nvPr/>
        </p:nvPicPr>
        <p:blipFill>
          <a:blip r:embed="rId1"/>
          <a:stretch/>
        </p:blipFill>
        <p:spPr>
          <a:xfrm>
            <a:off x="10998000" y="125640"/>
            <a:ext cx="1117080" cy="1117080"/>
          </a:xfrm>
          <a:prstGeom prst="rect">
            <a:avLst/>
          </a:prstGeom>
          <a:noFill/>
          <a:ln w="0">
            <a:noFill/>
          </a:ln>
        </p:spPr>
      </p:pic>
      <p:pic>
        <p:nvPicPr>
          <p:cNvPr id="26" name="Google Shape;32;p3"/>
          <p:cNvPicPr/>
          <p:nvPr/>
        </p:nvPicPr>
        <p:blipFill>
          <a:blip r:embed="rId2"/>
          <a:stretch/>
        </p:blipFill>
        <p:spPr>
          <a:xfrm>
            <a:off x="137880" y="125640"/>
            <a:ext cx="1210320" cy="1210320"/>
          </a:xfrm>
          <a:prstGeom prst="rect">
            <a:avLst/>
          </a:prstGeom>
          <a:noFill/>
          <a:ln w="0">
            <a:noFill/>
          </a:ln>
        </p:spPr>
      </p:pic>
      <p:pic>
        <p:nvPicPr>
          <p:cNvPr id="27" name="Google Shape;33;p3"/>
          <p:cNvPicPr/>
          <p:nvPr/>
        </p:nvPicPr>
        <p:blipFill>
          <a:blip r:embed="rId3"/>
          <a:stretch/>
        </p:blipFill>
        <p:spPr>
          <a:xfrm>
            <a:off x="3916080" y="6120"/>
            <a:ext cx="4359600" cy="1356840"/>
          </a:xfrm>
          <a:prstGeom prst="rect">
            <a:avLst/>
          </a:prstGeom>
          <a:noFill/>
          <a:ln w="0">
            <a:noFill/>
          </a:ln>
        </p:spPr>
      </p:pic>
      <p:sp>
        <p:nvSpPr>
          <p:cNvPr id="28" name="Google Shape;34;p3"/>
          <p:cNvSpPr/>
          <p:nvPr/>
        </p:nvSpPr>
        <p:spPr>
          <a:xfrm>
            <a:off x="5565600" y="826920"/>
            <a:ext cx="1060920" cy="416160"/>
          </a:xfrm>
          <a:prstGeom prst="rect">
            <a:avLst/>
          </a:prstGeom>
          <a:noFill/>
          <a:ln w="0">
            <a:noFill/>
          </a:ln>
        </p:spPr>
        <p:style>
          <a:lnRef idx="0"/>
          <a:fillRef idx="0"/>
          <a:effectRef idx="0"/>
          <a:fontRef idx="minor"/>
        </p:style>
        <p:txBody>
          <a:bodyPr lIns="0" tIns="0" rIns="0" bIns="0" anchor="t">
            <a:noAutofit/>
          </a:bodyPr>
          <a:p>
            <a:pPr>
              <a:lnSpc>
                <a:spcPct val="100000"/>
              </a:lnSpc>
              <a:tabLst>
                <a:tab pos="0" algn="l"/>
              </a:tabLst>
            </a:pPr>
            <a:r>
              <a:rPr lang="en-US" sz="3000" b="1" u="none" strike="noStrike">
                <a:solidFill>
                  <a:schemeClr val="dk1"/>
                </a:solidFill>
                <a:effectLst/>
                <a:uFillTx/>
                <a:latin typeface="Rubik"/>
                <a:ea typeface="Rubik"/>
              </a:rPr>
              <a:t>2026</a:t>
            </a:r>
            <a:endParaRPr lang="en-IN" sz="3000" b="0" u="none" strike="noStrike">
              <a:solidFill>
                <a:srgbClr val="000000"/>
              </a:solidFill>
              <a:effectLst/>
              <a:uFillTx/>
              <a:latin typeface="Arial"/>
            </a:endParaRPr>
          </a:p>
        </p:txBody>
      </p:sp>
      <p:sp>
        <p:nvSpPr>
          <p:cNvPr id="29" name="Google Shape;35;p3"/>
          <p:cNvSpPr/>
          <p:nvPr/>
        </p:nvSpPr>
        <p:spPr>
          <a:xfrm>
            <a:off x="4230360" y="2896200"/>
            <a:ext cx="3731040" cy="273960"/>
          </a:xfrm>
          <a:prstGeom prst="rect">
            <a:avLst/>
          </a:prstGeom>
          <a:noFill/>
          <a:ln w="0">
            <a:noFill/>
          </a:ln>
        </p:spPr>
        <p:style>
          <a:lnRef idx="0"/>
          <a:fillRef idx="0"/>
          <a:effectRef idx="0"/>
          <a:fontRef idx="minor"/>
        </p:style>
        <p:txBody>
          <a:bodyPr lIns="0" tIns="0" rIns="0" bIns="0" anchor="t">
            <a:noAutofit/>
          </a:bodyPr>
          <a:p>
            <a:pPr>
              <a:lnSpc>
                <a:spcPct val="140000"/>
              </a:lnSpc>
              <a:tabLst>
                <a:tab pos="0" algn="l"/>
              </a:tabLst>
            </a:pPr>
            <a:r>
              <a:rPr lang="en-US" sz="1600" b="1" u="none" strike="noStrike">
                <a:solidFill>
                  <a:schemeClr val="dk1"/>
                </a:solidFill>
                <a:effectLst/>
                <a:uFillTx/>
                <a:latin typeface="Rubik"/>
                <a:ea typeface="Rubik"/>
              </a:rPr>
              <a:t>Strictly Maintain no of slides under 9</a:t>
            </a:r>
            <a:endParaRPr lang="en-IN" sz="1600" b="0" u="none" strike="noStrike">
              <a:solidFill>
                <a:srgbClr val="000000"/>
              </a:solidFill>
              <a:effectLst/>
              <a:uFillTx/>
              <a:latin typeface="Arial"/>
            </a:endParaRPr>
          </a:p>
        </p:txBody>
      </p:sp>
      <p:sp>
        <p:nvSpPr>
          <p:cNvPr id="30" name="TextBox 35"/>
          <p:cNvSpPr/>
          <p:nvPr/>
        </p:nvSpPr>
        <p:spPr>
          <a:xfrm>
            <a:off x="813960" y="3566160"/>
            <a:ext cx="4480200" cy="219240"/>
          </a:xfrm>
          <a:prstGeom prst="rect">
            <a:avLst/>
          </a:prstGeom>
          <a:noFill/>
          <a:ln w="0">
            <a:noFill/>
          </a:ln>
        </p:spPr>
        <p:style>
          <a:lnRef idx="0"/>
          <a:fillRef idx="0"/>
          <a:effectRef idx="0"/>
          <a:fontRef idx="minor"/>
        </p:style>
        <p:txBody>
          <a:bodyPr lIns="0" tIns="0" rIns="0" bIns="0" anchor="t">
            <a:spAutoFit/>
          </a:bodyPr>
          <a:p>
            <a:pPr>
              <a:lnSpc>
                <a:spcPct val="100000"/>
              </a:lnSpc>
            </a:pPr>
            <a:r>
              <a:rPr lang="en-IN" sz="1050" b="0" u="none" strike="noStrike">
                <a:solidFill>
                  <a:srgbClr val="6B7A72"/>
                </a:solidFill>
                <a:effectLst/>
                <a:uFillTx/>
                <a:latin typeface="DM Sans"/>
                <a:ea typeface="Arial"/>
              </a:rPr>
              <a:t>Iodine and methylene-blue strips, read by any phone camera</a:t>
            </a:r>
            <a:endParaRPr lang="en-IN" sz="10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31" name="Google Shape;41;p4"/>
          <p:cNvSpPr/>
          <p:nvPr/>
        </p:nvSpPr>
        <p:spPr>
          <a:xfrm>
            <a:off x="812880" y="812880"/>
            <a:ext cx="10883160" cy="256320"/>
          </a:xfrm>
          <a:prstGeom prst="rect">
            <a:avLst/>
          </a:prstGeom>
          <a:noFill/>
          <a:ln w="0">
            <a:noFill/>
          </a:ln>
        </p:spPr>
        <p:style>
          <a:lnRef idx="0"/>
          <a:fillRef idx="0"/>
          <a:effectRef idx="0"/>
          <a:fontRef idx="minor"/>
        </p:style>
        <p:txBody>
          <a:bodyPr lIns="0" tIns="0" rIns="0" bIns="0" anchor="t">
            <a:noAutofit/>
          </a:bodyPr>
          <a:p>
            <a:pPr>
              <a:lnSpc>
                <a:spcPct val="140000"/>
              </a:lnSpc>
              <a:tabLst>
                <a:tab pos="0" algn="l"/>
              </a:tabLst>
            </a:pPr>
            <a:r>
              <a:rPr lang="en-US" sz="1300" b="1" u="none" strike="noStrike">
                <a:solidFill>
                  <a:srgbClr val="D9581C"/>
                </a:solidFill>
                <a:effectLst/>
                <a:uFillTx/>
                <a:latin typeface="DM Sans"/>
                <a:ea typeface="DM Sans"/>
              </a:rPr>
              <a:t>TECH4FOOD 2026 · ROUND 1 IDEA SUBMISSION</a:t>
            </a:r>
            <a:endParaRPr lang="en-IN" sz="1300" b="0" u="none" strike="noStrike">
              <a:solidFill>
                <a:srgbClr val="000000"/>
              </a:solidFill>
              <a:effectLst/>
              <a:uFillTx/>
              <a:latin typeface="Arial"/>
            </a:endParaRPr>
          </a:p>
        </p:txBody>
      </p:sp>
      <p:sp>
        <p:nvSpPr>
          <p:cNvPr id="32" name="Google Shape;42;p4"/>
          <p:cNvSpPr/>
          <p:nvPr/>
        </p:nvSpPr>
        <p:spPr>
          <a:xfrm>
            <a:off x="812880" y="1272600"/>
            <a:ext cx="10883160" cy="527760"/>
          </a:xfrm>
          <a:prstGeom prst="rect">
            <a:avLst/>
          </a:prstGeom>
          <a:noFill/>
          <a:ln w="0">
            <a:noFill/>
          </a:ln>
        </p:spPr>
        <p:style>
          <a:lnRef idx="0"/>
          <a:fillRef idx="0"/>
          <a:effectRef idx="0"/>
          <a:fontRef idx="minor"/>
        </p:style>
        <p:txBody>
          <a:bodyPr lIns="0" tIns="0" rIns="0" bIns="0" anchor="t">
            <a:noAutofit/>
          </a:bodyPr>
          <a:p>
            <a:pPr>
              <a:lnSpc>
                <a:spcPct val="110000"/>
              </a:lnSpc>
              <a:tabLst>
                <a:tab pos="0" algn="l"/>
              </a:tabLst>
            </a:pPr>
            <a:r>
              <a:rPr lang="en-US" sz="3600" b="1" u="none" strike="noStrike">
                <a:solidFill>
                  <a:srgbClr val="1F3A30"/>
                </a:solidFill>
                <a:effectLst/>
                <a:uFillTx/>
                <a:latin typeface="Rubik"/>
                <a:ea typeface="Rubik"/>
              </a:rPr>
              <a:t>Problem Understanding</a:t>
            </a:r>
            <a:endParaRPr lang="en-IN" sz="3600" b="0" u="none" strike="noStrike">
              <a:solidFill>
                <a:srgbClr val="000000"/>
              </a:solidFill>
              <a:effectLst/>
              <a:uFillTx/>
              <a:latin typeface="Arial"/>
            </a:endParaRPr>
          </a:p>
        </p:txBody>
      </p:sp>
      <p:sp>
        <p:nvSpPr>
          <p:cNvPr id="33" name="Google Shape;44;p4"/>
          <p:cNvSpPr/>
          <p:nvPr/>
        </p:nvSpPr>
        <p:spPr>
          <a:xfrm>
            <a:off x="812880" y="6238440"/>
            <a:ext cx="10883160" cy="238320"/>
          </a:xfrm>
          <a:prstGeom prst="rect">
            <a:avLst/>
          </a:prstGeom>
          <a:noFill/>
          <a:ln w="0">
            <a:noFill/>
          </a:ln>
        </p:spPr>
        <p:style>
          <a:lnRef idx="0"/>
          <a:fillRef idx="0"/>
          <a:effectRef idx="0"/>
          <a:fontRef idx="minor"/>
        </p:style>
        <p:txBody>
          <a:bodyPr lIns="0" tIns="0" rIns="0" bIns="0" anchor="t">
            <a:noAutofit/>
          </a:bodyPr>
          <a:p>
            <a:pPr>
              <a:lnSpc>
                <a:spcPct val="140000"/>
              </a:lnSpc>
              <a:tabLst>
                <a:tab pos="0" algn="l"/>
              </a:tabLst>
            </a:pPr>
            <a:r>
              <a:rPr lang="en-US" sz="1200" b="0" u="none" strike="noStrike">
                <a:solidFill>
                  <a:srgbClr val="6B7A72"/>
                </a:solidFill>
                <a:effectLst/>
                <a:uFillTx/>
                <a:latin typeface="DM Sans"/>
                <a:ea typeface="DM Sans"/>
              </a:rPr>
              <a:t>Tech4Food 2026 · New Era of Smarter Food Safety · PCCOE, Pune · 02</a:t>
            </a:r>
            <a:endParaRPr lang="en-IN" sz="1200" b="0" u="none" strike="noStrike">
              <a:solidFill>
                <a:srgbClr val="000000"/>
              </a:solidFill>
              <a:effectLst/>
              <a:uFillTx/>
              <a:latin typeface="Arial"/>
            </a:endParaRPr>
          </a:p>
        </p:txBody>
      </p:sp>
      <p:sp>
        <p:nvSpPr>
          <p:cNvPr id="34" name="TextBox 44"/>
          <p:cNvSpPr/>
          <p:nvPr/>
        </p:nvSpPr>
        <p:spPr>
          <a:xfrm>
            <a:off x="813960" y="2066400"/>
            <a:ext cx="10881000" cy="566640"/>
          </a:xfrm>
          <a:prstGeom prst="rect">
            <a:avLst/>
          </a:prstGeom>
          <a:noFill/>
          <a:ln w="0">
            <a:noFill/>
          </a:ln>
        </p:spPr>
        <p:style>
          <a:lnRef idx="0"/>
          <a:fillRef idx="0"/>
          <a:effectRef idx="0"/>
          <a:fontRef idx="minor"/>
        </p:style>
        <p:txBody>
          <a:bodyPr lIns="0" tIns="0" rIns="0" bIns="0" anchor="t">
            <a:spAutoFit/>
          </a:bodyPr>
          <a:p>
            <a:pPr>
              <a:lnSpc>
                <a:spcPct val="116000"/>
              </a:lnSpc>
            </a:pPr>
            <a:r>
              <a:rPr lang="en-IN" sz="1240" b="0" u="none" strike="noStrike">
                <a:solidFill>
                  <a:srgbClr val="1F3A30"/>
                </a:solidFill>
                <a:effectLst/>
                <a:uFillTx/>
                <a:latin typeface="DM Sans"/>
                <a:ea typeface="Arial"/>
              </a:rPr>
              <a:t>Loose milk is diluted with water, then thickened with starch and whitened with detergent so the dilution does not show. A buyer cannot check any of that before pouring it for a child.</a:t>
            </a:r>
            <a:endParaRPr lang="en-IN" sz="1240" b="0" u="none" strike="noStrike">
              <a:solidFill>
                <a:srgbClr val="000000"/>
              </a:solidFill>
              <a:effectLst/>
              <a:uFillTx/>
              <a:latin typeface="Arial"/>
            </a:endParaRPr>
          </a:p>
        </p:txBody>
      </p:sp>
      <p:sp>
        <p:nvSpPr>
          <p:cNvPr id="35" name="Rounded Rectangle 45"/>
          <p:cNvSpPr/>
          <p:nvPr/>
        </p:nvSpPr>
        <p:spPr>
          <a:xfrm>
            <a:off x="813960" y="2797920"/>
            <a:ext cx="3529080" cy="914040"/>
          </a:xfrm>
          <a:prstGeom prst="roundRect">
            <a:avLst>
              <a:gd name="adj" fmla="val 10000"/>
            </a:avLst>
          </a:prstGeom>
          <a:solidFill>
            <a:srgbClr val="F4F1E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IN" sz="1400" b="0" u="none" strike="noStrike">
              <a:solidFill>
                <a:schemeClr val="lt1"/>
              </a:solidFill>
              <a:effectLst/>
              <a:uFillTx/>
              <a:latin typeface="Arial"/>
            </a:endParaRPr>
          </a:p>
        </p:txBody>
      </p:sp>
      <p:sp>
        <p:nvSpPr>
          <p:cNvPr id="36" name="Rectangle 46"/>
          <p:cNvSpPr/>
          <p:nvPr/>
        </p:nvSpPr>
        <p:spPr>
          <a:xfrm>
            <a:off x="813960" y="2797920"/>
            <a:ext cx="50040" cy="914040"/>
          </a:xfrm>
          <a:prstGeom prst="rect">
            <a:avLst/>
          </a:prstGeom>
          <a:solidFill>
            <a:srgbClr val="2A4A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IN" sz="1400" b="0" u="none" strike="noStrike">
              <a:solidFill>
                <a:schemeClr val="lt1"/>
              </a:solidFill>
              <a:effectLst/>
              <a:uFillTx/>
              <a:latin typeface="Arial"/>
            </a:endParaRPr>
          </a:p>
        </p:txBody>
      </p:sp>
      <p:sp>
        <p:nvSpPr>
          <p:cNvPr id="37" name="TextBox 47"/>
          <p:cNvSpPr/>
          <p:nvPr/>
        </p:nvSpPr>
        <p:spPr>
          <a:xfrm>
            <a:off x="1014840" y="2889360"/>
            <a:ext cx="3200040" cy="749520"/>
          </a:xfrm>
          <a:prstGeom prst="rect">
            <a:avLst/>
          </a:prstGeom>
          <a:noFill/>
          <a:ln w="0">
            <a:noFill/>
          </a:ln>
        </p:spPr>
        <p:style>
          <a:lnRef idx="0"/>
          <a:fillRef idx="0"/>
          <a:effectRef idx="0"/>
          <a:fontRef idx="minor"/>
        </p:style>
        <p:txBody>
          <a:bodyPr lIns="0" tIns="0" rIns="0" bIns="0" anchor="t">
            <a:spAutoFit/>
          </a:bodyPr>
          <a:p>
            <a:pPr>
              <a:lnSpc>
                <a:spcPct val="100000"/>
              </a:lnSpc>
              <a:spcAft>
                <a:spcPts val="99"/>
              </a:spcAft>
            </a:pPr>
            <a:r>
              <a:rPr lang="en-IN" sz="2200" b="1" u="none" strike="noStrike">
                <a:solidFill>
                  <a:srgbClr val="2A4A3E"/>
                </a:solidFill>
                <a:effectLst/>
                <a:uFillTx/>
                <a:latin typeface="Rubik"/>
                <a:ea typeface="Arial"/>
              </a:rPr>
              <a:t>866 M</a:t>
            </a:r>
            <a:endParaRPr lang="en-IN" sz="2200" b="0" u="none" strike="noStrike">
              <a:solidFill>
                <a:srgbClr val="000000"/>
              </a:solidFill>
              <a:effectLst/>
              <a:uFillTx/>
              <a:latin typeface="Arial"/>
            </a:endParaRPr>
          </a:p>
          <a:p>
            <a:pPr>
              <a:lnSpc>
                <a:spcPct val="106000"/>
              </a:lnSpc>
            </a:pPr>
            <a:r>
              <a:rPr lang="en-IN" sz="860" b="0" u="none" strike="noStrike">
                <a:solidFill>
                  <a:srgbClr val="6B7A72"/>
                </a:solidFill>
                <a:effectLst/>
                <a:uFillTx/>
                <a:latin typeface="DM Sans"/>
                <a:ea typeface="Arial"/>
              </a:rPr>
              <a:t>foodborne illnesses a year worldwide</a:t>
            </a:r>
            <a:endParaRPr lang="en-IN" sz="860" b="0" u="none" strike="noStrike">
              <a:solidFill>
                <a:srgbClr val="000000"/>
              </a:solidFill>
              <a:effectLst/>
              <a:uFillTx/>
              <a:latin typeface="Arial"/>
            </a:endParaRPr>
          </a:p>
        </p:txBody>
      </p:sp>
      <p:sp>
        <p:nvSpPr>
          <p:cNvPr id="38" name="Rounded Rectangle 48"/>
          <p:cNvSpPr/>
          <p:nvPr/>
        </p:nvSpPr>
        <p:spPr>
          <a:xfrm>
            <a:off x="4549320" y="2797920"/>
            <a:ext cx="3529080" cy="914040"/>
          </a:xfrm>
          <a:prstGeom prst="roundRect">
            <a:avLst>
              <a:gd name="adj" fmla="val 10000"/>
            </a:avLst>
          </a:prstGeom>
          <a:solidFill>
            <a:srgbClr val="F4F1E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IN" sz="1400" b="0" u="none" strike="noStrike">
              <a:solidFill>
                <a:schemeClr val="lt1"/>
              </a:solidFill>
              <a:effectLst/>
              <a:uFillTx/>
              <a:latin typeface="Arial"/>
            </a:endParaRPr>
          </a:p>
        </p:txBody>
      </p:sp>
      <p:sp>
        <p:nvSpPr>
          <p:cNvPr id="39" name="Rectangle 49"/>
          <p:cNvSpPr/>
          <p:nvPr/>
        </p:nvSpPr>
        <p:spPr>
          <a:xfrm>
            <a:off x="4549320" y="2797920"/>
            <a:ext cx="50040" cy="914040"/>
          </a:xfrm>
          <a:prstGeom prst="rect">
            <a:avLst/>
          </a:prstGeom>
          <a:solidFill>
            <a:srgbClr val="D9581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IN" sz="1400" b="0" u="none" strike="noStrike">
              <a:solidFill>
                <a:schemeClr val="lt1"/>
              </a:solidFill>
              <a:effectLst/>
              <a:uFillTx/>
              <a:latin typeface="Arial"/>
            </a:endParaRPr>
          </a:p>
        </p:txBody>
      </p:sp>
      <p:sp>
        <p:nvSpPr>
          <p:cNvPr id="40" name="TextBox 50"/>
          <p:cNvSpPr/>
          <p:nvPr/>
        </p:nvSpPr>
        <p:spPr>
          <a:xfrm>
            <a:off x="4750200" y="2889360"/>
            <a:ext cx="3200040" cy="749520"/>
          </a:xfrm>
          <a:prstGeom prst="rect">
            <a:avLst/>
          </a:prstGeom>
          <a:noFill/>
          <a:ln w="0">
            <a:noFill/>
          </a:ln>
        </p:spPr>
        <p:style>
          <a:lnRef idx="0"/>
          <a:fillRef idx="0"/>
          <a:effectRef idx="0"/>
          <a:fontRef idx="minor"/>
        </p:style>
        <p:txBody>
          <a:bodyPr lIns="0" tIns="0" rIns="0" bIns="0" anchor="t">
            <a:spAutoFit/>
          </a:bodyPr>
          <a:p>
            <a:pPr>
              <a:lnSpc>
                <a:spcPct val="100000"/>
              </a:lnSpc>
              <a:spcAft>
                <a:spcPts val="99"/>
              </a:spcAft>
            </a:pPr>
            <a:r>
              <a:rPr lang="en-IN" sz="2200" b="1" u="none" strike="noStrike">
                <a:solidFill>
                  <a:srgbClr val="D9581C"/>
                </a:solidFill>
                <a:effectLst/>
                <a:uFillTx/>
                <a:latin typeface="Rubik"/>
                <a:ea typeface="Arial"/>
              </a:rPr>
              <a:t>1.52 M</a:t>
            </a:r>
            <a:endParaRPr lang="en-IN" sz="2200" b="0" u="none" strike="noStrike">
              <a:solidFill>
                <a:srgbClr val="000000"/>
              </a:solidFill>
              <a:effectLst/>
              <a:uFillTx/>
              <a:latin typeface="Arial"/>
            </a:endParaRPr>
          </a:p>
          <a:p>
            <a:pPr>
              <a:lnSpc>
                <a:spcPct val="106000"/>
              </a:lnSpc>
            </a:pPr>
            <a:r>
              <a:rPr lang="en-IN" sz="860" b="0" u="none" strike="noStrike">
                <a:solidFill>
                  <a:srgbClr val="6B7A72"/>
                </a:solidFill>
                <a:effectLst/>
                <a:uFillTx/>
                <a:latin typeface="DM Sans"/>
                <a:ea typeface="Arial"/>
              </a:rPr>
              <a:t>deaths a year linked to unsafe food</a:t>
            </a:r>
            <a:endParaRPr lang="en-IN" sz="860" b="0" u="none" strike="noStrike">
              <a:solidFill>
                <a:srgbClr val="000000"/>
              </a:solidFill>
              <a:effectLst/>
              <a:uFillTx/>
              <a:latin typeface="Arial"/>
            </a:endParaRPr>
          </a:p>
        </p:txBody>
      </p:sp>
      <p:sp>
        <p:nvSpPr>
          <p:cNvPr id="41" name="Rounded Rectangle 51"/>
          <p:cNvSpPr/>
          <p:nvPr/>
        </p:nvSpPr>
        <p:spPr>
          <a:xfrm>
            <a:off x="8284320" y="2797920"/>
            <a:ext cx="3318840" cy="914040"/>
          </a:xfrm>
          <a:prstGeom prst="roundRect">
            <a:avLst>
              <a:gd name="adj" fmla="val 10000"/>
            </a:avLst>
          </a:prstGeom>
          <a:solidFill>
            <a:srgbClr val="F4F1E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IN" sz="1400" b="0" u="none" strike="noStrike">
              <a:solidFill>
                <a:schemeClr val="lt1"/>
              </a:solidFill>
              <a:effectLst/>
              <a:uFillTx/>
              <a:latin typeface="Arial"/>
            </a:endParaRPr>
          </a:p>
        </p:txBody>
      </p:sp>
      <p:sp>
        <p:nvSpPr>
          <p:cNvPr id="42" name="Rectangle 52"/>
          <p:cNvSpPr/>
          <p:nvPr/>
        </p:nvSpPr>
        <p:spPr>
          <a:xfrm>
            <a:off x="8284320" y="2797920"/>
            <a:ext cx="50040" cy="914040"/>
          </a:xfrm>
          <a:prstGeom prst="rect">
            <a:avLst/>
          </a:prstGeom>
          <a:solidFill>
            <a:srgbClr val="F26B2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IN" sz="1400" b="0" u="none" strike="noStrike">
              <a:solidFill>
                <a:schemeClr val="lt1"/>
              </a:solidFill>
              <a:effectLst/>
              <a:uFillTx/>
              <a:latin typeface="Arial"/>
            </a:endParaRPr>
          </a:p>
        </p:txBody>
      </p:sp>
      <p:sp>
        <p:nvSpPr>
          <p:cNvPr id="43" name="TextBox 53"/>
          <p:cNvSpPr/>
          <p:nvPr/>
        </p:nvSpPr>
        <p:spPr>
          <a:xfrm>
            <a:off x="8485560" y="2889360"/>
            <a:ext cx="2989800" cy="749520"/>
          </a:xfrm>
          <a:prstGeom prst="rect">
            <a:avLst/>
          </a:prstGeom>
          <a:noFill/>
          <a:ln w="0">
            <a:noFill/>
          </a:ln>
        </p:spPr>
        <p:style>
          <a:lnRef idx="0"/>
          <a:fillRef idx="0"/>
          <a:effectRef idx="0"/>
          <a:fontRef idx="minor"/>
        </p:style>
        <p:txBody>
          <a:bodyPr lIns="0" tIns="0" rIns="0" bIns="0" anchor="t">
            <a:spAutoFit/>
          </a:bodyPr>
          <a:p>
            <a:pPr>
              <a:lnSpc>
                <a:spcPct val="100000"/>
              </a:lnSpc>
              <a:spcAft>
                <a:spcPts val="99"/>
              </a:spcAft>
            </a:pPr>
            <a:r>
              <a:rPr lang="en-IN" sz="2200" b="1" u="none" strike="noStrike">
                <a:solidFill>
                  <a:srgbClr val="F26B2A"/>
                </a:solidFill>
                <a:effectLst/>
                <a:uFillTx/>
                <a:latin typeface="Rubik"/>
                <a:ea typeface="Arial"/>
              </a:rPr>
              <a:t>37.3%</a:t>
            </a:r>
            <a:endParaRPr lang="en-IN" sz="2200" b="0" u="none" strike="noStrike">
              <a:solidFill>
                <a:srgbClr val="000000"/>
              </a:solidFill>
              <a:effectLst/>
              <a:uFillTx/>
              <a:latin typeface="Arial"/>
            </a:endParaRPr>
          </a:p>
          <a:p>
            <a:pPr>
              <a:lnSpc>
                <a:spcPct val="106000"/>
              </a:lnSpc>
            </a:pPr>
            <a:r>
              <a:rPr lang="en-IN" sz="860" b="0" u="none" strike="noStrike">
                <a:solidFill>
                  <a:srgbClr val="6B7A72"/>
                </a:solidFill>
                <a:effectLst/>
                <a:uFillTx/>
                <a:latin typeface="DM Sans"/>
                <a:ea typeface="Arial"/>
              </a:rPr>
              <a:t>of India's milk and dairy samples failed FSSAI tests in FY 2025-26</a:t>
            </a:r>
            <a:endParaRPr lang="en-IN" sz="860" b="0" u="none" strike="noStrike">
              <a:solidFill>
                <a:srgbClr val="000000"/>
              </a:solidFill>
              <a:effectLst/>
              <a:uFillTx/>
              <a:latin typeface="Arial"/>
            </a:endParaRPr>
          </a:p>
        </p:txBody>
      </p:sp>
      <p:sp>
        <p:nvSpPr>
          <p:cNvPr id="44" name="TextBox 54"/>
          <p:cNvSpPr/>
          <p:nvPr/>
        </p:nvSpPr>
        <p:spPr>
          <a:xfrm>
            <a:off x="813960" y="3877200"/>
            <a:ext cx="4937400" cy="155160"/>
          </a:xfrm>
          <a:prstGeom prst="rect">
            <a:avLst/>
          </a:prstGeom>
          <a:noFill/>
          <a:ln w="0">
            <a:noFill/>
          </a:ln>
        </p:spPr>
        <p:style>
          <a:lnRef idx="0"/>
          <a:fillRef idx="0"/>
          <a:effectRef idx="0"/>
          <a:fontRef idx="minor"/>
        </p:style>
        <p:txBody>
          <a:bodyPr lIns="0" tIns="0" rIns="0" bIns="0" anchor="t">
            <a:spAutoFit/>
          </a:bodyPr>
          <a:p>
            <a:pPr>
              <a:lnSpc>
                <a:spcPct val="100000"/>
              </a:lnSpc>
            </a:pPr>
            <a:r>
              <a:rPr lang="en-IN" sz="820" b="1" u="none" strike="noStrike">
                <a:solidFill>
                  <a:srgbClr val="6B7A72"/>
                </a:solidFill>
                <a:effectLst/>
                <a:uFillTx/>
                <a:latin typeface="DM Sans"/>
                <a:ea typeface="Arial"/>
              </a:rPr>
              <a:t>FSSAI SURVEILLANCE, TWO YEARS RUNNING</a:t>
            </a:r>
            <a:endParaRPr lang="en-IN" sz="820" b="0" u="none" strike="noStrike">
              <a:solidFill>
                <a:srgbClr val="000000"/>
              </a:solidFill>
              <a:effectLst/>
              <a:uFillTx/>
              <a:latin typeface="Arial"/>
            </a:endParaRPr>
          </a:p>
        </p:txBody>
      </p:sp>
      <p:pic>
        <p:nvPicPr>
          <p:cNvPr id="45" name="Picture 55" descr="c_fssai.png"/>
          <p:cNvPicPr/>
          <p:nvPr/>
        </p:nvPicPr>
        <p:blipFill>
          <a:blip r:embed="rId1"/>
          <a:stretch/>
        </p:blipFill>
        <p:spPr>
          <a:xfrm>
            <a:off x="1684080" y="4041720"/>
            <a:ext cx="3197160" cy="1700280"/>
          </a:xfrm>
          <a:prstGeom prst="rect">
            <a:avLst/>
          </a:prstGeom>
          <a:noFill/>
          <a:ln w="0">
            <a:noFill/>
          </a:ln>
        </p:spPr>
      </p:pic>
      <p:sp>
        <p:nvSpPr>
          <p:cNvPr id="46" name="TextBox 56"/>
          <p:cNvSpPr/>
          <p:nvPr/>
        </p:nvSpPr>
        <p:spPr>
          <a:xfrm>
            <a:off x="813960" y="5779080"/>
            <a:ext cx="4937400" cy="237240"/>
          </a:xfrm>
          <a:prstGeom prst="rect">
            <a:avLst/>
          </a:prstGeom>
          <a:noFill/>
          <a:ln w="0">
            <a:noFill/>
          </a:ln>
        </p:spPr>
        <p:style>
          <a:lnRef idx="0"/>
          <a:fillRef idx="0"/>
          <a:effectRef idx="0"/>
          <a:fontRef idx="minor"/>
        </p:style>
        <p:txBody>
          <a:bodyPr lIns="0" tIns="0" rIns="0" bIns="0" anchor="t">
            <a:spAutoFit/>
          </a:bodyPr>
          <a:p>
            <a:pPr>
              <a:lnSpc>
                <a:spcPct val="100000"/>
              </a:lnSpc>
            </a:pPr>
            <a:r>
              <a:rPr lang="en-IN" sz="740" b="0" u="none" strike="noStrike">
                <a:solidFill>
                  <a:srgbClr val="9DB3A7"/>
                </a:solidFill>
                <a:effectLst/>
                <a:uFillTx/>
                <a:latin typeface="DM Sans"/>
                <a:ea typeface="Arial"/>
              </a:rPr>
              <a:t>FSSAI data tabled in Parliament, Lok Sabha Unstarred Q 1092, 24 July 2026</a:t>
            </a:r>
            <a:endParaRPr lang="en-IN" sz="740" b="0" u="none" strike="noStrike">
              <a:solidFill>
                <a:srgbClr val="000000"/>
              </a:solidFill>
              <a:effectLst/>
              <a:uFillTx/>
              <a:latin typeface="Arial"/>
            </a:endParaRPr>
          </a:p>
        </p:txBody>
      </p:sp>
      <p:sp>
        <p:nvSpPr>
          <p:cNvPr id="47" name="Rounded Rectangle 57"/>
          <p:cNvSpPr/>
          <p:nvPr/>
        </p:nvSpPr>
        <p:spPr>
          <a:xfrm>
            <a:off x="5961960" y="3877200"/>
            <a:ext cx="5641560" cy="932400"/>
          </a:xfrm>
          <a:prstGeom prst="roundRect">
            <a:avLst>
              <a:gd name="adj" fmla="val 10000"/>
            </a:avLst>
          </a:prstGeom>
          <a:solidFill>
            <a:srgbClr val="F4F1E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IN" sz="1400" b="0" u="none" strike="noStrike">
              <a:solidFill>
                <a:schemeClr val="lt1"/>
              </a:solidFill>
              <a:effectLst/>
              <a:uFillTx/>
              <a:latin typeface="Arial"/>
            </a:endParaRPr>
          </a:p>
        </p:txBody>
      </p:sp>
      <p:sp>
        <p:nvSpPr>
          <p:cNvPr id="48" name="TextBox 58"/>
          <p:cNvSpPr/>
          <p:nvPr/>
        </p:nvSpPr>
        <p:spPr>
          <a:xfrm>
            <a:off x="6181200" y="4050720"/>
            <a:ext cx="5202720" cy="621360"/>
          </a:xfrm>
          <a:prstGeom prst="rect">
            <a:avLst/>
          </a:prstGeom>
          <a:noFill/>
          <a:ln w="0">
            <a:noFill/>
          </a:ln>
        </p:spPr>
        <p:style>
          <a:lnRef idx="0"/>
          <a:fillRef idx="0"/>
          <a:effectRef idx="0"/>
          <a:fontRef idx="minor"/>
        </p:style>
        <p:txBody>
          <a:bodyPr lIns="0" tIns="0" rIns="0" bIns="0" anchor="t">
            <a:spAutoFit/>
          </a:bodyPr>
          <a:p>
            <a:pPr>
              <a:lnSpc>
                <a:spcPct val="100000"/>
              </a:lnSpc>
              <a:spcAft>
                <a:spcPts val="400"/>
              </a:spcAft>
            </a:pPr>
            <a:r>
              <a:rPr lang="en-IN" sz="1000" b="1" u="none" strike="noStrike">
                <a:solidFill>
                  <a:srgbClr val="2A4A3E"/>
                </a:solidFill>
                <a:effectLst/>
                <a:uFillTx/>
                <a:latin typeface="Rubik"/>
                <a:ea typeface="Arial"/>
              </a:rPr>
              <a:t>What a buyer has today</a:t>
            </a:r>
            <a:endParaRPr lang="en-IN" sz="1000" b="0" u="none" strike="noStrike">
              <a:solidFill>
                <a:srgbClr val="000000"/>
              </a:solidFill>
              <a:effectLst/>
              <a:uFillTx/>
              <a:latin typeface="Arial"/>
            </a:endParaRPr>
          </a:p>
          <a:p>
            <a:pPr>
              <a:lnSpc>
                <a:spcPct val="112000"/>
              </a:lnSpc>
              <a:spcAft>
                <a:spcPts val="349"/>
              </a:spcAft>
            </a:pPr>
            <a:r>
              <a:rPr lang="en-IN" sz="900" b="0" u="none" strike="noStrike">
                <a:solidFill>
                  <a:srgbClr val="1F3A30"/>
                </a:solidFill>
                <a:effectLst/>
                <a:uFillTx/>
                <a:latin typeface="DM Sans"/>
                <a:ea typeface="Arial"/>
              </a:rPr>
              <a:t>A lab sample takes days and costs more than the milk. Rapid kit strips exist, but they read by eye, so two people get two answers and nobody keeps a record.</a:t>
            </a:r>
            <a:endParaRPr lang="en-IN" sz="900" b="0" u="none" strike="noStrike">
              <a:solidFill>
                <a:srgbClr val="000000"/>
              </a:solidFill>
              <a:effectLst/>
              <a:uFillTx/>
              <a:latin typeface="Arial"/>
            </a:endParaRPr>
          </a:p>
        </p:txBody>
      </p:sp>
      <p:sp>
        <p:nvSpPr>
          <p:cNvPr id="49" name="TextBox 59"/>
          <p:cNvSpPr/>
          <p:nvPr/>
        </p:nvSpPr>
        <p:spPr>
          <a:xfrm>
            <a:off x="5961960" y="4956120"/>
            <a:ext cx="5641560" cy="155160"/>
          </a:xfrm>
          <a:prstGeom prst="rect">
            <a:avLst/>
          </a:prstGeom>
          <a:noFill/>
          <a:ln w="0">
            <a:noFill/>
          </a:ln>
        </p:spPr>
        <p:style>
          <a:lnRef idx="0"/>
          <a:fillRef idx="0"/>
          <a:effectRef idx="0"/>
          <a:fontRef idx="minor"/>
        </p:style>
        <p:txBody>
          <a:bodyPr lIns="0" tIns="0" rIns="0" bIns="0" anchor="t">
            <a:spAutoFit/>
          </a:bodyPr>
          <a:p>
            <a:pPr>
              <a:lnSpc>
                <a:spcPct val="100000"/>
              </a:lnSpc>
            </a:pPr>
            <a:r>
              <a:rPr lang="en-IN" sz="820" b="1" u="none" strike="noStrike">
                <a:solidFill>
                  <a:srgbClr val="6B7A72"/>
                </a:solidFill>
                <a:effectLst/>
                <a:uFillTx/>
                <a:latin typeface="DM Sans"/>
                <a:ea typeface="Arial"/>
              </a:rPr>
              <a:t>WHO THIS PUTS A CHECK IN THE HANDS OF</a:t>
            </a:r>
            <a:endParaRPr lang="en-IN" sz="820" b="0" u="none" strike="noStrike">
              <a:solidFill>
                <a:srgbClr val="000000"/>
              </a:solidFill>
              <a:effectLst/>
              <a:uFillTx/>
              <a:latin typeface="Arial"/>
            </a:endParaRPr>
          </a:p>
        </p:txBody>
      </p:sp>
      <p:sp>
        <p:nvSpPr>
          <p:cNvPr id="50" name="Rounded Rectangle 60"/>
          <p:cNvSpPr/>
          <p:nvPr/>
        </p:nvSpPr>
        <p:spPr>
          <a:xfrm>
            <a:off x="5961960" y="5139000"/>
            <a:ext cx="1481040" cy="273960"/>
          </a:xfrm>
          <a:prstGeom prst="roundRect">
            <a:avLst>
              <a:gd name="adj" fmla="val 45000"/>
            </a:avLst>
          </a:prstGeom>
          <a:solidFill>
            <a:srgbClr val="FFFFFF"/>
          </a:solidFill>
          <a:ln>
            <a:solidFill>
              <a:srgbClr val="DCD6C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IN" sz="1400" b="0" u="none" strike="noStrike">
              <a:solidFill>
                <a:schemeClr val="lt1"/>
              </a:solidFill>
              <a:effectLst/>
              <a:uFillTx/>
              <a:latin typeface="Arial"/>
            </a:endParaRPr>
          </a:p>
        </p:txBody>
      </p:sp>
      <p:sp>
        <p:nvSpPr>
          <p:cNvPr id="51" name="TextBox 61"/>
          <p:cNvSpPr/>
          <p:nvPr/>
        </p:nvSpPr>
        <p:spPr>
          <a:xfrm>
            <a:off x="6016680" y="5139000"/>
            <a:ext cx="1371240" cy="273960"/>
          </a:xfrm>
          <a:prstGeom prst="rect">
            <a:avLst/>
          </a:prstGeom>
          <a:noFill/>
          <a:ln w="0">
            <a:noFill/>
          </a:ln>
        </p:spPr>
        <p:style>
          <a:lnRef idx="0"/>
          <a:fillRef idx="0"/>
          <a:effectRef idx="0"/>
          <a:fontRef idx="minor"/>
        </p:style>
        <p:txBody>
          <a:bodyPr lIns="0" tIns="0" rIns="0" bIns="0" anchor="ctr">
            <a:spAutoFit/>
          </a:bodyPr>
          <a:p>
            <a:pPr algn="ctr">
              <a:lnSpc>
                <a:spcPct val="100000"/>
              </a:lnSpc>
            </a:pPr>
            <a:r>
              <a:rPr lang="en-IN" sz="839" b="0" u="none" strike="noStrike">
                <a:solidFill>
                  <a:srgbClr val="1F3A30"/>
                </a:solidFill>
                <a:effectLst/>
                <a:uFillTx/>
                <a:latin typeface="DM Sans"/>
                <a:ea typeface="Arial"/>
              </a:rPr>
              <a:t>Street vendors</a:t>
            </a:r>
            <a:endParaRPr lang="en-IN" sz="839" b="0" u="none" strike="noStrike">
              <a:solidFill>
                <a:srgbClr val="000000"/>
              </a:solidFill>
              <a:effectLst/>
              <a:uFillTx/>
              <a:latin typeface="Arial"/>
            </a:endParaRPr>
          </a:p>
        </p:txBody>
      </p:sp>
      <p:sp>
        <p:nvSpPr>
          <p:cNvPr id="52" name="Rounded Rectangle 62"/>
          <p:cNvSpPr/>
          <p:nvPr/>
        </p:nvSpPr>
        <p:spPr>
          <a:xfrm>
            <a:off x="7552800" y="5139000"/>
            <a:ext cx="1919880" cy="273960"/>
          </a:xfrm>
          <a:prstGeom prst="roundRect">
            <a:avLst>
              <a:gd name="adj" fmla="val 45000"/>
            </a:avLst>
          </a:prstGeom>
          <a:solidFill>
            <a:srgbClr val="FFFFFF"/>
          </a:solidFill>
          <a:ln>
            <a:solidFill>
              <a:srgbClr val="DCD6C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IN" sz="1400" b="0" u="none" strike="noStrike">
              <a:solidFill>
                <a:schemeClr val="lt1"/>
              </a:solidFill>
              <a:effectLst/>
              <a:uFillTx/>
              <a:latin typeface="Arial"/>
            </a:endParaRPr>
          </a:p>
        </p:txBody>
      </p:sp>
      <p:sp>
        <p:nvSpPr>
          <p:cNvPr id="53" name="TextBox 63"/>
          <p:cNvSpPr/>
          <p:nvPr/>
        </p:nvSpPr>
        <p:spPr>
          <a:xfrm>
            <a:off x="7607880" y="5139000"/>
            <a:ext cx="1810080" cy="273960"/>
          </a:xfrm>
          <a:prstGeom prst="rect">
            <a:avLst/>
          </a:prstGeom>
          <a:noFill/>
          <a:ln w="0">
            <a:noFill/>
          </a:ln>
        </p:spPr>
        <p:style>
          <a:lnRef idx="0"/>
          <a:fillRef idx="0"/>
          <a:effectRef idx="0"/>
          <a:fontRef idx="minor"/>
        </p:style>
        <p:txBody>
          <a:bodyPr lIns="0" tIns="0" rIns="0" bIns="0" anchor="ctr">
            <a:spAutoFit/>
          </a:bodyPr>
          <a:p>
            <a:pPr algn="ctr">
              <a:lnSpc>
                <a:spcPct val="100000"/>
              </a:lnSpc>
            </a:pPr>
            <a:r>
              <a:rPr lang="en-IN" sz="839" b="0" u="none" strike="noStrike">
                <a:solidFill>
                  <a:srgbClr val="1F3A30"/>
                </a:solidFill>
                <a:effectLst/>
                <a:uFillTx/>
                <a:latin typeface="DM Sans"/>
                <a:ea typeface="Arial"/>
              </a:rPr>
              <a:t>Canteens &amp; hostels</a:t>
            </a:r>
            <a:endParaRPr lang="en-IN" sz="839" b="0" u="none" strike="noStrike">
              <a:solidFill>
                <a:srgbClr val="000000"/>
              </a:solidFill>
              <a:effectLst/>
              <a:uFillTx/>
              <a:latin typeface="Arial"/>
            </a:endParaRPr>
          </a:p>
        </p:txBody>
      </p:sp>
      <p:sp>
        <p:nvSpPr>
          <p:cNvPr id="54" name="Rounded Rectangle 64"/>
          <p:cNvSpPr/>
          <p:nvPr/>
        </p:nvSpPr>
        <p:spPr>
          <a:xfrm>
            <a:off x="9582840" y="5139000"/>
            <a:ext cx="2121120" cy="273960"/>
          </a:xfrm>
          <a:prstGeom prst="roundRect">
            <a:avLst>
              <a:gd name="adj" fmla="val 45000"/>
            </a:avLst>
          </a:prstGeom>
          <a:solidFill>
            <a:srgbClr val="FFFFFF"/>
          </a:solidFill>
          <a:ln>
            <a:solidFill>
              <a:srgbClr val="DCD6C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IN" sz="1400" b="0" u="none" strike="noStrike">
              <a:solidFill>
                <a:schemeClr val="lt1"/>
              </a:solidFill>
              <a:effectLst/>
              <a:uFillTx/>
              <a:latin typeface="Arial"/>
            </a:endParaRPr>
          </a:p>
        </p:txBody>
      </p:sp>
      <p:sp>
        <p:nvSpPr>
          <p:cNvPr id="55" name="TextBox 65"/>
          <p:cNvSpPr/>
          <p:nvPr/>
        </p:nvSpPr>
        <p:spPr>
          <a:xfrm>
            <a:off x="9637920" y="5139000"/>
            <a:ext cx="2011320" cy="273960"/>
          </a:xfrm>
          <a:prstGeom prst="rect">
            <a:avLst/>
          </a:prstGeom>
          <a:noFill/>
          <a:ln w="0">
            <a:noFill/>
          </a:ln>
        </p:spPr>
        <p:style>
          <a:lnRef idx="0"/>
          <a:fillRef idx="0"/>
          <a:effectRef idx="0"/>
          <a:fontRef idx="minor"/>
        </p:style>
        <p:txBody>
          <a:bodyPr lIns="0" tIns="0" rIns="0" bIns="0" anchor="ctr">
            <a:spAutoFit/>
          </a:bodyPr>
          <a:p>
            <a:pPr algn="ctr">
              <a:lnSpc>
                <a:spcPct val="100000"/>
              </a:lnSpc>
            </a:pPr>
            <a:r>
              <a:rPr lang="en-IN" sz="839" b="0" u="none" strike="noStrike">
                <a:solidFill>
                  <a:srgbClr val="1F3A30"/>
                </a:solidFill>
                <a:effectLst/>
                <a:uFillTx/>
                <a:latin typeface="DM Sans"/>
                <a:ea typeface="Arial"/>
              </a:rPr>
              <a:t>Dairy collection centres</a:t>
            </a:r>
            <a:endParaRPr lang="en-IN" sz="839" b="0" u="none" strike="noStrike">
              <a:solidFill>
                <a:srgbClr val="000000"/>
              </a:solidFill>
              <a:effectLst/>
              <a:uFillTx/>
              <a:latin typeface="Arial"/>
            </a:endParaRPr>
          </a:p>
        </p:txBody>
      </p:sp>
      <p:sp>
        <p:nvSpPr>
          <p:cNvPr id="56" name="Rounded Rectangle 66"/>
          <p:cNvSpPr/>
          <p:nvPr/>
        </p:nvSpPr>
        <p:spPr>
          <a:xfrm>
            <a:off x="5961960" y="5486400"/>
            <a:ext cx="2377080" cy="273960"/>
          </a:xfrm>
          <a:prstGeom prst="roundRect">
            <a:avLst>
              <a:gd name="adj" fmla="val 45000"/>
            </a:avLst>
          </a:prstGeom>
          <a:solidFill>
            <a:srgbClr val="FFFFFF"/>
          </a:solidFill>
          <a:ln>
            <a:solidFill>
              <a:srgbClr val="DCD6C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IN" sz="1400" b="0" u="none" strike="noStrike">
              <a:solidFill>
                <a:schemeClr val="lt1"/>
              </a:solidFill>
              <a:effectLst/>
              <a:uFillTx/>
              <a:latin typeface="Arial"/>
            </a:endParaRPr>
          </a:p>
        </p:txBody>
      </p:sp>
      <p:sp>
        <p:nvSpPr>
          <p:cNvPr id="57" name="TextBox 67"/>
          <p:cNvSpPr/>
          <p:nvPr/>
        </p:nvSpPr>
        <p:spPr>
          <a:xfrm>
            <a:off x="6016680" y="5486400"/>
            <a:ext cx="2267280" cy="273960"/>
          </a:xfrm>
          <a:prstGeom prst="rect">
            <a:avLst/>
          </a:prstGeom>
          <a:noFill/>
          <a:ln w="0">
            <a:noFill/>
          </a:ln>
        </p:spPr>
        <p:style>
          <a:lnRef idx="0"/>
          <a:fillRef idx="0"/>
          <a:effectRef idx="0"/>
          <a:fontRef idx="minor"/>
        </p:style>
        <p:txBody>
          <a:bodyPr lIns="0" tIns="0" rIns="0" bIns="0" anchor="ctr">
            <a:spAutoFit/>
          </a:bodyPr>
          <a:p>
            <a:pPr algn="ctr">
              <a:lnSpc>
                <a:spcPct val="100000"/>
              </a:lnSpc>
            </a:pPr>
            <a:r>
              <a:rPr lang="en-IN" sz="839" b="0" u="none" strike="noStrike">
                <a:solidFill>
                  <a:srgbClr val="1F3A30"/>
                </a:solidFill>
                <a:effectLst/>
                <a:uFillTx/>
                <a:latin typeface="DM Sans"/>
                <a:ea typeface="Arial"/>
              </a:rPr>
              <a:t>Mothers buying loose milk</a:t>
            </a:r>
            <a:endParaRPr lang="en-IN" sz="839" b="0" u="none" strike="noStrike">
              <a:solidFill>
                <a:srgbClr val="000000"/>
              </a:solidFill>
              <a:effectLst/>
              <a:uFillTx/>
              <a:latin typeface="Arial"/>
            </a:endParaRPr>
          </a:p>
        </p:txBody>
      </p:sp>
      <p:sp>
        <p:nvSpPr>
          <p:cNvPr id="58" name="Rounded Rectangle 68"/>
          <p:cNvSpPr/>
          <p:nvPr/>
        </p:nvSpPr>
        <p:spPr>
          <a:xfrm>
            <a:off x="8449200" y="5486400"/>
            <a:ext cx="1572480" cy="273960"/>
          </a:xfrm>
          <a:prstGeom prst="roundRect">
            <a:avLst>
              <a:gd name="adj" fmla="val 45000"/>
            </a:avLst>
          </a:prstGeom>
          <a:solidFill>
            <a:srgbClr val="FFFFFF"/>
          </a:solidFill>
          <a:ln>
            <a:solidFill>
              <a:srgbClr val="DCD6C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IN" sz="1400" b="0" u="none" strike="noStrike">
              <a:solidFill>
                <a:schemeClr val="lt1"/>
              </a:solidFill>
              <a:effectLst/>
              <a:uFillTx/>
              <a:latin typeface="Arial"/>
            </a:endParaRPr>
          </a:p>
        </p:txBody>
      </p:sp>
      <p:sp>
        <p:nvSpPr>
          <p:cNvPr id="59" name="TextBox 69"/>
          <p:cNvSpPr/>
          <p:nvPr/>
        </p:nvSpPr>
        <p:spPr>
          <a:xfrm>
            <a:off x="8503920" y="5486400"/>
            <a:ext cx="1462680" cy="273960"/>
          </a:xfrm>
          <a:prstGeom prst="rect">
            <a:avLst/>
          </a:prstGeom>
          <a:noFill/>
          <a:ln w="0">
            <a:noFill/>
          </a:ln>
        </p:spPr>
        <p:style>
          <a:lnRef idx="0"/>
          <a:fillRef idx="0"/>
          <a:effectRef idx="0"/>
          <a:fontRef idx="minor"/>
        </p:style>
        <p:txBody>
          <a:bodyPr lIns="0" tIns="0" rIns="0" bIns="0" anchor="ctr">
            <a:spAutoFit/>
          </a:bodyPr>
          <a:p>
            <a:pPr algn="ctr">
              <a:lnSpc>
                <a:spcPct val="100000"/>
              </a:lnSpc>
            </a:pPr>
            <a:r>
              <a:rPr lang="en-IN" sz="839" b="0" u="none" strike="noStrike">
                <a:solidFill>
                  <a:srgbClr val="1F3A30"/>
                </a:solidFill>
                <a:effectLst/>
                <a:uFillTx/>
                <a:latin typeface="DM Sans"/>
                <a:ea typeface="Arial"/>
              </a:rPr>
              <a:t>Mess committees</a:t>
            </a:r>
            <a:endParaRPr lang="en-IN" sz="839" b="0" u="none" strike="noStrike">
              <a:solidFill>
                <a:srgbClr val="000000"/>
              </a:solidFill>
              <a:effectLst/>
              <a:uFillTx/>
              <a:latin typeface="Arial"/>
            </a:endParaRPr>
          </a:p>
        </p:txBody>
      </p:sp>
      <p:sp>
        <p:nvSpPr>
          <p:cNvPr id="60" name="Rounded Rectangle 70"/>
          <p:cNvSpPr/>
          <p:nvPr/>
        </p:nvSpPr>
        <p:spPr>
          <a:xfrm>
            <a:off x="10131480" y="5486400"/>
            <a:ext cx="1572480" cy="273960"/>
          </a:xfrm>
          <a:prstGeom prst="roundRect">
            <a:avLst>
              <a:gd name="adj" fmla="val 45000"/>
            </a:avLst>
          </a:prstGeom>
          <a:solidFill>
            <a:srgbClr val="FFFFFF"/>
          </a:solidFill>
          <a:ln>
            <a:solidFill>
              <a:srgbClr val="DCD6C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IN" sz="1400" b="0" u="none" strike="noStrike">
              <a:solidFill>
                <a:schemeClr val="lt1"/>
              </a:solidFill>
              <a:effectLst/>
              <a:uFillTx/>
              <a:latin typeface="Arial"/>
            </a:endParaRPr>
          </a:p>
        </p:txBody>
      </p:sp>
      <p:sp>
        <p:nvSpPr>
          <p:cNvPr id="61" name="TextBox 71"/>
          <p:cNvSpPr/>
          <p:nvPr/>
        </p:nvSpPr>
        <p:spPr>
          <a:xfrm>
            <a:off x="10186560" y="5486400"/>
            <a:ext cx="1462680" cy="273960"/>
          </a:xfrm>
          <a:prstGeom prst="rect">
            <a:avLst/>
          </a:prstGeom>
          <a:noFill/>
          <a:ln w="0">
            <a:noFill/>
          </a:ln>
        </p:spPr>
        <p:style>
          <a:lnRef idx="0"/>
          <a:fillRef idx="0"/>
          <a:effectRef idx="0"/>
          <a:fontRef idx="minor"/>
        </p:style>
        <p:txBody>
          <a:bodyPr lIns="0" tIns="0" rIns="0" bIns="0" anchor="ctr">
            <a:spAutoFit/>
          </a:bodyPr>
          <a:p>
            <a:pPr algn="ctr">
              <a:lnSpc>
                <a:spcPct val="100000"/>
              </a:lnSpc>
            </a:pPr>
            <a:r>
              <a:rPr lang="en-IN" sz="839" b="0" u="none" strike="noStrike">
                <a:solidFill>
                  <a:srgbClr val="1F3A30"/>
                </a:solidFill>
                <a:effectLst/>
                <a:uFillTx/>
                <a:latin typeface="DM Sans"/>
                <a:ea typeface="Arial"/>
              </a:rPr>
              <a:t>Food inspectors</a:t>
            </a:r>
            <a:endParaRPr lang="en-IN" sz="839"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62" name="Google Shape;50;p5"/>
          <p:cNvSpPr/>
          <p:nvPr/>
        </p:nvSpPr>
        <p:spPr>
          <a:xfrm>
            <a:off x="812880" y="812880"/>
            <a:ext cx="10883160" cy="256320"/>
          </a:xfrm>
          <a:prstGeom prst="rect">
            <a:avLst/>
          </a:prstGeom>
          <a:noFill/>
          <a:ln w="0">
            <a:noFill/>
          </a:ln>
        </p:spPr>
        <p:style>
          <a:lnRef idx="0"/>
          <a:fillRef idx="0"/>
          <a:effectRef idx="0"/>
          <a:fontRef idx="minor"/>
        </p:style>
        <p:txBody>
          <a:bodyPr lIns="0" tIns="0" rIns="0" bIns="0" anchor="t">
            <a:noAutofit/>
          </a:bodyPr>
          <a:p>
            <a:pPr>
              <a:lnSpc>
                <a:spcPct val="140000"/>
              </a:lnSpc>
              <a:tabLst>
                <a:tab pos="0" algn="l"/>
              </a:tabLst>
            </a:pPr>
            <a:r>
              <a:rPr lang="en-US" sz="1300" b="1" u="none" strike="noStrike">
                <a:solidFill>
                  <a:srgbClr val="D9581C"/>
                </a:solidFill>
                <a:effectLst/>
                <a:uFillTx/>
                <a:latin typeface="DM Sans"/>
                <a:ea typeface="DM Sans"/>
              </a:rPr>
              <a:t>TECH4FOOD 2026 · ROUND 1 IDEA SUBMISSION</a:t>
            </a:r>
            <a:endParaRPr lang="en-IN" sz="1300" b="0" u="none" strike="noStrike">
              <a:solidFill>
                <a:srgbClr val="000000"/>
              </a:solidFill>
              <a:effectLst/>
              <a:uFillTx/>
              <a:latin typeface="Arial"/>
            </a:endParaRPr>
          </a:p>
        </p:txBody>
      </p:sp>
      <p:sp>
        <p:nvSpPr>
          <p:cNvPr id="63" name="Google Shape;51;p5"/>
          <p:cNvSpPr/>
          <p:nvPr/>
        </p:nvSpPr>
        <p:spPr>
          <a:xfrm>
            <a:off x="812880" y="1272600"/>
            <a:ext cx="10883160" cy="527760"/>
          </a:xfrm>
          <a:prstGeom prst="rect">
            <a:avLst/>
          </a:prstGeom>
          <a:noFill/>
          <a:ln w="0">
            <a:noFill/>
          </a:ln>
        </p:spPr>
        <p:style>
          <a:lnRef idx="0"/>
          <a:fillRef idx="0"/>
          <a:effectRef idx="0"/>
          <a:fontRef idx="minor"/>
        </p:style>
        <p:txBody>
          <a:bodyPr lIns="0" tIns="0" rIns="0" bIns="0" anchor="t">
            <a:noAutofit/>
          </a:bodyPr>
          <a:p>
            <a:pPr>
              <a:lnSpc>
                <a:spcPct val="110000"/>
              </a:lnSpc>
              <a:tabLst>
                <a:tab pos="0" algn="l"/>
              </a:tabLst>
            </a:pPr>
            <a:r>
              <a:rPr lang="en-US" sz="3600" b="1" u="none" strike="noStrike">
                <a:solidFill>
                  <a:srgbClr val="1F3A30"/>
                </a:solidFill>
                <a:effectLst/>
                <a:uFillTx/>
                <a:latin typeface="Rubik"/>
                <a:ea typeface="Rubik"/>
              </a:rPr>
              <a:t>Proposed Solution &amp; Innovation</a:t>
            </a:r>
            <a:endParaRPr lang="en-IN" sz="3600" b="0" u="none" strike="noStrike">
              <a:solidFill>
                <a:srgbClr val="000000"/>
              </a:solidFill>
              <a:effectLst/>
              <a:uFillTx/>
              <a:latin typeface="Arial"/>
            </a:endParaRPr>
          </a:p>
        </p:txBody>
      </p:sp>
      <p:sp>
        <p:nvSpPr>
          <p:cNvPr id="64" name="Google Shape;53;p5"/>
          <p:cNvSpPr/>
          <p:nvPr/>
        </p:nvSpPr>
        <p:spPr>
          <a:xfrm>
            <a:off x="812880" y="6238440"/>
            <a:ext cx="10883160" cy="238320"/>
          </a:xfrm>
          <a:prstGeom prst="rect">
            <a:avLst/>
          </a:prstGeom>
          <a:noFill/>
          <a:ln w="0">
            <a:noFill/>
          </a:ln>
        </p:spPr>
        <p:style>
          <a:lnRef idx="0"/>
          <a:fillRef idx="0"/>
          <a:effectRef idx="0"/>
          <a:fontRef idx="minor"/>
        </p:style>
        <p:txBody>
          <a:bodyPr lIns="0" tIns="0" rIns="0" bIns="0" anchor="t">
            <a:noAutofit/>
          </a:bodyPr>
          <a:p>
            <a:pPr>
              <a:lnSpc>
                <a:spcPct val="140000"/>
              </a:lnSpc>
              <a:tabLst>
                <a:tab pos="0" algn="l"/>
              </a:tabLst>
            </a:pPr>
            <a:r>
              <a:rPr lang="en-US" sz="1200" b="0" u="none" strike="noStrike">
                <a:solidFill>
                  <a:srgbClr val="6B7A72"/>
                </a:solidFill>
                <a:effectLst/>
                <a:uFillTx/>
                <a:latin typeface="DM Sans"/>
                <a:ea typeface="DM Sans"/>
              </a:rPr>
              <a:t>Tech4Food 2026 · New Era of Smarter Food Safety · PCCOE, Pune · 03</a:t>
            </a:r>
            <a:endParaRPr lang="en-IN" sz="1200" b="0" u="none" strike="noStrike">
              <a:solidFill>
                <a:srgbClr val="000000"/>
              </a:solidFill>
              <a:effectLst/>
              <a:uFillTx/>
              <a:latin typeface="Arial"/>
            </a:endParaRPr>
          </a:p>
        </p:txBody>
      </p:sp>
      <p:sp>
        <p:nvSpPr>
          <p:cNvPr id="65" name="TextBox 53"/>
          <p:cNvSpPr/>
          <p:nvPr/>
        </p:nvSpPr>
        <p:spPr>
          <a:xfrm>
            <a:off x="813960" y="2066400"/>
            <a:ext cx="10881000" cy="310680"/>
          </a:xfrm>
          <a:prstGeom prst="rect">
            <a:avLst/>
          </a:prstGeom>
          <a:noFill/>
          <a:ln w="0">
            <a:noFill/>
          </a:ln>
        </p:spPr>
        <p:style>
          <a:lnRef idx="0"/>
          <a:fillRef idx="0"/>
          <a:effectRef idx="0"/>
          <a:fontRef idx="minor"/>
        </p:style>
        <p:txBody>
          <a:bodyPr lIns="0" tIns="0" rIns="0" bIns="0" anchor="t">
            <a:spAutoFit/>
          </a:bodyPr>
          <a:p>
            <a:pPr>
              <a:lnSpc>
                <a:spcPct val="100000"/>
              </a:lnSpc>
            </a:pPr>
            <a:r>
              <a:rPr lang="en-IN" sz="1200" b="0" u="none" strike="noStrike">
                <a:solidFill>
                  <a:srgbClr val="1F3A30"/>
                </a:solidFill>
                <a:effectLst/>
                <a:uFillTx/>
                <a:latin typeface="DM Sans"/>
                <a:ea typeface="Arial"/>
              </a:rPr>
              <a:t>A printed card with two reagent zones. One drop of the sample, one photo, one verdict with a confidence you can argue with.</a:t>
            </a:r>
            <a:endParaRPr lang="en-IN" sz="1200" b="0" u="none" strike="noStrike">
              <a:solidFill>
                <a:srgbClr val="000000"/>
              </a:solidFill>
              <a:effectLst/>
              <a:uFillTx/>
              <a:latin typeface="Arial"/>
            </a:endParaRPr>
          </a:p>
        </p:txBody>
      </p:sp>
      <p:sp>
        <p:nvSpPr>
          <p:cNvPr id="66" name="Rounded Rectangle 54"/>
          <p:cNvSpPr/>
          <p:nvPr/>
        </p:nvSpPr>
        <p:spPr>
          <a:xfrm>
            <a:off x="813960" y="2523600"/>
            <a:ext cx="2011320" cy="1170000"/>
          </a:xfrm>
          <a:prstGeom prst="roundRect">
            <a:avLst>
              <a:gd name="adj" fmla="val 10000"/>
            </a:avLst>
          </a:prstGeom>
          <a:solidFill>
            <a:srgbClr val="F4F1E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IN" sz="1400" b="0" u="none" strike="noStrike">
              <a:solidFill>
                <a:schemeClr val="lt1"/>
              </a:solidFill>
              <a:effectLst/>
              <a:uFillTx/>
              <a:latin typeface="Arial"/>
            </a:endParaRPr>
          </a:p>
        </p:txBody>
      </p:sp>
      <p:sp>
        <p:nvSpPr>
          <p:cNvPr id="67" name="TextBox 55"/>
          <p:cNvSpPr/>
          <p:nvPr/>
        </p:nvSpPr>
        <p:spPr>
          <a:xfrm>
            <a:off x="978480" y="2651760"/>
            <a:ext cx="1682280" cy="932400"/>
          </a:xfrm>
          <a:prstGeom prst="rect">
            <a:avLst/>
          </a:prstGeom>
          <a:noFill/>
          <a:ln w="0">
            <a:noFill/>
          </a:ln>
        </p:spPr>
        <p:style>
          <a:lnRef idx="0"/>
          <a:fillRef idx="0"/>
          <a:effectRef idx="0"/>
          <a:fontRef idx="minor"/>
        </p:style>
        <p:txBody>
          <a:bodyPr lIns="0" tIns="0" rIns="0" bIns="0" anchor="t">
            <a:spAutoFit/>
          </a:bodyPr>
          <a:p>
            <a:pPr>
              <a:lnSpc>
                <a:spcPct val="100000"/>
              </a:lnSpc>
              <a:spcAft>
                <a:spcPts val="201"/>
              </a:spcAft>
            </a:pPr>
            <a:r>
              <a:rPr lang="en-IN" sz="1250" b="1" u="none" strike="noStrike">
                <a:solidFill>
                  <a:srgbClr val="B88F14"/>
                </a:solidFill>
                <a:effectLst/>
                <a:uFillTx/>
                <a:latin typeface="Rubik"/>
                <a:ea typeface="Arial"/>
              </a:rPr>
              <a:t>01</a:t>
            </a:r>
            <a:endParaRPr lang="en-IN" sz="1250" b="0" u="none" strike="noStrike">
              <a:solidFill>
                <a:srgbClr val="000000"/>
              </a:solidFill>
              <a:effectLst/>
              <a:uFillTx/>
              <a:latin typeface="Arial"/>
            </a:endParaRPr>
          </a:p>
          <a:p>
            <a:pPr>
              <a:lnSpc>
                <a:spcPct val="100000"/>
              </a:lnSpc>
              <a:spcAft>
                <a:spcPts val="300"/>
              </a:spcAft>
            </a:pPr>
            <a:r>
              <a:rPr lang="en-IN" sz="1000" b="1" u="none" strike="noStrike">
                <a:solidFill>
                  <a:srgbClr val="2A4A3E"/>
                </a:solidFill>
                <a:effectLst/>
                <a:uFillTx/>
                <a:latin typeface="Rubik"/>
                <a:ea typeface="Arial"/>
              </a:rPr>
              <a:t>Print the card</a:t>
            </a:r>
            <a:endParaRPr lang="en-IN" sz="1000" b="0" u="none" strike="noStrike">
              <a:solidFill>
                <a:srgbClr val="000000"/>
              </a:solidFill>
              <a:effectLst/>
              <a:uFillTx/>
              <a:latin typeface="Arial"/>
            </a:endParaRPr>
          </a:p>
          <a:p>
            <a:pPr>
              <a:lnSpc>
                <a:spcPct val="110000"/>
              </a:lnSpc>
            </a:pPr>
            <a:r>
              <a:rPr lang="en-IN" sz="800" b="0" u="none" strike="noStrike">
                <a:solidFill>
                  <a:srgbClr val="6B7A72"/>
                </a:solidFill>
                <a:effectLst/>
                <a:uFillTx/>
                <a:latin typeface="DM Sans"/>
                <a:ea typeface="Arial"/>
              </a:rPr>
              <a:t>White, grey and black patches plus two reaction zones</a:t>
            </a:r>
            <a:endParaRPr lang="en-IN" sz="800" b="0" u="none" strike="noStrike">
              <a:solidFill>
                <a:srgbClr val="000000"/>
              </a:solidFill>
              <a:effectLst/>
              <a:uFillTx/>
              <a:latin typeface="Arial"/>
            </a:endParaRPr>
          </a:p>
        </p:txBody>
      </p:sp>
      <p:sp>
        <p:nvSpPr>
          <p:cNvPr id="68" name="Isosceles Triangle 56"/>
          <p:cNvSpPr/>
          <p:nvPr/>
        </p:nvSpPr>
        <p:spPr>
          <a:xfrm rot="5400000">
            <a:off x="2857680" y="3026520"/>
            <a:ext cx="141480" cy="164160"/>
          </a:xfrm>
          <a:prstGeom prst="triangle">
            <a:avLst>
              <a:gd name="adj" fmla="val 50000"/>
            </a:avLst>
          </a:prstGeom>
          <a:solidFill>
            <a:srgbClr val="9DB3A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440" rIns="90000" bIns="37440" anchor="ctr">
            <a:noAutofit/>
          </a:bodyPr>
          <a:p>
            <a:pPr/>
            <a:endParaRPr lang="en-IN" sz="1400" b="0" u="none" strike="noStrike">
              <a:solidFill>
                <a:schemeClr val="lt1"/>
              </a:solidFill>
              <a:effectLst/>
              <a:uFillTx/>
              <a:latin typeface="Arial"/>
            </a:endParaRPr>
          </a:p>
        </p:txBody>
      </p:sp>
      <p:sp>
        <p:nvSpPr>
          <p:cNvPr id="69" name="Rounded Rectangle 57"/>
          <p:cNvSpPr/>
          <p:nvPr/>
        </p:nvSpPr>
        <p:spPr>
          <a:xfrm>
            <a:off x="3031200" y="2523600"/>
            <a:ext cx="2011320" cy="1170000"/>
          </a:xfrm>
          <a:prstGeom prst="roundRect">
            <a:avLst>
              <a:gd name="adj" fmla="val 10000"/>
            </a:avLst>
          </a:prstGeom>
          <a:solidFill>
            <a:srgbClr val="F4F1E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IN" sz="1400" b="0" u="none" strike="noStrike">
              <a:solidFill>
                <a:schemeClr val="lt1"/>
              </a:solidFill>
              <a:effectLst/>
              <a:uFillTx/>
              <a:latin typeface="Arial"/>
            </a:endParaRPr>
          </a:p>
        </p:txBody>
      </p:sp>
      <p:sp>
        <p:nvSpPr>
          <p:cNvPr id="70" name="TextBox 58"/>
          <p:cNvSpPr/>
          <p:nvPr/>
        </p:nvSpPr>
        <p:spPr>
          <a:xfrm>
            <a:off x="3195720" y="2651760"/>
            <a:ext cx="1682280" cy="932400"/>
          </a:xfrm>
          <a:prstGeom prst="rect">
            <a:avLst/>
          </a:prstGeom>
          <a:noFill/>
          <a:ln w="0">
            <a:noFill/>
          </a:ln>
        </p:spPr>
        <p:style>
          <a:lnRef idx="0"/>
          <a:fillRef idx="0"/>
          <a:effectRef idx="0"/>
          <a:fontRef idx="minor"/>
        </p:style>
        <p:txBody>
          <a:bodyPr lIns="0" tIns="0" rIns="0" bIns="0" anchor="t">
            <a:spAutoFit/>
          </a:bodyPr>
          <a:p>
            <a:pPr>
              <a:lnSpc>
                <a:spcPct val="100000"/>
              </a:lnSpc>
              <a:spcAft>
                <a:spcPts val="201"/>
              </a:spcAft>
            </a:pPr>
            <a:r>
              <a:rPr lang="en-IN" sz="1250" b="1" u="none" strike="noStrike">
                <a:solidFill>
                  <a:srgbClr val="B88F14"/>
                </a:solidFill>
                <a:effectLst/>
                <a:uFillTx/>
                <a:latin typeface="Rubik"/>
                <a:ea typeface="Arial"/>
              </a:rPr>
              <a:t>02</a:t>
            </a:r>
            <a:endParaRPr lang="en-IN" sz="1250" b="0" u="none" strike="noStrike">
              <a:solidFill>
                <a:srgbClr val="000000"/>
              </a:solidFill>
              <a:effectLst/>
              <a:uFillTx/>
              <a:latin typeface="Arial"/>
            </a:endParaRPr>
          </a:p>
          <a:p>
            <a:pPr>
              <a:lnSpc>
                <a:spcPct val="100000"/>
              </a:lnSpc>
              <a:spcAft>
                <a:spcPts val="300"/>
              </a:spcAft>
            </a:pPr>
            <a:r>
              <a:rPr lang="en-IN" sz="1000" b="1" u="none" strike="noStrike">
                <a:solidFill>
                  <a:srgbClr val="2A4A3E"/>
                </a:solidFill>
                <a:effectLst/>
                <a:uFillTx/>
                <a:latin typeface="Rubik"/>
                <a:ea typeface="Arial"/>
              </a:rPr>
              <a:t>Add one drop</a:t>
            </a:r>
            <a:endParaRPr lang="en-IN" sz="1000" b="0" u="none" strike="noStrike">
              <a:solidFill>
                <a:srgbClr val="000000"/>
              </a:solidFill>
              <a:effectLst/>
              <a:uFillTx/>
              <a:latin typeface="Arial"/>
            </a:endParaRPr>
          </a:p>
          <a:p>
            <a:pPr>
              <a:lnSpc>
                <a:spcPct val="110000"/>
              </a:lnSpc>
            </a:pPr>
            <a:r>
              <a:rPr lang="en-IN" sz="800" b="0" u="none" strike="noStrike">
                <a:solidFill>
                  <a:srgbClr val="6B7A72"/>
                </a:solidFill>
                <a:effectLst/>
                <a:uFillTx/>
                <a:latin typeface="DM Sans"/>
                <a:ea typeface="Arial"/>
              </a:rPr>
              <a:t>Iodine for starch, methylene blue for detergent</a:t>
            </a:r>
            <a:endParaRPr lang="en-IN" sz="800" b="0" u="none" strike="noStrike">
              <a:solidFill>
                <a:srgbClr val="000000"/>
              </a:solidFill>
              <a:effectLst/>
              <a:uFillTx/>
              <a:latin typeface="Arial"/>
            </a:endParaRPr>
          </a:p>
        </p:txBody>
      </p:sp>
      <p:sp>
        <p:nvSpPr>
          <p:cNvPr id="71" name="Isosceles Triangle 59"/>
          <p:cNvSpPr/>
          <p:nvPr/>
        </p:nvSpPr>
        <p:spPr>
          <a:xfrm rot="5400000">
            <a:off x="5074920" y="3026520"/>
            <a:ext cx="141480" cy="164160"/>
          </a:xfrm>
          <a:prstGeom prst="triangle">
            <a:avLst>
              <a:gd name="adj" fmla="val 50000"/>
            </a:avLst>
          </a:prstGeom>
          <a:solidFill>
            <a:srgbClr val="9DB3A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440" rIns="90000" bIns="37440" anchor="ctr">
            <a:noAutofit/>
          </a:bodyPr>
          <a:p>
            <a:pPr/>
            <a:endParaRPr lang="en-IN" sz="1400" b="0" u="none" strike="noStrike">
              <a:solidFill>
                <a:schemeClr val="lt1"/>
              </a:solidFill>
              <a:effectLst/>
              <a:uFillTx/>
              <a:latin typeface="Arial"/>
            </a:endParaRPr>
          </a:p>
        </p:txBody>
      </p:sp>
      <p:sp>
        <p:nvSpPr>
          <p:cNvPr id="72" name="Rounded Rectangle 60"/>
          <p:cNvSpPr/>
          <p:nvPr/>
        </p:nvSpPr>
        <p:spPr>
          <a:xfrm>
            <a:off x="5248800" y="2523600"/>
            <a:ext cx="2011320" cy="1170000"/>
          </a:xfrm>
          <a:prstGeom prst="roundRect">
            <a:avLst>
              <a:gd name="adj" fmla="val 10000"/>
            </a:avLst>
          </a:prstGeom>
          <a:solidFill>
            <a:srgbClr val="F4F1E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IN" sz="1400" b="0" u="none" strike="noStrike">
              <a:solidFill>
                <a:schemeClr val="lt1"/>
              </a:solidFill>
              <a:effectLst/>
              <a:uFillTx/>
              <a:latin typeface="Arial"/>
            </a:endParaRPr>
          </a:p>
        </p:txBody>
      </p:sp>
      <p:sp>
        <p:nvSpPr>
          <p:cNvPr id="73" name="TextBox 61"/>
          <p:cNvSpPr/>
          <p:nvPr/>
        </p:nvSpPr>
        <p:spPr>
          <a:xfrm>
            <a:off x="5413320" y="2651760"/>
            <a:ext cx="1682280" cy="932400"/>
          </a:xfrm>
          <a:prstGeom prst="rect">
            <a:avLst/>
          </a:prstGeom>
          <a:noFill/>
          <a:ln w="0">
            <a:noFill/>
          </a:ln>
        </p:spPr>
        <p:style>
          <a:lnRef idx="0"/>
          <a:fillRef idx="0"/>
          <a:effectRef idx="0"/>
          <a:fontRef idx="minor"/>
        </p:style>
        <p:txBody>
          <a:bodyPr lIns="0" tIns="0" rIns="0" bIns="0" anchor="t">
            <a:spAutoFit/>
          </a:bodyPr>
          <a:p>
            <a:pPr>
              <a:lnSpc>
                <a:spcPct val="100000"/>
              </a:lnSpc>
              <a:spcAft>
                <a:spcPts val="201"/>
              </a:spcAft>
            </a:pPr>
            <a:r>
              <a:rPr lang="en-IN" sz="1250" b="1" u="none" strike="noStrike">
                <a:solidFill>
                  <a:srgbClr val="B88F14"/>
                </a:solidFill>
                <a:effectLst/>
                <a:uFillTx/>
                <a:latin typeface="Rubik"/>
                <a:ea typeface="Arial"/>
              </a:rPr>
              <a:t>03</a:t>
            </a:r>
            <a:endParaRPr lang="en-IN" sz="1250" b="0" u="none" strike="noStrike">
              <a:solidFill>
                <a:srgbClr val="000000"/>
              </a:solidFill>
              <a:effectLst/>
              <a:uFillTx/>
              <a:latin typeface="Arial"/>
            </a:endParaRPr>
          </a:p>
          <a:p>
            <a:pPr>
              <a:lnSpc>
                <a:spcPct val="100000"/>
              </a:lnSpc>
              <a:spcAft>
                <a:spcPts val="300"/>
              </a:spcAft>
            </a:pPr>
            <a:r>
              <a:rPr lang="en-IN" sz="1000" b="1" u="none" strike="noStrike">
                <a:solidFill>
                  <a:srgbClr val="2A4A3E"/>
                </a:solidFill>
                <a:effectLst/>
                <a:uFillTx/>
                <a:latin typeface="Rubik"/>
                <a:ea typeface="Arial"/>
              </a:rPr>
              <a:t>Photograph it</a:t>
            </a:r>
            <a:endParaRPr lang="en-IN" sz="1000" b="0" u="none" strike="noStrike">
              <a:solidFill>
                <a:srgbClr val="000000"/>
              </a:solidFill>
              <a:effectLst/>
              <a:uFillTx/>
              <a:latin typeface="Arial"/>
            </a:endParaRPr>
          </a:p>
          <a:p>
            <a:pPr>
              <a:lnSpc>
                <a:spcPct val="110000"/>
              </a:lnSpc>
            </a:pPr>
            <a:r>
              <a:rPr lang="en-IN" sz="800" b="0" u="none" strike="noStrike">
                <a:solidFill>
                  <a:srgbClr val="6B7A72"/>
                </a:solidFill>
                <a:effectLst/>
                <a:uFillTx/>
                <a:latin typeface="DM Sans"/>
                <a:ea typeface="Arial"/>
              </a:rPr>
              <a:t>Any phone camera, any light, no app store</a:t>
            </a:r>
            <a:endParaRPr lang="en-IN" sz="800" b="0" u="none" strike="noStrike">
              <a:solidFill>
                <a:srgbClr val="000000"/>
              </a:solidFill>
              <a:effectLst/>
              <a:uFillTx/>
              <a:latin typeface="Arial"/>
            </a:endParaRPr>
          </a:p>
        </p:txBody>
      </p:sp>
      <p:sp>
        <p:nvSpPr>
          <p:cNvPr id="74" name="Isosceles Triangle 62"/>
          <p:cNvSpPr/>
          <p:nvPr/>
        </p:nvSpPr>
        <p:spPr>
          <a:xfrm rot="5400000">
            <a:off x="7292520" y="3026520"/>
            <a:ext cx="141480" cy="164160"/>
          </a:xfrm>
          <a:prstGeom prst="triangle">
            <a:avLst>
              <a:gd name="adj" fmla="val 50000"/>
            </a:avLst>
          </a:prstGeom>
          <a:solidFill>
            <a:srgbClr val="9DB3A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440" rIns="90000" bIns="37440" anchor="ctr">
            <a:noAutofit/>
          </a:bodyPr>
          <a:p>
            <a:pPr/>
            <a:endParaRPr lang="en-IN" sz="1400" b="0" u="none" strike="noStrike">
              <a:solidFill>
                <a:schemeClr val="lt1"/>
              </a:solidFill>
              <a:effectLst/>
              <a:uFillTx/>
              <a:latin typeface="Arial"/>
            </a:endParaRPr>
          </a:p>
        </p:txBody>
      </p:sp>
      <p:sp>
        <p:nvSpPr>
          <p:cNvPr id="75" name="Rounded Rectangle 63"/>
          <p:cNvSpPr/>
          <p:nvPr/>
        </p:nvSpPr>
        <p:spPr>
          <a:xfrm>
            <a:off x="7466040" y="2523600"/>
            <a:ext cx="2011320" cy="1170000"/>
          </a:xfrm>
          <a:prstGeom prst="roundRect">
            <a:avLst>
              <a:gd name="adj" fmla="val 10000"/>
            </a:avLst>
          </a:prstGeom>
          <a:solidFill>
            <a:srgbClr val="F4F1E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IN" sz="1400" b="0" u="none" strike="noStrike">
              <a:solidFill>
                <a:schemeClr val="lt1"/>
              </a:solidFill>
              <a:effectLst/>
              <a:uFillTx/>
              <a:latin typeface="Arial"/>
            </a:endParaRPr>
          </a:p>
        </p:txBody>
      </p:sp>
      <p:sp>
        <p:nvSpPr>
          <p:cNvPr id="76" name="TextBox 64"/>
          <p:cNvSpPr/>
          <p:nvPr/>
        </p:nvSpPr>
        <p:spPr>
          <a:xfrm>
            <a:off x="7630560" y="2651760"/>
            <a:ext cx="1682280" cy="932400"/>
          </a:xfrm>
          <a:prstGeom prst="rect">
            <a:avLst/>
          </a:prstGeom>
          <a:noFill/>
          <a:ln w="0">
            <a:noFill/>
          </a:ln>
        </p:spPr>
        <p:style>
          <a:lnRef idx="0"/>
          <a:fillRef idx="0"/>
          <a:effectRef idx="0"/>
          <a:fontRef idx="minor"/>
        </p:style>
        <p:txBody>
          <a:bodyPr lIns="0" tIns="0" rIns="0" bIns="0" anchor="t">
            <a:spAutoFit/>
          </a:bodyPr>
          <a:p>
            <a:pPr>
              <a:lnSpc>
                <a:spcPct val="100000"/>
              </a:lnSpc>
              <a:spcAft>
                <a:spcPts val="201"/>
              </a:spcAft>
            </a:pPr>
            <a:r>
              <a:rPr lang="en-IN" sz="1250" b="1" u="none" strike="noStrike">
                <a:solidFill>
                  <a:srgbClr val="B88F14"/>
                </a:solidFill>
                <a:effectLst/>
                <a:uFillTx/>
                <a:latin typeface="Rubik"/>
                <a:ea typeface="Arial"/>
              </a:rPr>
              <a:t>04</a:t>
            </a:r>
            <a:endParaRPr lang="en-IN" sz="1250" b="0" u="none" strike="noStrike">
              <a:solidFill>
                <a:srgbClr val="000000"/>
              </a:solidFill>
              <a:effectLst/>
              <a:uFillTx/>
              <a:latin typeface="Arial"/>
            </a:endParaRPr>
          </a:p>
          <a:p>
            <a:pPr>
              <a:lnSpc>
                <a:spcPct val="100000"/>
              </a:lnSpc>
              <a:spcAft>
                <a:spcPts val="300"/>
              </a:spcAft>
            </a:pPr>
            <a:r>
              <a:rPr lang="en-IN" sz="1000" b="1" u="none" strike="noStrike">
                <a:solidFill>
                  <a:srgbClr val="2A4A3E"/>
                </a:solidFill>
                <a:effectLst/>
                <a:uFillTx/>
                <a:latin typeface="Rubik"/>
                <a:ea typeface="Arial"/>
              </a:rPr>
              <a:t>Read the colour</a:t>
            </a:r>
            <a:endParaRPr lang="en-IN" sz="1000" b="0" u="none" strike="noStrike">
              <a:solidFill>
                <a:srgbClr val="000000"/>
              </a:solidFill>
              <a:effectLst/>
              <a:uFillTx/>
              <a:latin typeface="Arial"/>
            </a:endParaRPr>
          </a:p>
          <a:p>
            <a:pPr>
              <a:lnSpc>
                <a:spcPct val="110000"/>
              </a:lnSpc>
            </a:pPr>
            <a:r>
              <a:rPr lang="en-IN" sz="800" b="0" u="none" strike="noStrike">
                <a:solidFill>
                  <a:srgbClr val="6B7A72"/>
                </a:solidFill>
                <a:effectLst/>
                <a:uFillTx/>
                <a:latin typeface="DM Sans"/>
                <a:ea typeface="Arial"/>
              </a:rPr>
              <a:t>The app compares each zone against the printed patches</a:t>
            </a:r>
            <a:endParaRPr lang="en-IN" sz="800" b="0" u="none" strike="noStrike">
              <a:solidFill>
                <a:srgbClr val="000000"/>
              </a:solidFill>
              <a:effectLst/>
              <a:uFillTx/>
              <a:latin typeface="Arial"/>
            </a:endParaRPr>
          </a:p>
        </p:txBody>
      </p:sp>
      <p:sp>
        <p:nvSpPr>
          <p:cNvPr id="77" name="Isosceles Triangle 65"/>
          <p:cNvSpPr/>
          <p:nvPr/>
        </p:nvSpPr>
        <p:spPr>
          <a:xfrm rot="5400000">
            <a:off x="9509760" y="3026520"/>
            <a:ext cx="141480" cy="164160"/>
          </a:xfrm>
          <a:prstGeom prst="triangle">
            <a:avLst>
              <a:gd name="adj" fmla="val 50000"/>
            </a:avLst>
          </a:prstGeom>
          <a:solidFill>
            <a:srgbClr val="9DB3A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440" rIns="90000" bIns="37440" anchor="ctr">
            <a:noAutofit/>
          </a:bodyPr>
          <a:p>
            <a:pPr/>
            <a:endParaRPr lang="en-IN" sz="1400" b="0" u="none" strike="noStrike">
              <a:solidFill>
                <a:schemeClr val="lt1"/>
              </a:solidFill>
              <a:effectLst/>
              <a:uFillTx/>
              <a:latin typeface="Arial"/>
            </a:endParaRPr>
          </a:p>
        </p:txBody>
      </p:sp>
      <p:sp>
        <p:nvSpPr>
          <p:cNvPr id="78" name="Rounded Rectangle 66"/>
          <p:cNvSpPr/>
          <p:nvPr/>
        </p:nvSpPr>
        <p:spPr>
          <a:xfrm>
            <a:off x="9683640" y="2523600"/>
            <a:ext cx="2011320" cy="1170000"/>
          </a:xfrm>
          <a:prstGeom prst="roundRect">
            <a:avLst>
              <a:gd name="adj" fmla="val 10000"/>
            </a:avLst>
          </a:prstGeom>
          <a:solidFill>
            <a:srgbClr val="F4F1E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IN" sz="1400" b="0" u="none" strike="noStrike">
              <a:solidFill>
                <a:schemeClr val="lt1"/>
              </a:solidFill>
              <a:effectLst/>
              <a:uFillTx/>
              <a:latin typeface="Arial"/>
            </a:endParaRPr>
          </a:p>
        </p:txBody>
      </p:sp>
      <p:sp>
        <p:nvSpPr>
          <p:cNvPr id="79" name="TextBox 67"/>
          <p:cNvSpPr/>
          <p:nvPr/>
        </p:nvSpPr>
        <p:spPr>
          <a:xfrm>
            <a:off x="9848160" y="2651760"/>
            <a:ext cx="1682280" cy="932400"/>
          </a:xfrm>
          <a:prstGeom prst="rect">
            <a:avLst/>
          </a:prstGeom>
          <a:noFill/>
          <a:ln w="0">
            <a:noFill/>
          </a:ln>
        </p:spPr>
        <p:style>
          <a:lnRef idx="0"/>
          <a:fillRef idx="0"/>
          <a:effectRef idx="0"/>
          <a:fontRef idx="minor"/>
        </p:style>
        <p:txBody>
          <a:bodyPr lIns="0" tIns="0" rIns="0" bIns="0" anchor="t">
            <a:spAutoFit/>
          </a:bodyPr>
          <a:p>
            <a:pPr>
              <a:lnSpc>
                <a:spcPct val="100000"/>
              </a:lnSpc>
              <a:spcAft>
                <a:spcPts val="201"/>
              </a:spcAft>
            </a:pPr>
            <a:r>
              <a:rPr lang="en-IN" sz="1250" b="1" u="none" strike="noStrike">
                <a:solidFill>
                  <a:srgbClr val="B88F14"/>
                </a:solidFill>
                <a:effectLst/>
                <a:uFillTx/>
                <a:latin typeface="Rubik"/>
                <a:ea typeface="Arial"/>
              </a:rPr>
              <a:t>05</a:t>
            </a:r>
            <a:endParaRPr lang="en-IN" sz="1250" b="0" u="none" strike="noStrike">
              <a:solidFill>
                <a:srgbClr val="000000"/>
              </a:solidFill>
              <a:effectLst/>
              <a:uFillTx/>
              <a:latin typeface="Arial"/>
            </a:endParaRPr>
          </a:p>
          <a:p>
            <a:pPr>
              <a:lnSpc>
                <a:spcPct val="100000"/>
              </a:lnSpc>
              <a:spcAft>
                <a:spcPts val="300"/>
              </a:spcAft>
            </a:pPr>
            <a:r>
              <a:rPr lang="en-IN" sz="1000" b="1" u="none" strike="noStrike">
                <a:solidFill>
                  <a:srgbClr val="2A4A3E"/>
                </a:solidFill>
                <a:effectLst/>
                <a:uFillTx/>
                <a:latin typeface="Rubik"/>
                <a:ea typeface="Arial"/>
              </a:rPr>
              <a:t>Keep the record</a:t>
            </a:r>
            <a:endParaRPr lang="en-IN" sz="1000" b="0" u="none" strike="noStrike">
              <a:solidFill>
                <a:srgbClr val="000000"/>
              </a:solidFill>
              <a:effectLst/>
              <a:uFillTx/>
              <a:latin typeface="Arial"/>
            </a:endParaRPr>
          </a:p>
          <a:p>
            <a:pPr>
              <a:lnSpc>
                <a:spcPct val="110000"/>
              </a:lnSpc>
            </a:pPr>
            <a:r>
              <a:rPr lang="en-IN" sz="800" b="0" u="none" strike="noStrike">
                <a:solidFill>
                  <a:srgbClr val="6B7A72"/>
                </a:solidFill>
                <a:effectLst/>
                <a:uFillTx/>
                <a:latin typeface="DM Sans"/>
                <a:ea typeface="Arial"/>
              </a:rPr>
              <a:t>Every test is logged and gets a PDF with a QR code</a:t>
            </a:r>
            <a:endParaRPr lang="en-IN" sz="800" b="0" u="none" strike="noStrike">
              <a:solidFill>
                <a:srgbClr val="000000"/>
              </a:solidFill>
              <a:effectLst/>
              <a:uFillTx/>
              <a:latin typeface="Arial"/>
            </a:endParaRPr>
          </a:p>
        </p:txBody>
      </p:sp>
      <p:sp>
        <p:nvSpPr>
          <p:cNvPr id="80" name="TextBox 68"/>
          <p:cNvSpPr/>
          <p:nvPr/>
        </p:nvSpPr>
        <p:spPr>
          <a:xfrm>
            <a:off x="813960" y="3877200"/>
            <a:ext cx="5120280" cy="155160"/>
          </a:xfrm>
          <a:prstGeom prst="rect">
            <a:avLst/>
          </a:prstGeom>
          <a:noFill/>
          <a:ln w="0">
            <a:noFill/>
          </a:ln>
        </p:spPr>
        <p:style>
          <a:lnRef idx="0"/>
          <a:fillRef idx="0"/>
          <a:effectRef idx="0"/>
          <a:fontRef idx="minor"/>
        </p:style>
        <p:txBody>
          <a:bodyPr lIns="0" tIns="0" rIns="0" bIns="0" anchor="t">
            <a:spAutoFit/>
          </a:bodyPr>
          <a:p>
            <a:pPr>
              <a:lnSpc>
                <a:spcPct val="100000"/>
              </a:lnSpc>
            </a:pPr>
            <a:r>
              <a:rPr lang="en-IN" sz="820" b="1" u="none" strike="noStrike">
                <a:solidFill>
                  <a:srgbClr val="6B7A72"/>
                </a:solidFill>
                <a:effectLst/>
                <a:uFillTx/>
                <a:latin typeface="DM Sans"/>
                <a:ea typeface="Arial"/>
              </a:rPr>
              <a:t>WHAT IT CALLS OUT</a:t>
            </a:r>
            <a:endParaRPr lang="en-IN" sz="820" b="0" u="none" strike="noStrike">
              <a:solidFill>
                <a:srgbClr val="000000"/>
              </a:solidFill>
              <a:effectLst/>
              <a:uFillTx/>
              <a:latin typeface="Arial"/>
            </a:endParaRPr>
          </a:p>
        </p:txBody>
      </p:sp>
      <p:sp>
        <p:nvSpPr>
          <p:cNvPr id="81" name="Rounded Rectangle 69"/>
          <p:cNvSpPr/>
          <p:nvPr/>
        </p:nvSpPr>
        <p:spPr>
          <a:xfrm>
            <a:off x="813960" y="4060080"/>
            <a:ext cx="859320" cy="292320"/>
          </a:xfrm>
          <a:prstGeom prst="roundRect">
            <a:avLst>
              <a:gd name="adj" fmla="val 45000"/>
            </a:avLst>
          </a:prstGeom>
          <a:solidFill>
            <a:srgbClr val="FFFFFF"/>
          </a:solidFill>
          <a:ln>
            <a:solidFill>
              <a:srgbClr val="DCD6C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IN" sz="1400" b="0" u="none" strike="noStrike">
              <a:solidFill>
                <a:schemeClr val="lt1"/>
              </a:solidFill>
              <a:effectLst/>
              <a:uFillTx/>
              <a:latin typeface="Arial"/>
            </a:endParaRPr>
          </a:p>
        </p:txBody>
      </p:sp>
      <p:sp>
        <p:nvSpPr>
          <p:cNvPr id="82" name="TextBox 70"/>
          <p:cNvSpPr/>
          <p:nvPr/>
        </p:nvSpPr>
        <p:spPr>
          <a:xfrm>
            <a:off x="868680" y="4060080"/>
            <a:ext cx="749520" cy="292320"/>
          </a:xfrm>
          <a:prstGeom prst="rect">
            <a:avLst/>
          </a:prstGeom>
          <a:noFill/>
          <a:ln w="0">
            <a:noFill/>
          </a:ln>
        </p:spPr>
        <p:style>
          <a:lnRef idx="0"/>
          <a:fillRef idx="0"/>
          <a:effectRef idx="0"/>
          <a:fontRef idx="minor"/>
        </p:style>
        <p:txBody>
          <a:bodyPr lIns="0" tIns="0" rIns="0" bIns="0" anchor="ctr">
            <a:spAutoFit/>
          </a:bodyPr>
          <a:p>
            <a:pPr algn="ctr">
              <a:lnSpc>
                <a:spcPct val="100000"/>
              </a:lnSpc>
            </a:pPr>
            <a:r>
              <a:rPr lang="en-IN" sz="839" b="0" u="none" strike="noStrike">
                <a:solidFill>
                  <a:srgbClr val="1F3A30"/>
                </a:solidFill>
                <a:effectLst/>
                <a:uFillTx/>
                <a:latin typeface="DM Sans"/>
                <a:ea typeface="Arial"/>
              </a:rPr>
              <a:t>Starch</a:t>
            </a:r>
            <a:endParaRPr lang="en-IN" sz="839" b="0" u="none" strike="noStrike">
              <a:solidFill>
                <a:srgbClr val="000000"/>
              </a:solidFill>
              <a:effectLst/>
              <a:uFillTx/>
              <a:latin typeface="Arial"/>
            </a:endParaRPr>
          </a:p>
        </p:txBody>
      </p:sp>
      <p:sp>
        <p:nvSpPr>
          <p:cNvPr id="83" name="Rounded Rectangle 71"/>
          <p:cNvSpPr/>
          <p:nvPr/>
        </p:nvSpPr>
        <p:spPr>
          <a:xfrm>
            <a:off x="1764720" y="4060080"/>
            <a:ext cx="1060200" cy="292320"/>
          </a:xfrm>
          <a:prstGeom prst="roundRect">
            <a:avLst>
              <a:gd name="adj" fmla="val 45000"/>
            </a:avLst>
          </a:prstGeom>
          <a:solidFill>
            <a:srgbClr val="FFFFFF"/>
          </a:solidFill>
          <a:ln>
            <a:solidFill>
              <a:srgbClr val="DCD6C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IN" sz="1400" b="0" u="none" strike="noStrike">
              <a:solidFill>
                <a:schemeClr val="lt1"/>
              </a:solidFill>
              <a:effectLst/>
              <a:uFillTx/>
              <a:latin typeface="Arial"/>
            </a:endParaRPr>
          </a:p>
        </p:txBody>
      </p:sp>
      <p:sp>
        <p:nvSpPr>
          <p:cNvPr id="84" name="TextBox 72"/>
          <p:cNvSpPr/>
          <p:nvPr/>
        </p:nvSpPr>
        <p:spPr>
          <a:xfrm>
            <a:off x="1819800" y="4060080"/>
            <a:ext cx="950760" cy="292320"/>
          </a:xfrm>
          <a:prstGeom prst="rect">
            <a:avLst/>
          </a:prstGeom>
          <a:noFill/>
          <a:ln w="0">
            <a:noFill/>
          </a:ln>
        </p:spPr>
        <p:style>
          <a:lnRef idx="0"/>
          <a:fillRef idx="0"/>
          <a:effectRef idx="0"/>
          <a:fontRef idx="minor"/>
        </p:style>
        <p:txBody>
          <a:bodyPr lIns="0" tIns="0" rIns="0" bIns="0" anchor="ctr">
            <a:spAutoFit/>
          </a:bodyPr>
          <a:p>
            <a:pPr algn="ctr">
              <a:lnSpc>
                <a:spcPct val="100000"/>
              </a:lnSpc>
            </a:pPr>
            <a:r>
              <a:rPr lang="en-IN" sz="839" b="0" u="none" strike="noStrike">
                <a:solidFill>
                  <a:srgbClr val="1F3A30"/>
                </a:solidFill>
                <a:effectLst/>
                <a:uFillTx/>
                <a:latin typeface="DM Sans"/>
                <a:ea typeface="Arial"/>
              </a:rPr>
              <a:t>Detergent</a:t>
            </a:r>
            <a:endParaRPr lang="en-IN" sz="839" b="0" u="none" strike="noStrike">
              <a:solidFill>
                <a:srgbClr val="000000"/>
              </a:solidFill>
              <a:effectLst/>
              <a:uFillTx/>
              <a:latin typeface="Arial"/>
            </a:endParaRPr>
          </a:p>
        </p:txBody>
      </p:sp>
      <p:sp>
        <p:nvSpPr>
          <p:cNvPr id="85" name="Rounded Rectangle 73"/>
          <p:cNvSpPr/>
          <p:nvPr/>
        </p:nvSpPr>
        <p:spPr>
          <a:xfrm>
            <a:off x="2917080" y="4060080"/>
            <a:ext cx="767880" cy="292320"/>
          </a:xfrm>
          <a:prstGeom prst="roundRect">
            <a:avLst>
              <a:gd name="adj" fmla="val 45000"/>
            </a:avLst>
          </a:prstGeom>
          <a:solidFill>
            <a:srgbClr val="FFFFFF"/>
          </a:solidFill>
          <a:ln>
            <a:solidFill>
              <a:srgbClr val="DCD6C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IN" sz="1400" b="0" u="none" strike="noStrike">
              <a:solidFill>
                <a:schemeClr val="lt1"/>
              </a:solidFill>
              <a:effectLst/>
              <a:uFillTx/>
              <a:latin typeface="Arial"/>
            </a:endParaRPr>
          </a:p>
        </p:txBody>
      </p:sp>
      <p:sp>
        <p:nvSpPr>
          <p:cNvPr id="86" name="TextBox 74"/>
          <p:cNvSpPr/>
          <p:nvPr/>
        </p:nvSpPr>
        <p:spPr>
          <a:xfrm>
            <a:off x="2971800" y="4060080"/>
            <a:ext cx="658080" cy="292320"/>
          </a:xfrm>
          <a:prstGeom prst="rect">
            <a:avLst/>
          </a:prstGeom>
          <a:noFill/>
          <a:ln w="0">
            <a:noFill/>
          </a:ln>
        </p:spPr>
        <p:style>
          <a:lnRef idx="0"/>
          <a:fillRef idx="0"/>
          <a:effectRef idx="0"/>
          <a:fontRef idx="minor"/>
        </p:style>
        <p:txBody>
          <a:bodyPr lIns="0" tIns="0" rIns="0" bIns="0" anchor="ctr">
            <a:spAutoFit/>
          </a:bodyPr>
          <a:p>
            <a:pPr algn="ctr">
              <a:lnSpc>
                <a:spcPct val="100000"/>
              </a:lnSpc>
            </a:pPr>
            <a:r>
              <a:rPr lang="en-IN" sz="839" b="0" u="none" strike="noStrike">
                <a:solidFill>
                  <a:srgbClr val="1F3A30"/>
                </a:solidFill>
                <a:effectLst/>
                <a:uFillTx/>
                <a:latin typeface="DM Sans"/>
                <a:ea typeface="Arial"/>
              </a:rPr>
              <a:t>Both</a:t>
            </a:r>
            <a:endParaRPr lang="en-IN" sz="839" b="0" u="none" strike="noStrike">
              <a:solidFill>
                <a:srgbClr val="000000"/>
              </a:solidFill>
              <a:effectLst/>
              <a:uFillTx/>
              <a:latin typeface="Arial"/>
            </a:endParaRPr>
          </a:p>
        </p:txBody>
      </p:sp>
      <p:sp>
        <p:nvSpPr>
          <p:cNvPr id="87" name="Rounded Rectangle 75"/>
          <p:cNvSpPr/>
          <p:nvPr/>
        </p:nvSpPr>
        <p:spPr>
          <a:xfrm>
            <a:off x="3776400" y="4060080"/>
            <a:ext cx="767880" cy="292320"/>
          </a:xfrm>
          <a:prstGeom prst="roundRect">
            <a:avLst>
              <a:gd name="adj" fmla="val 45000"/>
            </a:avLst>
          </a:prstGeom>
          <a:solidFill>
            <a:srgbClr val="FFFFFF"/>
          </a:solidFill>
          <a:ln>
            <a:solidFill>
              <a:srgbClr val="DCD6C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IN" sz="1400" b="0" u="none" strike="noStrike">
              <a:solidFill>
                <a:schemeClr val="lt1"/>
              </a:solidFill>
              <a:effectLst/>
              <a:uFillTx/>
              <a:latin typeface="Arial"/>
            </a:endParaRPr>
          </a:p>
        </p:txBody>
      </p:sp>
      <p:sp>
        <p:nvSpPr>
          <p:cNvPr id="88" name="TextBox 76"/>
          <p:cNvSpPr/>
          <p:nvPr/>
        </p:nvSpPr>
        <p:spPr>
          <a:xfrm>
            <a:off x="3831480" y="4060080"/>
            <a:ext cx="658080" cy="292320"/>
          </a:xfrm>
          <a:prstGeom prst="rect">
            <a:avLst/>
          </a:prstGeom>
          <a:noFill/>
          <a:ln w="0">
            <a:noFill/>
          </a:ln>
        </p:spPr>
        <p:style>
          <a:lnRef idx="0"/>
          <a:fillRef idx="0"/>
          <a:effectRef idx="0"/>
          <a:fontRef idx="minor"/>
        </p:style>
        <p:txBody>
          <a:bodyPr lIns="0" tIns="0" rIns="0" bIns="0" anchor="ctr">
            <a:spAutoFit/>
          </a:bodyPr>
          <a:p>
            <a:pPr algn="ctr">
              <a:lnSpc>
                <a:spcPct val="100000"/>
              </a:lnSpc>
            </a:pPr>
            <a:r>
              <a:rPr lang="en-IN" sz="839" b="0" u="none" strike="noStrike">
                <a:solidFill>
                  <a:srgbClr val="1F3A30"/>
                </a:solidFill>
                <a:effectLst/>
                <a:uFillTx/>
                <a:latin typeface="DM Sans"/>
                <a:ea typeface="Arial"/>
              </a:rPr>
              <a:t>None</a:t>
            </a:r>
            <a:endParaRPr lang="en-IN" sz="839" b="0" u="none" strike="noStrike">
              <a:solidFill>
                <a:srgbClr val="000000"/>
              </a:solidFill>
              <a:effectLst/>
              <a:uFillTx/>
              <a:latin typeface="Arial"/>
            </a:endParaRPr>
          </a:p>
        </p:txBody>
      </p:sp>
      <p:sp>
        <p:nvSpPr>
          <p:cNvPr id="89" name="Rounded Rectangle 77"/>
          <p:cNvSpPr/>
          <p:nvPr/>
        </p:nvSpPr>
        <p:spPr>
          <a:xfrm>
            <a:off x="4636080" y="4060080"/>
            <a:ext cx="1243080" cy="292320"/>
          </a:xfrm>
          <a:prstGeom prst="roundRect">
            <a:avLst>
              <a:gd name="adj" fmla="val 45000"/>
            </a:avLst>
          </a:prstGeom>
          <a:solidFill>
            <a:srgbClr val="F5C842"/>
          </a:solidFill>
          <a:ln>
            <a:solidFill>
              <a:srgbClr val="DCD6C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IN" sz="1400" b="0" u="none" strike="noStrike">
              <a:solidFill>
                <a:schemeClr val="lt1"/>
              </a:solidFill>
              <a:effectLst/>
              <a:uFillTx/>
              <a:latin typeface="Arial"/>
            </a:endParaRPr>
          </a:p>
        </p:txBody>
      </p:sp>
      <p:sp>
        <p:nvSpPr>
          <p:cNvPr id="90" name="TextBox 78"/>
          <p:cNvSpPr/>
          <p:nvPr/>
        </p:nvSpPr>
        <p:spPr>
          <a:xfrm>
            <a:off x="4690800" y="4060080"/>
            <a:ext cx="1133640" cy="292320"/>
          </a:xfrm>
          <a:prstGeom prst="rect">
            <a:avLst/>
          </a:prstGeom>
          <a:noFill/>
          <a:ln w="0">
            <a:noFill/>
          </a:ln>
        </p:spPr>
        <p:style>
          <a:lnRef idx="0"/>
          <a:fillRef idx="0"/>
          <a:effectRef idx="0"/>
          <a:fontRef idx="minor"/>
        </p:style>
        <p:txBody>
          <a:bodyPr lIns="0" tIns="0" rIns="0" bIns="0" anchor="ctr">
            <a:spAutoFit/>
          </a:bodyPr>
          <a:p>
            <a:pPr algn="ctr">
              <a:lnSpc>
                <a:spcPct val="100000"/>
              </a:lnSpc>
            </a:pPr>
            <a:r>
              <a:rPr lang="en-IN" sz="839" b="0" u="none" strike="noStrike">
                <a:solidFill>
                  <a:srgbClr val="B88F14"/>
                </a:solidFill>
                <a:effectLst/>
                <a:uFillTx/>
                <a:latin typeface="DM Sans"/>
                <a:ea typeface="Arial"/>
              </a:rPr>
              <a:t>Inconclusive</a:t>
            </a:r>
            <a:endParaRPr lang="en-IN" sz="839" b="0" u="none" strike="noStrike">
              <a:solidFill>
                <a:srgbClr val="000000"/>
              </a:solidFill>
              <a:effectLst/>
              <a:uFillTx/>
              <a:latin typeface="Arial"/>
            </a:endParaRPr>
          </a:p>
        </p:txBody>
      </p:sp>
      <p:sp>
        <p:nvSpPr>
          <p:cNvPr id="91" name="TextBox 79"/>
          <p:cNvSpPr/>
          <p:nvPr/>
        </p:nvSpPr>
        <p:spPr>
          <a:xfrm>
            <a:off x="813960" y="4443840"/>
            <a:ext cx="5120280" cy="402120"/>
          </a:xfrm>
          <a:prstGeom prst="rect">
            <a:avLst/>
          </a:prstGeom>
          <a:noFill/>
          <a:ln w="0">
            <a:noFill/>
          </a:ln>
        </p:spPr>
        <p:style>
          <a:lnRef idx="0"/>
          <a:fillRef idx="0"/>
          <a:effectRef idx="0"/>
          <a:fontRef idx="minor"/>
        </p:style>
        <p:txBody>
          <a:bodyPr lIns="0" tIns="0" rIns="0" bIns="0" anchor="t">
            <a:spAutoFit/>
          </a:bodyPr>
          <a:p>
            <a:pPr>
              <a:lnSpc>
                <a:spcPct val="114000"/>
              </a:lnSpc>
            </a:pPr>
            <a:r>
              <a:rPr lang="en-IN" sz="860" b="0" u="none" strike="noStrike">
                <a:solidFill>
                  <a:srgbClr val="6B7A72"/>
                </a:solidFill>
                <a:effectLst/>
                <a:uFillTx/>
                <a:latin typeface="DM Sans"/>
                <a:ea typeface="Arial"/>
              </a:rPr>
              <a:t>Starch turns iodine blue-black. Detergent shifts methylene blue. Both zones are measured as ΔE against the printed reference patches.</a:t>
            </a:r>
            <a:endParaRPr lang="en-IN" sz="860" b="0" u="none" strike="noStrike">
              <a:solidFill>
                <a:srgbClr val="000000"/>
              </a:solidFill>
              <a:effectLst/>
              <a:uFillTx/>
              <a:latin typeface="Arial"/>
            </a:endParaRPr>
          </a:p>
        </p:txBody>
      </p:sp>
      <p:sp>
        <p:nvSpPr>
          <p:cNvPr id="92" name="Rounded Rectangle 80"/>
          <p:cNvSpPr/>
          <p:nvPr/>
        </p:nvSpPr>
        <p:spPr>
          <a:xfrm>
            <a:off x="813960" y="4974480"/>
            <a:ext cx="5120280" cy="1096920"/>
          </a:xfrm>
          <a:prstGeom prst="roundRect">
            <a:avLst>
              <a:gd name="adj" fmla="val 10000"/>
            </a:avLst>
          </a:prstGeom>
          <a:solidFill>
            <a:srgbClr val="F4F1E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IN" sz="1400" b="0" u="none" strike="noStrike">
              <a:solidFill>
                <a:schemeClr val="lt1"/>
              </a:solidFill>
              <a:effectLst/>
              <a:uFillTx/>
              <a:latin typeface="Arial"/>
            </a:endParaRPr>
          </a:p>
        </p:txBody>
      </p:sp>
      <p:sp>
        <p:nvSpPr>
          <p:cNvPr id="93" name="Rectangle 81"/>
          <p:cNvSpPr/>
          <p:nvPr/>
        </p:nvSpPr>
        <p:spPr>
          <a:xfrm>
            <a:off x="813960" y="4974480"/>
            <a:ext cx="5120280" cy="40680"/>
          </a:xfrm>
          <a:prstGeom prst="rect">
            <a:avLst/>
          </a:prstGeom>
          <a:solidFill>
            <a:srgbClr val="F5C84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960" rIns="90000" bIns="-3960" anchor="ctr">
            <a:noAutofit/>
          </a:bodyPr>
          <a:p>
            <a:pPr/>
            <a:endParaRPr lang="en-IN" sz="1400" b="0" u="none" strike="noStrike">
              <a:solidFill>
                <a:schemeClr val="lt1"/>
              </a:solidFill>
              <a:effectLst/>
              <a:uFillTx/>
              <a:latin typeface="Arial"/>
            </a:endParaRPr>
          </a:p>
        </p:txBody>
      </p:sp>
      <p:sp>
        <p:nvSpPr>
          <p:cNvPr id="94" name="TextBox 82"/>
          <p:cNvSpPr/>
          <p:nvPr/>
        </p:nvSpPr>
        <p:spPr>
          <a:xfrm>
            <a:off x="1033200" y="5148000"/>
            <a:ext cx="4681440" cy="785880"/>
          </a:xfrm>
          <a:prstGeom prst="rect">
            <a:avLst/>
          </a:prstGeom>
          <a:noFill/>
          <a:ln w="0">
            <a:noFill/>
          </a:ln>
        </p:spPr>
        <p:style>
          <a:lnRef idx="0"/>
          <a:fillRef idx="0"/>
          <a:effectRef idx="0"/>
          <a:fontRef idx="minor"/>
        </p:style>
        <p:txBody>
          <a:bodyPr lIns="0" tIns="0" rIns="0" bIns="0" anchor="t">
            <a:spAutoFit/>
          </a:bodyPr>
          <a:p>
            <a:pPr>
              <a:lnSpc>
                <a:spcPct val="100000"/>
              </a:lnSpc>
              <a:spcAft>
                <a:spcPts val="400"/>
              </a:spcAft>
            </a:pPr>
            <a:r>
              <a:rPr lang="en-IN" sz="1000" b="1" u="none" strike="noStrike">
                <a:solidFill>
                  <a:srgbClr val="2A4A3E"/>
                </a:solidFill>
                <a:effectLst/>
                <a:uFillTx/>
                <a:latin typeface="Rubik"/>
                <a:ea typeface="Arial"/>
              </a:rPr>
              <a:t>The refusal to guess</a:t>
            </a:r>
            <a:endParaRPr lang="en-IN" sz="1000" b="0" u="none" strike="noStrike">
              <a:solidFill>
                <a:srgbClr val="000000"/>
              </a:solidFill>
              <a:effectLst/>
              <a:uFillTx/>
              <a:latin typeface="Arial"/>
            </a:endParaRPr>
          </a:p>
          <a:p>
            <a:pPr>
              <a:lnSpc>
                <a:spcPct val="112000"/>
              </a:lnSpc>
              <a:spcAft>
                <a:spcPts val="349"/>
              </a:spcAft>
            </a:pPr>
            <a:r>
              <a:rPr lang="en-IN" sz="880" b="0" u="none" strike="noStrike">
                <a:solidFill>
                  <a:srgbClr val="1F3A30"/>
                </a:solidFill>
                <a:effectLst/>
                <a:uFillTx/>
                <a:latin typeface="DM Sans"/>
                <a:ea typeface="Arial"/>
              </a:rPr>
              <a:t>Confidence is temperature-calibrated, so a reported 90% means 90%. Anything below the threshold returns no verdict at all and is marked inconclusive. A wrong answer a family acts on is worse than no answer.</a:t>
            </a:r>
            <a:endParaRPr lang="en-IN" sz="880" b="0" u="none" strike="noStrike">
              <a:solidFill>
                <a:srgbClr val="000000"/>
              </a:solidFill>
              <a:effectLst/>
              <a:uFillTx/>
              <a:latin typeface="Arial"/>
            </a:endParaRPr>
          </a:p>
        </p:txBody>
      </p:sp>
      <p:sp>
        <p:nvSpPr>
          <p:cNvPr id="95" name="TextBox 83"/>
          <p:cNvSpPr/>
          <p:nvPr/>
        </p:nvSpPr>
        <p:spPr>
          <a:xfrm>
            <a:off x="6144840" y="3877200"/>
            <a:ext cx="5540760" cy="155160"/>
          </a:xfrm>
          <a:prstGeom prst="rect">
            <a:avLst/>
          </a:prstGeom>
          <a:noFill/>
          <a:ln w="0">
            <a:noFill/>
          </a:ln>
        </p:spPr>
        <p:style>
          <a:lnRef idx="0"/>
          <a:fillRef idx="0"/>
          <a:effectRef idx="0"/>
          <a:fontRef idx="minor"/>
        </p:style>
        <p:txBody>
          <a:bodyPr lIns="0" tIns="0" rIns="0" bIns="0" anchor="t">
            <a:spAutoFit/>
          </a:bodyPr>
          <a:p>
            <a:pPr>
              <a:lnSpc>
                <a:spcPct val="100000"/>
              </a:lnSpc>
            </a:pPr>
            <a:r>
              <a:rPr lang="en-IN" sz="820" b="1" u="none" strike="noStrike">
                <a:solidFill>
                  <a:srgbClr val="6B7A72"/>
                </a:solidFill>
                <a:effectLst/>
                <a:uFillTx/>
                <a:latin typeface="DM Sans"/>
                <a:ea typeface="Arial"/>
              </a:rPr>
              <a:t>AGAINST WHAT EXISTS</a:t>
            </a:r>
            <a:endParaRPr lang="en-IN" sz="820" b="0" u="none" strike="noStrike">
              <a:solidFill>
                <a:srgbClr val="000000"/>
              </a:solidFill>
              <a:effectLst/>
              <a:uFillTx/>
              <a:latin typeface="Arial"/>
            </a:endParaRPr>
          </a:p>
        </p:txBody>
      </p:sp>
      <p:sp>
        <p:nvSpPr>
          <p:cNvPr id="96" name="TextBox 84"/>
          <p:cNvSpPr/>
          <p:nvPr/>
        </p:nvSpPr>
        <p:spPr>
          <a:xfrm>
            <a:off x="7589520" y="4060080"/>
            <a:ext cx="1060200" cy="182520"/>
          </a:xfrm>
          <a:prstGeom prst="rect">
            <a:avLst/>
          </a:prstGeom>
          <a:noFill/>
          <a:ln w="0">
            <a:noFill/>
          </a:ln>
        </p:spPr>
        <p:style>
          <a:lnRef idx="0"/>
          <a:fillRef idx="0"/>
          <a:effectRef idx="0"/>
          <a:fontRef idx="minor"/>
        </p:style>
        <p:txBody>
          <a:bodyPr lIns="0" tIns="0" rIns="0" bIns="0" anchor="ctr">
            <a:spAutoFit/>
          </a:bodyPr>
          <a:p>
            <a:pPr algn="ctr">
              <a:lnSpc>
                <a:spcPct val="100000"/>
              </a:lnSpc>
            </a:pPr>
            <a:r>
              <a:rPr lang="en-IN" sz="760" b="1" u="none" strike="noStrike">
                <a:solidFill>
                  <a:srgbClr val="6B7A72"/>
                </a:solidFill>
                <a:effectLst/>
                <a:uFillTx/>
                <a:latin typeface="DM Sans"/>
                <a:ea typeface="Arial"/>
              </a:rPr>
              <a:t>Time to answer</a:t>
            </a:r>
            <a:endParaRPr lang="en-IN" sz="760" b="0" u="none" strike="noStrike">
              <a:solidFill>
                <a:srgbClr val="000000"/>
              </a:solidFill>
              <a:effectLst/>
              <a:uFillTx/>
              <a:latin typeface="Arial"/>
            </a:endParaRPr>
          </a:p>
        </p:txBody>
      </p:sp>
      <p:sp>
        <p:nvSpPr>
          <p:cNvPr id="97" name="TextBox 85"/>
          <p:cNvSpPr/>
          <p:nvPr/>
        </p:nvSpPr>
        <p:spPr>
          <a:xfrm>
            <a:off x="8650080" y="4060080"/>
            <a:ext cx="968760" cy="182520"/>
          </a:xfrm>
          <a:prstGeom prst="rect">
            <a:avLst/>
          </a:prstGeom>
          <a:noFill/>
          <a:ln w="0">
            <a:noFill/>
          </a:ln>
        </p:spPr>
        <p:style>
          <a:lnRef idx="0"/>
          <a:fillRef idx="0"/>
          <a:effectRef idx="0"/>
          <a:fontRef idx="minor"/>
        </p:style>
        <p:txBody>
          <a:bodyPr lIns="0" tIns="0" rIns="0" bIns="0" anchor="ctr">
            <a:spAutoFit/>
          </a:bodyPr>
          <a:p>
            <a:pPr algn="ctr">
              <a:lnSpc>
                <a:spcPct val="100000"/>
              </a:lnSpc>
            </a:pPr>
            <a:r>
              <a:rPr lang="en-IN" sz="760" b="1" u="none" strike="noStrike">
                <a:solidFill>
                  <a:srgbClr val="6B7A72"/>
                </a:solidFill>
                <a:effectLst/>
                <a:uFillTx/>
                <a:latin typeface="DM Sans"/>
                <a:ea typeface="Arial"/>
              </a:rPr>
              <a:t>Needs a lab</a:t>
            </a:r>
            <a:endParaRPr lang="en-IN" sz="760" b="0" u="none" strike="noStrike">
              <a:solidFill>
                <a:srgbClr val="000000"/>
              </a:solidFill>
              <a:effectLst/>
              <a:uFillTx/>
              <a:latin typeface="Arial"/>
            </a:endParaRPr>
          </a:p>
        </p:txBody>
      </p:sp>
      <p:sp>
        <p:nvSpPr>
          <p:cNvPr id="98" name="TextBox 86"/>
          <p:cNvSpPr/>
          <p:nvPr/>
        </p:nvSpPr>
        <p:spPr>
          <a:xfrm>
            <a:off x="9619560" y="4060080"/>
            <a:ext cx="1096920" cy="182520"/>
          </a:xfrm>
          <a:prstGeom prst="rect">
            <a:avLst/>
          </a:prstGeom>
          <a:noFill/>
          <a:ln w="0">
            <a:noFill/>
          </a:ln>
        </p:spPr>
        <p:style>
          <a:lnRef idx="0"/>
          <a:fillRef idx="0"/>
          <a:effectRef idx="0"/>
          <a:fontRef idx="minor"/>
        </p:style>
        <p:txBody>
          <a:bodyPr lIns="0" tIns="0" rIns="0" bIns="0" anchor="ctr">
            <a:spAutoFit/>
          </a:bodyPr>
          <a:p>
            <a:pPr algn="ctr">
              <a:lnSpc>
                <a:spcPct val="100000"/>
              </a:lnSpc>
            </a:pPr>
            <a:r>
              <a:rPr lang="en-IN" sz="760" b="1" u="none" strike="noStrike">
                <a:solidFill>
                  <a:srgbClr val="6B7A72"/>
                </a:solidFill>
                <a:effectLst/>
                <a:uFillTx/>
                <a:latin typeface="DM Sans"/>
                <a:ea typeface="Arial"/>
              </a:rPr>
              <a:t>Keeps a record</a:t>
            </a:r>
            <a:endParaRPr lang="en-IN" sz="760" b="0" u="none" strike="noStrike">
              <a:solidFill>
                <a:srgbClr val="000000"/>
              </a:solidFill>
              <a:effectLst/>
              <a:uFillTx/>
              <a:latin typeface="Arial"/>
            </a:endParaRPr>
          </a:p>
        </p:txBody>
      </p:sp>
      <p:sp>
        <p:nvSpPr>
          <p:cNvPr id="99" name="TextBox 87"/>
          <p:cNvSpPr/>
          <p:nvPr/>
        </p:nvSpPr>
        <p:spPr>
          <a:xfrm>
            <a:off x="10716840" y="4060080"/>
            <a:ext cx="968760" cy="182520"/>
          </a:xfrm>
          <a:prstGeom prst="rect">
            <a:avLst/>
          </a:prstGeom>
          <a:noFill/>
          <a:ln w="0">
            <a:noFill/>
          </a:ln>
        </p:spPr>
        <p:style>
          <a:lnRef idx="0"/>
          <a:fillRef idx="0"/>
          <a:effectRef idx="0"/>
          <a:fontRef idx="minor"/>
        </p:style>
        <p:txBody>
          <a:bodyPr lIns="0" tIns="0" rIns="0" bIns="0" anchor="ctr">
            <a:spAutoFit/>
          </a:bodyPr>
          <a:p>
            <a:pPr algn="ctr">
              <a:lnSpc>
                <a:spcPct val="100000"/>
              </a:lnSpc>
            </a:pPr>
            <a:r>
              <a:rPr lang="en-IN" sz="760" b="1" u="none" strike="noStrike">
                <a:solidFill>
                  <a:srgbClr val="6B7A72"/>
                </a:solidFill>
                <a:effectLst/>
                <a:uFillTx/>
                <a:latin typeface="DM Sans"/>
                <a:ea typeface="Arial"/>
              </a:rPr>
              <a:t>Works offline</a:t>
            </a:r>
            <a:endParaRPr lang="en-IN" sz="760" b="0" u="none" strike="noStrike">
              <a:solidFill>
                <a:srgbClr val="000000"/>
              </a:solidFill>
              <a:effectLst/>
              <a:uFillTx/>
              <a:latin typeface="Arial"/>
            </a:endParaRPr>
          </a:p>
        </p:txBody>
      </p:sp>
      <p:sp>
        <p:nvSpPr>
          <p:cNvPr id="100" name="Rounded Rectangle 88"/>
          <p:cNvSpPr/>
          <p:nvPr/>
        </p:nvSpPr>
        <p:spPr>
          <a:xfrm>
            <a:off x="6144840" y="4279320"/>
            <a:ext cx="5540760" cy="420120"/>
          </a:xfrm>
          <a:prstGeom prst="roundRect">
            <a:avLst>
              <a:gd name="adj" fmla="val 10000"/>
            </a:avLst>
          </a:prstGeom>
          <a:solidFill>
            <a:srgbClr val="FFFFFF"/>
          </a:solidFill>
          <a:ln>
            <a:solidFill>
              <a:srgbClr val="DCD6C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IN" sz="1400" b="0" u="none" strike="noStrike">
              <a:solidFill>
                <a:schemeClr val="lt1"/>
              </a:solidFill>
              <a:effectLst/>
              <a:uFillTx/>
              <a:latin typeface="Arial"/>
            </a:endParaRPr>
          </a:p>
        </p:txBody>
      </p:sp>
      <p:sp>
        <p:nvSpPr>
          <p:cNvPr id="101" name="TextBox 89"/>
          <p:cNvSpPr/>
          <p:nvPr/>
        </p:nvSpPr>
        <p:spPr>
          <a:xfrm>
            <a:off x="6272640" y="4279320"/>
            <a:ext cx="1279800" cy="420120"/>
          </a:xfrm>
          <a:prstGeom prst="rect">
            <a:avLst/>
          </a:prstGeom>
          <a:noFill/>
          <a:ln w="0">
            <a:noFill/>
          </a:ln>
        </p:spPr>
        <p:style>
          <a:lnRef idx="0"/>
          <a:fillRef idx="0"/>
          <a:effectRef idx="0"/>
          <a:fontRef idx="minor"/>
        </p:style>
        <p:txBody>
          <a:bodyPr lIns="0" tIns="0" rIns="0" bIns="0" anchor="ctr">
            <a:spAutoFit/>
          </a:bodyPr>
          <a:p>
            <a:pPr>
              <a:lnSpc>
                <a:spcPct val="100000"/>
              </a:lnSpc>
            </a:pPr>
            <a:r>
              <a:rPr lang="en-IN" sz="880" b="1" u="none" strike="noStrike">
                <a:solidFill>
                  <a:srgbClr val="6B7A72"/>
                </a:solidFill>
                <a:effectLst/>
                <a:uFillTx/>
                <a:latin typeface="Rubik"/>
                <a:ea typeface="Arial"/>
              </a:rPr>
              <a:t>Lab test</a:t>
            </a:r>
            <a:endParaRPr lang="en-IN" sz="880" b="0" u="none" strike="noStrike">
              <a:solidFill>
                <a:srgbClr val="000000"/>
              </a:solidFill>
              <a:effectLst/>
              <a:uFillTx/>
              <a:latin typeface="Arial"/>
            </a:endParaRPr>
          </a:p>
        </p:txBody>
      </p:sp>
      <p:sp>
        <p:nvSpPr>
          <p:cNvPr id="102" name="TextBox 90"/>
          <p:cNvSpPr/>
          <p:nvPr/>
        </p:nvSpPr>
        <p:spPr>
          <a:xfrm>
            <a:off x="7589520" y="4279320"/>
            <a:ext cx="1060200" cy="420120"/>
          </a:xfrm>
          <a:prstGeom prst="rect">
            <a:avLst/>
          </a:prstGeom>
          <a:noFill/>
          <a:ln w="0">
            <a:noFill/>
          </a:ln>
        </p:spPr>
        <p:style>
          <a:lnRef idx="0"/>
          <a:fillRef idx="0"/>
          <a:effectRef idx="0"/>
          <a:fontRef idx="minor"/>
        </p:style>
        <p:txBody>
          <a:bodyPr lIns="0" tIns="0" rIns="0" bIns="0" anchor="ctr">
            <a:spAutoFit/>
          </a:bodyPr>
          <a:p>
            <a:pPr algn="ctr">
              <a:lnSpc>
                <a:spcPct val="100000"/>
              </a:lnSpc>
            </a:pPr>
            <a:r>
              <a:rPr lang="en-IN" sz="839" b="0" u="none" strike="noStrike">
                <a:solidFill>
                  <a:srgbClr val="6B7A72"/>
                </a:solidFill>
                <a:effectLst/>
                <a:uFillTx/>
                <a:latin typeface="DM Sans"/>
                <a:ea typeface="Arial"/>
              </a:rPr>
              <a:t>days</a:t>
            </a:r>
            <a:endParaRPr lang="en-IN" sz="839" b="0" u="none" strike="noStrike">
              <a:solidFill>
                <a:srgbClr val="000000"/>
              </a:solidFill>
              <a:effectLst/>
              <a:uFillTx/>
              <a:latin typeface="Arial"/>
            </a:endParaRPr>
          </a:p>
        </p:txBody>
      </p:sp>
      <p:sp>
        <p:nvSpPr>
          <p:cNvPr id="103" name="TextBox 91"/>
          <p:cNvSpPr/>
          <p:nvPr/>
        </p:nvSpPr>
        <p:spPr>
          <a:xfrm>
            <a:off x="8650080" y="4279320"/>
            <a:ext cx="968760" cy="420120"/>
          </a:xfrm>
          <a:prstGeom prst="rect">
            <a:avLst/>
          </a:prstGeom>
          <a:noFill/>
          <a:ln w="0">
            <a:noFill/>
          </a:ln>
        </p:spPr>
        <p:style>
          <a:lnRef idx="0"/>
          <a:fillRef idx="0"/>
          <a:effectRef idx="0"/>
          <a:fontRef idx="minor"/>
        </p:style>
        <p:txBody>
          <a:bodyPr lIns="0" tIns="0" rIns="0" bIns="0" anchor="ctr">
            <a:spAutoFit/>
          </a:bodyPr>
          <a:p>
            <a:pPr algn="ctr">
              <a:lnSpc>
                <a:spcPct val="100000"/>
              </a:lnSpc>
            </a:pPr>
            <a:r>
              <a:rPr lang="en-IN" sz="839" b="0" u="none" strike="noStrike">
                <a:solidFill>
                  <a:srgbClr val="6B7A72"/>
                </a:solidFill>
                <a:effectLst/>
                <a:uFillTx/>
                <a:latin typeface="DM Sans"/>
                <a:ea typeface="Arial"/>
              </a:rPr>
              <a:t>yes</a:t>
            </a:r>
            <a:endParaRPr lang="en-IN" sz="839" b="0" u="none" strike="noStrike">
              <a:solidFill>
                <a:srgbClr val="000000"/>
              </a:solidFill>
              <a:effectLst/>
              <a:uFillTx/>
              <a:latin typeface="Arial"/>
            </a:endParaRPr>
          </a:p>
        </p:txBody>
      </p:sp>
      <p:sp>
        <p:nvSpPr>
          <p:cNvPr id="104" name="TextBox 92"/>
          <p:cNvSpPr/>
          <p:nvPr/>
        </p:nvSpPr>
        <p:spPr>
          <a:xfrm>
            <a:off x="9619560" y="4279320"/>
            <a:ext cx="1096920" cy="420120"/>
          </a:xfrm>
          <a:prstGeom prst="rect">
            <a:avLst/>
          </a:prstGeom>
          <a:noFill/>
          <a:ln w="0">
            <a:noFill/>
          </a:ln>
        </p:spPr>
        <p:style>
          <a:lnRef idx="0"/>
          <a:fillRef idx="0"/>
          <a:effectRef idx="0"/>
          <a:fontRef idx="minor"/>
        </p:style>
        <p:txBody>
          <a:bodyPr lIns="0" tIns="0" rIns="0" bIns="0" anchor="ctr">
            <a:spAutoFit/>
          </a:bodyPr>
          <a:p>
            <a:pPr algn="ctr">
              <a:lnSpc>
                <a:spcPct val="100000"/>
              </a:lnSpc>
            </a:pPr>
            <a:r>
              <a:rPr lang="en-IN" sz="839" b="0" u="none" strike="noStrike">
                <a:solidFill>
                  <a:srgbClr val="6B7A72"/>
                </a:solidFill>
                <a:effectLst/>
                <a:uFillTx/>
                <a:latin typeface="DM Sans"/>
                <a:ea typeface="Arial"/>
              </a:rPr>
              <a:t>yes</a:t>
            </a:r>
            <a:endParaRPr lang="en-IN" sz="839" b="0" u="none" strike="noStrike">
              <a:solidFill>
                <a:srgbClr val="000000"/>
              </a:solidFill>
              <a:effectLst/>
              <a:uFillTx/>
              <a:latin typeface="Arial"/>
            </a:endParaRPr>
          </a:p>
        </p:txBody>
      </p:sp>
      <p:sp>
        <p:nvSpPr>
          <p:cNvPr id="105" name="TextBox 93"/>
          <p:cNvSpPr/>
          <p:nvPr/>
        </p:nvSpPr>
        <p:spPr>
          <a:xfrm>
            <a:off x="10716840" y="4279320"/>
            <a:ext cx="968760" cy="420120"/>
          </a:xfrm>
          <a:prstGeom prst="rect">
            <a:avLst/>
          </a:prstGeom>
          <a:noFill/>
          <a:ln w="0">
            <a:noFill/>
          </a:ln>
        </p:spPr>
        <p:style>
          <a:lnRef idx="0"/>
          <a:fillRef idx="0"/>
          <a:effectRef idx="0"/>
          <a:fontRef idx="minor"/>
        </p:style>
        <p:txBody>
          <a:bodyPr lIns="0" tIns="0" rIns="0" bIns="0" anchor="ctr">
            <a:spAutoFit/>
          </a:bodyPr>
          <a:p>
            <a:pPr algn="ctr">
              <a:lnSpc>
                <a:spcPct val="100000"/>
              </a:lnSpc>
            </a:pPr>
            <a:r>
              <a:rPr lang="en-IN" sz="839" b="0" u="none" strike="noStrike">
                <a:solidFill>
                  <a:srgbClr val="6B7A72"/>
                </a:solidFill>
                <a:effectLst/>
                <a:uFillTx/>
                <a:latin typeface="DM Sans"/>
                <a:ea typeface="Arial"/>
              </a:rPr>
              <a:t>no</a:t>
            </a:r>
            <a:endParaRPr lang="en-IN" sz="839" b="0" u="none" strike="noStrike">
              <a:solidFill>
                <a:srgbClr val="000000"/>
              </a:solidFill>
              <a:effectLst/>
              <a:uFillTx/>
              <a:latin typeface="Arial"/>
            </a:endParaRPr>
          </a:p>
        </p:txBody>
      </p:sp>
      <p:sp>
        <p:nvSpPr>
          <p:cNvPr id="106" name="Rounded Rectangle 94"/>
          <p:cNvSpPr/>
          <p:nvPr/>
        </p:nvSpPr>
        <p:spPr>
          <a:xfrm>
            <a:off x="6144840" y="4736520"/>
            <a:ext cx="5540760" cy="420120"/>
          </a:xfrm>
          <a:prstGeom prst="roundRect">
            <a:avLst>
              <a:gd name="adj" fmla="val 10000"/>
            </a:avLst>
          </a:prstGeom>
          <a:solidFill>
            <a:srgbClr val="FFFFFF"/>
          </a:solidFill>
          <a:ln>
            <a:solidFill>
              <a:srgbClr val="DCD6C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IN" sz="1400" b="0" u="none" strike="noStrike">
              <a:solidFill>
                <a:schemeClr val="lt1"/>
              </a:solidFill>
              <a:effectLst/>
              <a:uFillTx/>
              <a:latin typeface="Arial"/>
            </a:endParaRPr>
          </a:p>
        </p:txBody>
      </p:sp>
      <p:sp>
        <p:nvSpPr>
          <p:cNvPr id="107" name="TextBox 95"/>
          <p:cNvSpPr/>
          <p:nvPr/>
        </p:nvSpPr>
        <p:spPr>
          <a:xfrm>
            <a:off x="6272640" y="4736520"/>
            <a:ext cx="1279800" cy="420120"/>
          </a:xfrm>
          <a:prstGeom prst="rect">
            <a:avLst/>
          </a:prstGeom>
          <a:noFill/>
          <a:ln w="0">
            <a:noFill/>
          </a:ln>
        </p:spPr>
        <p:style>
          <a:lnRef idx="0"/>
          <a:fillRef idx="0"/>
          <a:effectRef idx="0"/>
          <a:fontRef idx="minor"/>
        </p:style>
        <p:txBody>
          <a:bodyPr lIns="0" tIns="0" rIns="0" bIns="0" anchor="ctr">
            <a:spAutoFit/>
          </a:bodyPr>
          <a:p>
            <a:pPr>
              <a:lnSpc>
                <a:spcPct val="100000"/>
              </a:lnSpc>
            </a:pPr>
            <a:r>
              <a:rPr lang="en-IN" sz="880" b="1" u="none" strike="noStrike">
                <a:solidFill>
                  <a:srgbClr val="6B7A72"/>
                </a:solidFill>
                <a:effectLst/>
                <a:uFillTx/>
                <a:latin typeface="Rubik"/>
                <a:ea typeface="Arial"/>
              </a:rPr>
              <a:t>Rapid kit strip</a:t>
            </a:r>
            <a:endParaRPr lang="en-IN" sz="880" b="0" u="none" strike="noStrike">
              <a:solidFill>
                <a:srgbClr val="000000"/>
              </a:solidFill>
              <a:effectLst/>
              <a:uFillTx/>
              <a:latin typeface="Arial"/>
            </a:endParaRPr>
          </a:p>
        </p:txBody>
      </p:sp>
      <p:sp>
        <p:nvSpPr>
          <p:cNvPr id="108" name="TextBox 96"/>
          <p:cNvSpPr/>
          <p:nvPr/>
        </p:nvSpPr>
        <p:spPr>
          <a:xfrm>
            <a:off x="7589520" y="4736520"/>
            <a:ext cx="1060200" cy="420120"/>
          </a:xfrm>
          <a:prstGeom prst="rect">
            <a:avLst/>
          </a:prstGeom>
          <a:noFill/>
          <a:ln w="0">
            <a:noFill/>
          </a:ln>
        </p:spPr>
        <p:style>
          <a:lnRef idx="0"/>
          <a:fillRef idx="0"/>
          <a:effectRef idx="0"/>
          <a:fontRef idx="minor"/>
        </p:style>
        <p:txBody>
          <a:bodyPr lIns="0" tIns="0" rIns="0" bIns="0" anchor="ctr">
            <a:spAutoFit/>
          </a:bodyPr>
          <a:p>
            <a:pPr algn="ctr">
              <a:lnSpc>
                <a:spcPct val="100000"/>
              </a:lnSpc>
            </a:pPr>
            <a:r>
              <a:rPr lang="en-IN" sz="839" b="0" u="none" strike="noStrike">
                <a:solidFill>
                  <a:srgbClr val="6B7A72"/>
                </a:solidFill>
                <a:effectLst/>
                <a:uFillTx/>
                <a:latin typeface="DM Sans"/>
                <a:ea typeface="Arial"/>
              </a:rPr>
              <a:t>minutes</a:t>
            </a:r>
            <a:endParaRPr lang="en-IN" sz="839" b="0" u="none" strike="noStrike">
              <a:solidFill>
                <a:srgbClr val="000000"/>
              </a:solidFill>
              <a:effectLst/>
              <a:uFillTx/>
              <a:latin typeface="Arial"/>
            </a:endParaRPr>
          </a:p>
        </p:txBody>
      </p:sp>
      <p:sp>
        <p:nvSpPr>
          <p:cNvPr id="109" name="TextBox 97"/>
          <p:cNvSpPr/>
          <p:nvPr/>
        </p:nvSpPr>
        <p:spPr>
          <a:xfrm>
            <a:off x="8650080" y="4736520"/>
            <a:ext cx="968760" cy="420120"/>
          </a:xfrm>
          <a:prstGeom prst="rect">
            <a:avLst/>
          </a:prstGeom>
          <a:noFill/>
          <a:ln w="0">
            <a:noFill/>
          </a:ln>
        </p:spPr>
        <p:style>
          <a:lnRef idx="0"/>
          <a:fillRef idx="0"/>
          <a:effectRef idx="0"/>
          <a:fontRef idx="minor"/>
        </p:style>
        <p:txBody>
          <a:bodyPr lIns="0" tIns="0" rIns="0" bIns="0" anchor="ctr">
            <a:spAutoFit/>
          </a:bodyPr>
          <a:p>
            <a:pPr algn="ctr">
              <a:lnSpc>
                <a:spcPct val="100000"/>
              </a:lnSpc>
            </a:pPr>
            <a:r>
              <a:rPr lang="en-IN" sz="839" b="0" u="none" strike="noStrike">
                <a:solidFill>
                  <a:srgbClr val="6B7A72"/>
                </a:solidFill>
                <a:effectLst/>
                <a:uFillTx/>
                <a:latin typeface="DM Sans"/>
                <a:ea typeface="Arial"/>
              </a:rPr>
              <a:t>no</a:t>
            </a:r>
            <a:endParaRPr lang="en-IN" sz="839" b="0" u="none" strike="noStrike">
              <a:solidFill>
                <a:srgbClr val="000000"/>
              </a:solidFill>
              <a:effectLst/>
              <a:uFillTx/>
              <a:latin typeface="Arial"/>
            </a:endParaRPr>
          </a:p>
        </p:txBody>
      </p:sp>
      <p:sp>
        <p:nvSpPr>
          <p:cNvPr id="110" name="TextBox 98"/>
          <p:cNvSpPr/>
          <p:nvPr/>
        </p:nvSpPr>
        <p:spPr>
          <a:xfrm>
            <a:off x="9619560" y="4736520"/>
            <a:ext cx="1096920" cy="420120"/>
          </a:xfrm>
          <a:prstGeom prst="rect">
            <a:avLst/>
          </a:prstGeom>
          <a:noFill/>
          <a:ln w="0">
            <a:noFill/>
          </a:ln>
        </p:spPr>
        <p:style>
          <a:lnRef idx="0"/>
          <a:fillRef idx="0"/>
          <a:effectRef idx="0"/>
          <a:fontRef idx="minor"/>
        </p:style>
        <p:txBody>
          <a:bodyPr lIns="0" tIns="0" rIns="0" bIns="0" anchor="ctr">
            <a:spAutoFit/>
          </a:bodyPr>
          <a:p>
            <a:pPr algn="ctr">
              <a:lnSpc>
                <a:spcPct val="100000"/>
              </a:lnSpc>
            </a:pPr>
            <a:r>
              <a:rPr lang="en-IN" sz="839" b="0" u="none" strike="noStrike">
                <a:solidFill>
                  <a:srgbClr val="6B7A72"/>
                </a:solidFill>
                <a:effectLst/>
                <a:uFillTx/>
                <a:latin typeface="DM Sans"/>
                <a:ea typeface="Arial"/>
              </a:rPr>
              <a:t>no</a:t>
            </a:r>
            <a:endParaRPr lang="en-IN" sz="839" b="0" u="none" strike="noStrike">
              <a:solidFill>
                <a:srgbClr val="000000"/>
              </a:solidFill>
              <a:effectLst/>
              <a:uFillTx/>
              <a:latin typeface="Arial"/>
            </a:endParaRPr>
          </a:p>
        </p:txBody>
      </p:sp>
      <p:sp>
        <p:nvSpPr>
          <p:cNvPr id="111" name="TextBox 99"/>
          <p:cNvSpPr/>
          <p:nvPr/>
        </p:nvSpPr>
        <p:spPr>
          <a:xfrm>
            <a:off x="10716840" y="4736520"/>
            <a:ext cx="968760" cy="420120"/>
          </a:xfrm>
          <a:prstGeom prst="rect">
            <a:avLst/>
          </a:prstGeom>
          <a:noFill/>
          <a:ln w="0">
            <a:noFill/>
          </a:ln>
        </p:spPr>
        <p:style>
          <a:lnRef idx="0"/>
          <a:fillRef idx="0"/>
          <a:effectRef idx="0"/>
          <a:fontRef idx="minor"/>
        </p:style>
        <p:txBody>
          <a:bodyPr lIns="0" tIns="0" rIns="0" bIns="0" anchor="ctr">
            <a:spAutoFit/>
          </a:bodyPr>
          <a:p>
            <a:pPr algn="ctr">
              <a:lnSpc>
                <a:spcPct val="100000"/>
              </a:lnSpc>
            </a:pPr>
            <a:r>
              <a:rPr lang="en-IN" sz="839" b="0" u="none" strike="noStrike">
                <a:solidFill>
                  <a:srgbClr val="6B7A72"/>
                </a:solidFill>
                <a:effectLst/>
                <a:uFillTx/>
                <a:latin typeface="DM Sans"/>
                <a:ea typeface="Arial"/>
              </a:rPr>
              <a:t>yes</a:t>
            </a:r>
            <a:endParaRPr lang="en-IN" sz="839" b="0" u="none" strike="noStrike">
              <a:solidFill>
                <a:srgbClr val="000000"/>
              </a:solidFill>
              <a:effectLst/>
              <a:uFillTx/>
              <a:latin typeface="Arial"/>
            </a:endParaRPr>
          </a:p>
        </p:txBody>
      </p:sp>
      <p:sp>
        <p:nvSpPr>
          <p:cNvPr id="112" name="Rounded Rectangle 100"/>
          <p:cNvSpPr/>
          <p:nvPr/>
        </p:nvSpPr>
        <p:spPr>
          <a:xfrm>
            <a:off x="6144840" y="5193720"/>
            <a:ext cx="5540760" cy="420120"/>
          </a:xfrm>
          <a:prstGeom prst="roundRect">
            <a:avLst>
              <a:gd name="adj" fmla="val 10000"/>
            </a:avLst>
          </a:prstGeom>
          <a:solidFill>
            <a:srgbClr val="F4F1E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IN" sz="1400" b="0" u="none" strike="noStrike">
              <a:solidFill>
                <a:schemeClr val="lt1"/>
              </a:solidFill>
              <a:effectLst/>
              <a:uFillTx/>
              <a:latin typeface="Arial"/>
            </a:endParaRPr>
          </a:p>
        </p:txBody>
      </p:sp>
      <p:sp>
        <p:nvSpPr>
          <p:cNvPr id="113" name="TextBox 101"/>
          <p:cNvSpPr/>
          <p:nvPr/>
        </p:nvSpPr>
        <p:spPr>
          <a:xfrm>
            <a:off x="6272640" y="5193720"/>
            <a:ext cx="1279800" cy="420120"/>
          </a:xfrm>
          <a:prstGeom prst="rect">
            <a:avLst/>
          </a:prstGeom>
          <a:noFill/>
          <a:ln w="0">
            <a:noFill/>
          </a:ln>
        </p:spPr>
        <p:style>
          <a:lnRef idx="0"/>
          <a:fillRef idx="0"/>
          <a:effectRef idx="0"/>
          <a:fontRef idx="minor"/>
        </p:style>
        <p:txBody>
          <a:bodyPr lIns="0" tIns="0" rIns="0" bIns="0" anchor="ctr">
            <a:spAutoFit/>
          </a:bodyPr>
          <a:p>
            <a:pPr>
              <a:lnSpc>
                <a:spcPct val="100000"/>
              </a:lnSpc>
            </a:pPr>
            <a:r>
              <a:rPr lang="en-IN" sz="880" b="1" u="none" strike="noStrike">
                <a:solidFill>
                  <a:srgbClr val="2A4A3E"/>
                </a:solidFill>
                <a:effectLst/>
                <a:uFillTx/>
                <a:latin typeface="Rubik"/>
                <a:ea typeface="Arial"/>
              </a:rPr>
              <a:t>SaafScan</a:t>
            </a:r>
            <a:endParaRPr lang="en-IN" sz="880" b="0" u="none" strike="noStrike">
              <a:solidFill>
                <a:srgbClr val="000000"/>
              </a:solidFill>
              <a:effectLst/>
              <a:uFillTx/>
              <a:latin typeface="Arial"/>
            </a:endParaRPr>
          </a:p>
        </p:txBody>
      </p:sp>
      <p:sp>
        <p:nvSpPr>
          <p:cNvPr id="114" name="TextBox 102"/>
          <p:cNvSpPr/>
          <p:nvPr/>
        </p:nvSpPr>
        <p:spPr>
          <a:xfrm>
            <a:off x="7589520" y="5193720"/>
            <a:ext cx="1060200" cy="420120"/>
          </a:xfrm>
          <a:prstGeom prst="rect">
            <a:avLst/>
          </a:prstGeom>
          <a:noFill/>
          <a:ln w="0">
            <a:noFill/>
          </a:ln>
        </p:spPr>
        <p:style>
          <a:lnRef idx="0"/>
          <a:fillRef idx="0"/>
          <a:effectRef idx="0"/>
          <a:fontRef idx="minor"/>
        </p:style>
        <p:txBody>
          <a:bodyPr lIns="0" tIns="0" rIns="0" bIns="0" anchor="ctr">
            <a:spAutoFit/>
          </a:bodyPr>
          <a:p>
            <a:pPr algn="ctr">
              <a:lnSpc>
                <a:spcPct val="100000"/>
              </a:lnSpc>
            </a:pPr>
            <a:r>
              <a:rPr lang="en-IN" sz="839" b="0" u="none" strike="noStrike">
                <a:solidFill>
                  <a:srgbClr val="2A4A3E"/>
                </a:solidFill>
                <a:effectLst/>
                <a:uFillTx/>
                <a:latin typeface="DM Sans"/>
                <a:ea typeface="Arial"/>
              </a:rPr>
              <a:t>under 10 s</a:t>
            </a:r>
            <a:endParaRPr lang="en-IN" sz="839" b="0" u="none" strike="noStrike">
              <a:solidFill>
                <a:srgbClr val="000000"/>
              </a:solidFill>
              <a:effectLst/>
              <a:uFillTx/>
              <a:latin typeface="Arial"/>
            </a:endParaRPr>
          </a:p>
        </p:txBody>
      </p:sp>
      <p:sp>
        <p:nvSpPr>
          <p:cNvPr id="115" name="TextBox 103"/>
          <p:cNvSpPr/>
          <p:nvPr/>
        </p:nvSpPr>
        <p:spPr>
          <a:xfrm>
            <a:off x="8650080" y="5193720"/>
            <a:ext cx="968760" cy="420120"/>
          </a:xfrm>
          <a:prstGeom prst="rect">
            <a:avLst/>
          </a:prstGeom>
          <a:noFill/>
          <a:ln w="0">
            <a:noFill/>
          </a:ln>
        </p:spPr>
        <p:style>
          <a:lnRef idx="0"/>
          <a:fillRef idx="0"/>
          <a:effectRef idx="0"/>
          <a:fontRef idx="minor"/>
        </p:style>
        <p:txBody>
          <a:bodyPr lIns="0" tIns="0" rIns="0" bIns="0" anchor="ctr">
            <a:spAutoFit/>
          </a:bodyPr>
          <a:p>
            <a:pPr algn="ctr">
              <a:lnSpc>
                <a:spcPct val="100000"/>
              </a:lnSpc>
            </a:pPr>
            <a:r>
              <a:rPr lang="en-IN" sz="839" b="0" u="none" strike="noStrike">
                <a:solidFill>
                  <a:srgbClr val="2A4A3E"/>
                </a:solidFill>
                <a:effectLst/>
                <a:uFillTx/>
                <a:latin typeface="DM Sans"/>
                <a:ea typeface="Arial"/>
              </a:rPr>
              <a:t>no</a:t>
            </a:r>
            <a:endParaRPr lang="en-IN" sz="839" b="0" u="none" strike="noStrike">
              <a:solidFill>
                <a:srgbClr val="000000"/>
              </a:solidFill>
              <a:effectLst/>
              <a:uFillTx/>
              <a:latin typeface="Arial"/>
            </a:endParaRPr>
          </a:p>
        </p:txBody>
      </p:sp>
      <p:sp>
        <p:nvSpPr>
          <p:cNvPr id="116" name="TextBox 104"/>
          <p:cNvSpPr/>
          <p:nvPr/>
        </p:nvSpPr>
        <p:spPr>
          <a:xfrm>
            <a:off x="9619560" y="5193720"/>
            <a:ext cx="1096920" cy="420120"/>
          </a:xfrm>
          <a:prstGeom prst="rect">
            <a:avLst/>
          </a:prstGeom>
          <a:noFill/>
          <a:ln w="0">
            <a:noFill/>
          </a:ln>
        </p:spPr>
        <p:style>
          <a:lnRef idx="0"/>
          <a:fillRef idx="0"/>
          <a:effectRef idx="0"/>
          <a:fontRef idx="minor"/>
        </p:style>
        <p:txBody>
          <a:bodyPr lIns="0" tIns="0" rIns="0" bIns="0" anchor="ctr">
            <a:spAutoFit/>
          </a:bodyPr>
          <a:p>
            <a:pPr algn="ctr">
              <a:lnSpc>
                <a:spcPct val="100000"/>
              </a:lnSpc>
            </a:pPr>
            <a:r>
              <a:rPr lang="en-IN" sz="839" b="0" u="none" strike="noStrike">
                <a:solidFill>
                  <a:srgbClr val="2A4A3E"/>
                </a:solidFill>
                <a:effectLst/>
                <a:uFillTx/>
                <a:latin typeface="DM Sans"/>
                <a:ea typeface="Arial"/>
              </a:rPr>
              <a:t>yes, with QR</a:t>
            </a:r>
            <a:endParaRPr lang="en-IN" sz="839" b="0" u="none" strike="noStrike">
              <a:solidFill>
                <a:srgbClr val="000000"/>
              </a:solidFill>
              <a:effectLst/>
              <a:uFillTx/>
              <a:latin typeface="Arial"/>
            </a:endParaRPr>
          </a:p>
        </p:txBody>
      </p:sp>
      <p:sp>
        <p:nvSpPr>
          <p:cNvPr id="117" name="TextBox 105"/>
          <p:cNvSpPr/>
          <p:nvPr/>
        </p:nvSpPr>
        <p:spPr>
          <a:xfrm>
            <a:off x="10716840" y="5193720"/>
            <a:ext cx="968760" cy="420120"/>
          </a:xfrm>
          <a:prstGeom prst="rect">
            <a:avLst/>
          </a:prstGeom>
          <a:noFill/>
          <a:ln w="0">
            <a:noFill/>
          </a:ln>
        </p:spPr>
        <p:style>
          <a:lnRef idx="0"/>
          <a:fillRef idx="0"/>
          <a:effectRef idx="0"/>
          <a:fontRef idx="minor"/>
        </p:style>
        <p:txBody>
          <a:bodyPr lIns="0" tIns="0" rIns="0" bIns="0" anchor="ctr">
            <a:spAutoFit/>
          </a:bodyPr>
          <a:p>
            <a:pPr algn="ctr">
              <a:lnSpc>
                <a:spcPct val="100000"/>
              </a:lnSpc>
            </a:pPr>
            <a:r>
              <a:rPr lang="en-IN" sz="839" b="0" u="none" strike="noStrike">
                <a:solidFill>
                  <a:srgbClr val="2A4A3E"/>
                </a:solidFill>
                <a:effectLst/>
                <a:uFillTx/>
                <a:latin typeface="DM Sans"/>
                <a:ea typeface="Arial"/>
              </a:rPr>
              <a:t>yes</a:t>
            </a:r>
            <a:endParaRPr lang="en-IN" sz="839" b="0" u="none" strike="noStrike">
              <a:solidFill>
                <a:srgbClr val="000000"/>
              </a:solidFill>
              <a:effectLst/>
              <a:uFillTx/>
              <a:latin typeface="Arial"/>
            </a:endParaRPr>
          </a:p>
        </p:txBody>
      </p:sp>
      <p:sp>
        <p:nvSpPr>
          <p:cNvPr id="118" name="TextBox 106"/>
          <p:cNvSpPr/>
          <p:nvPr/>
        </p:nvSpPr>
        <p:spPr>
          <a:xfrm>
            <a:off x="6144840" y="5760720"/>
            <a:ext cx="5540760" cy="310680"/>
          </a:xfrm>
          <a:prstGeom prst="rect">
            <a:avLst/>
          </a:prstGeom>
          <a:noFill/>
          <a:ln w="0">
            <a:noFill/>
          </a:ln>
        </p:spPr>
        <p:style>
          <a:lnRef idx="0"/>
          <a:fillRef idx="0"/>
          <a:effectRef idx="0"/>
          <a:fontRef idx="minor"/>
        </p:style>
        <p:txBody>
          <a:bodyPr lIns="0" tIns="0" rIns="0" bIns="0" anchor="t">
            <a:spAutoFit/>
          </a:bodyPr>
          <a:p>
            <a:pPr>
              <a:lnSpc>
                <a:spcPct val="112000"/>
              </a:lnSpc>
            </a:pPr>
            <a:r>
              <a:rPr lang="en-IN" sz="720" b="0" u="none" strike="noStrike">
                <a:solidFill>
                  <a:srgbClr val="9DB3A7"/>
                </a:solidFill>
                <a:effectLst/>
                <a:uFillTx/>
                <a:latin typeface="DM Sans"/>
                <a:ea typeface="Arial"/>
              </a:rPr>
              <a:t>Lab and rapid-strip columns are how those methods are described in the FSSAI and WHO material cited on slide 7; SaafScan timings are measured.</a:t>
            </a:r>
            <a:endParaRPr lang="en-IN" sz="72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19" name="Google Shape;59;p6"/>
          <p:cNvSpPr/>
          <p:nvPr/>
        </p:nvSpPr>
        <p:spPr>
          <a:xfrm>
            <a:off x="812880" y="812880"/>
            <a:ext cx="10883160" cy="256320"/>
          </a:xfrm>
          <a:prstGeom prst="rect">
            <a:avLst/>
          </a:prstGeom>
          <a:noFill/>
          <a:ln w="0">
            <a:noFill/>
          </a:ln>
        </p:spPr>
        <p:style>
          <a:lnRef idx="0"/>
          <a:fillRef idx="0"/>
          <a:effectRef idx="0"/>
          <a:fontRef idx="minor"/>
        </p:style>
        <p:txBody>
          <a:bodyPr lIns="0" tIns="0" rIns="0" bIns="0" anchor="t">
            <a:noAutofit/>
          </a:bodyPr>
          <a:p>
            <a:pPr>
              <a:lnSpc>
                <a:spcPct val="140000"/>
              </a:lnSpc>
              <a:tabLst>
                <a:tab pos="0" algn="l"/>
              </a:tabLst>
            </a:pPr>
            <a:r>
              <a:rPr lang="en-US" sz="1300" b="1" u="none" strike="noStrike">
                <a:solidFill>
                  <a:srgbClr val="D9581C"/>
                </a:solidFill>
                <a:effectLst/>
                <a:uFillTx/>
                <a:latin typeface="DM Sans"/>
                <a:ea typeface="DM Sans"/>
              </a:rPr>
              <a:t>TECH4FOOD 2026 · ROUND 1 IDEA SUBMISSION</a:t>
            </a:r>
            <a:endParaRPr lang="en-IN" sz="1300" b="0" u="none" strike="noStrike">
              <a:solidFill>
                <a:srgbClr val="000000"/>
              </a:solidFill>
              <a:effectLst/>
              <a:uFillTx/>
              <a:latin typeface="Arial"/>
            </a:endParaRPr>
          </a:p>
        </p:txBody>
      </p:sp>
      <p:sp>
        <p:nvSpPr>
          <p:cNvPr id="120" name="Google Shape;60;p6"/>
          <p:cNvSpPr/>
          <p:nvPr/>
        </p:nvSpPr>
        <p:spPr>
          <a:xfrm>
            <a:off x="812880" y="1272600"/>
            <a:ext cx="10883160" cy="527760"/>
          </a:xfrm>
          <a:prstGeom prst="rect">
            <a:avLst/>
          </a:prstGeom>
          <a:noFill/>
          <a:ln w="0">
            <a:noFill/>
          </a:ln>
        </p:spPr>
        <p:style>
          <a:lnRef idx="0"/>
          <a:fillRef idx="0"/>
          <a:effectRef idx="0"/>
          <a:fontRef idx="minor"/>
        </p:style>
        <p:txBody>
          <a:bodyPr lIns="0" tIns="0" rIns="0" bIns="0" anchor="t">
            <a:noAutofit/>
          </a:bodyPr>
          <a:p>
            <a:pPr>
              <a:lnSpc>
                <a:spcPct val="110000"/>
              </a:lnSpc>
              <a:tabLst>
                <a:tab pos="0" algn="l"/>
              </a:tabLst>
            </a:pPr>
            <a:r>
              <a:rPr lang="en-US" sz="3600" b="1" u="none" strike="noStrike">
                <a:solidFill>
                  <a:srgbClr val="1F3A30"/>
                </a:solidFill>
                <a:effectLst/>
                <a:uFillTx/>
                <a:latin typeface="Rubik"/>
                <a:ea typeface="Rubik"/>
              </a:rPr>
              <a:t>Technical Architecture</a:t>
            </a:r>
            <a:endParaRPr lang="en-IN" sz="3600" b="0" u="none" strike="noStrike">
              <a:solidFill>
                <a:srgbClr val="000000"/>
              </a:solidFill>
              <a:effectLst/>
              <a:uFillTx/>
              <a:latin typeface="Arial"/>
            </a:endParaRPr>
          </a:p>
        </p:txBody>
      </p:sp>
      <p:sp>
        <p:nvSpPr>
          <p:cNvPr id="121" name="Google Shape;62;p6"/>
          <p:cNvSpPr/>
          <p:nvPr/>
        </p:nvSpPr>
        <p:spPr>
          <a:xfrm>
            <a:off x="812880" y="6238440"/>
            <a:ext cx="10883160" cy="238320"/>
          </a:xfrm>
          <a:prstGeom prst="rect">
            <a:avLst/>
          </a:prstGeom>
          <a:noFill/>
          <a:ln w="0">
            <a:noFill/>
          </a:ln>
        </p:spPr>
        <p:style>
          <a:lnRef idx="0"/>
          <a:fillRef idx="0"/>
          <a:effectRef idx="0"/>
          <a:fontRef idx="minor"/>
        </p:style>
        <p:txBody>
          <a:bodyPr lIns="0" tIns="0" rIns="0" bIns="0" anchor="t">
            <a:noAutofit/>
          </a:bodyPr>
          <a:p>
            <a:pPr>
              <a:lnSpc>
                <a:spcPct val="140000"/>
              </a:lnSpc>
              <a:tabLst>
                <a:tab pos="0" algn="l"/>
              </a:tabLst>
            </a:pPr>
            <a:r>
              <a:rPr lang="en-US" sz="1200" b="0" u="none" strike="noStrike">
                <a:solidFill>
                  <a:srgbClr val="6B7A72"/>
                </a:solidFill>
                <a:effectLst/>
                <a:uFillTx/>
                <a:latin typeface="DM Sans"/>
                <a:ea typeface="DM Sans"/>
              </a:rPr>
              <a:t>Tech4Food 2026 · New Era of Smarter Food Safety · PCCOE, Pune · 04</a:t>
            </a:r>
            <a:endParaRPr lang="en-IN" sz="1200" b="0" u="none" strike="noStrike">
              <a:solidFill>
                <a:srgbClr val="000000"/>
              </a:solidFill>
              <a:effectLst/>
              <a:uFillTx/>
              <a:latin typeface="Arial"/>
            </a:endParaRPr>
          </a:p>
        </p:txBody>
      </p:sp>
      <p:sp>
        <p:nvSpPr>
          <p:cNvPr id="122" name="Rounded Rectangle 62"/>
          <p:cNvSpPr/>
          <p:nvPr/>
        </p:nvSpPr>
        <p:spPr>
          <a:xfrm>
            <a:off x="813960" y="2139840"/>
            <a:ext cx="1398600" cy="712800"/>
          </a:xfrm>
          <a:prstGeom prst="roundRect">
            <a:avLst>
              <a:gd name="adj" fmla="val 10000"/>
            </a:avLst>
          </a:prstGeom>
          <a:solidFill>
            <a:srgbClr val="F4F1E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IN" sz="1400" b="0" u="none" strike="noStrike">
              <a:solidFill>
                <a:schemeClr val="lt1"/>
              </a:solidFill>
              <a:effectLst/>
              <a:uFillTx/>
              <a:latin typeface="Arial"/>
            </a:endParaRPr>
          </a:p>
        </p:txBody>
      </p:sp>
      <p:sp>
        <p:nvSpPr>
          <p:cNvPr id="123" name="TextBox 63"/>
          <p:cNvSpPr/>
          <p:nvPr/>
        </p:nvSpPr>
        <p:spPr>
          <a:xfrm>
            <a:off x="887040" y="2139840"/>
            <a:ext cx="1252440" cy="712800"/>
          </a:xfrm>
          <a:prstGeom prst="rect">
            <a:avLst/>
          </a:prstGeom>
          <a:noFill/>
          <a:ln w="0">
            <a:noFill/>
          </a:ln>
        </p:spPr>
        <p:style>
          <a:lnRef idx="0"/>
          <a:fillRef idx="0"/>
          <a:effectRef idx="0"/>
          <a:fontRef idx="minor"/>
        </p:style>
        <p:txBody>
          <a:bodyPr lIns="0" tIns="0" rIns="0" bIns="0" anchor="ctr">
            <a:spAutoFit/>
          </a:bodyPr>
          <a:p>
            <a:pPr/>
            <a:r>
              <a:rPr lang="en-IN" sz="820" b="1" u="none" strike="noStrike">
                <a:solidFill>
                  <a:srgbClr val="1F3A30"/>
                </a:solidFill>
                <a:effectLst/>
                <a:uFillTx/>
                <a:latin typeface="DM Sans"/>
                <a:ea typeface="Arial"/>
              </a:rPr>
              <a:t>Camera or</a:t>
            </a:r>
            <a:endParaRPr lang="en-IN" sz="820" b="0" u="none" strike="noStrike">
              <a:solidFill>
                <a:srgbClr val="000000"/>
              </a:solidFill>
              <a:effectLst/>
              <a:uFillTx/>
              <a:latin typeface="Arial"/>
            </a:endParaRPr>
          </a:p>
          <a:p>
            <a:pPr algn="ctr">
              <a:lnSpc>
                <a:spcPct val="112000"/>
              </a:lnSpc>
            </a:pPr>
            <a:r>
              <a:rPr lang="en-IN" sz="820" b="1" u="none" strike="noStrike">
                <a:solidFill>
                  <a:srgbClr val="1F3A30"/>
                </a:solidFill>
                <a:effectLst/>
                <a:uFillTx/>
                <a:latin typeface="DM Sans"/>
                <a:ea typeface="Arial"/>
              </a:rPr>
              <a:t>upload</a:t>
            </a:r>
            <a:endParaRPr lang="en-IN" sz="820" b="0" u="none" strike="noStrike">
              <a:solidFill>
                <a:srgbClr val="000000"/>
              </a:solidFill>
              <a:effectLst/>
              <a:uFillTx/>
              <a:latin typeface="Arial"/>
            </a:endParaRPr>
          </a:p>
        </p:txBody>
      </p:sp>
      <p:sp>
        <p:nvSpPr>
          <p:cNvPr id="124" name="Isosceles Triangle 64"/>
          <p:cNvSpPr/>
          <p:nvPr/>
        </p:nvSpPr>
        <p:spPr>
          <a:xfrm rot="5400000">
            <a:off x="2229480" y="2413800"/>
            <a:ext cx="118440" cy="164160"/>
          </a:xfrm>
          <a:prstGeom prst="triangle">
            <a:avLst>
              <a:gd name="adj" fmla="val 50000"/>
            </a:avLst>
          </a:prstGeom>
          <a:solidFill>
            <a:srgbClr val="9DB3A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440" rIns="90000" bIns="37440" anchor="ctr">
            <a:noAutofit/>
          </a:bodyPr>
          <a:p>
            <a:pPr/>
            <a:endParaRPr lang="en-IN" sz="1400" b="0" u="none" strike="noStrike">
              <a:solidFill>
                <a:schemeClr val="lt1"/>
              </a:solidFill>
              <a:effectLst/>
              <a:uFillTx/>
              <a:latin typeface="Arial"/>
            </a:endParaRPr>
          </a:p>
        </p:txBody>
      </p:sp>
      <p:sp>
        <p:nvSpPr>
          <p:cNvPr id="125" name="Rounded Rectangle 65"/>
          <p:cNvSpPr/>
          <p:nvPr/>
        </p:nvSpPr>
        <p:spPr>
          <a:xfrm>
            <a:off x="2364480" y="2139840"/>
            <a:ext cx="1398600" cy="712800"/>
          </a:xfrm>
          <a:prstGeom prst="roundRect">
            <a:avLst>
              <a:gd name="adj" fmla="val 10000"/>
            </a:avLst>
          </a:prstGeom>
          <a:solidFill>
            <a:srgbClr val="F4F1E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IN" sz="1400" b="0" u="none" strike="noStrike">
              <a:solidFill>
                <a:schemeClr val="lt1"/>
              </a:solidFill>
              <a:effectLst/>
              <a:uFillTx/>
              <a:latin typeface="Arial"/>
            </a:endParaRPr>
          </a:p>
        </p:txBody>
      </p:sp>
      <p:sp>
        <p:nvSpPr>
          <p:cNvPr id="126" name="TextBox 66"/>
          <p:cNvSpPr/>
          <p:nvPr/>
        </p:nvSpPr>
        <p:spPr>
          <a:xfrm>
            <a:off x="2437920" y="2139840"/>
            <a:ext cx="1252440" cy="712800"/>
          </a:xfrm>
          <a:prstGeom prst="rect">
            <a:avLst/>
          </a:prstGeom>
          <a:noFill/>
          <a:ln w="0">
            <a:noFill/>
          </a:ln>
        </p:spPr>
        <p:style>
          <a:lnRef idx="0"/>
          <a:fillRef idx="0"/>
          <a:effectRef idx="0"/>
          <a:fontRef idx="minor"/>
        </p:style>
        <p:txBody>
          <a:bodyPr lIns="0" tIns="0" rIns="0" bIns="0" anchor="ctr">
            <a:spAutoFit/>
          </a:bodyPr>
          <a:p>
            <a:pPr/>
            <a:r>
              <a:rPr lang="en-IN" sz="820" b="1" u="none" strike="noStrike">
                <a:solidFill>
                  <a:srgbClr val="1F3A30"/>
                </a:solidFill>
                <a:effectLst/>
                <a:uFillTx/>
                <a:latin typeface="DM Sans"/>
                <a:ea typeface="Arial"/>
              </a:rPr>
              <a:t>Card calibration</a:t>
            </a:r>
            <a:endParaRPr lang="en-IN" sz="820" b="0" u="none" strike="noStrike">
              <a:solidFill>
                <a:srgbClr val="000000"/>
              </a:solidFill>
              <a:effectLst/>
              <a:uFillTx/>
              <a:latin typeface="Arial"/>
            </a:endParaRPr>
          </a:p>
          <a:p>
            <a:pPr algn="ctr">
              <a:lnSpc>
                <a:spcPct val="112000"/>
              </a:lnSpc>
            </a:pPr>
            <a:r>
              <a:rPr lang="en-IN" sz="820" b="1" u="none" strike="noStrike">
                <a:solidFill>
                  <a:srgbClr val="1F3A30"/>
                </a:solidFill>
                <a:effectLst/>
                <a:uFillTx/>
                <a:latin typeface="DM Sans"/>
                <a:ea typeface="Arial"/>
              </a:rPr>
              <a:t>white/grey/black</a:t>
            </a:r>
            <a:endParaRPr lang="en-IN" sz="820" b="0" u="none" strike="noStrike">
              <a:solidFill>
                <a:srgbClr val="000000"/>
              </a:solidFill>
              <a:effectLst/>
              <a:uFillTx/>
              <a:latin typeface="Arial"/>
            </a:endParaRPr>
          </a:p>
        </p:txBody>
      </p:sp>
      <p:sp>
        <p:nvSpPr>
          <p:cNvPr id="127" name="Isosceles Triangle 67"/>
          <p:cNvSpPr/>
          <p:nvPr/>
        </p:nvSpPr>
        <p:spPr>
          <a:xfrm rot="5400000">
            <a:off x="3780360" y="2413800"/>
            <a:ext cx="118440" cy="164160"/>
          </a:xfrm>
          <a:prstGeom prst="triangle">
            <a:avLst>
              <a:gd name="adj" fmla="val 50000"/>
            </a:avLst>
          </a:prstGeom>
          <a:solidFill>
            <a:srgbClr val="9DB3A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440" rIns="90000" bIns="37440" anchor="ctr">
            <a:noAutofit/>
          </a:bodyPr>
          <a:p>
            <a:pPr/>
            <a:endParaRPr lang="en-IN" sz="1400" b="0" u="none" strike="noStrike">
              <a:solidFill>
                <a:schemeClr val="lt1"/>
              </a:solidFill>
              <a:effectLst/>
              <a:uFillTx/>
              <a:latin typeface="Arial"/>
            </a:endParaRPr>
          </a:p>
        </p:txBody>
      </p:sp>
      <p:sp>
        <p:nvSpPr>
          <p:cNvPr id="128" name="Rounded Rectangle 68"/>
          <p:cNvSpPr/>
          <p:nvPr/>
        </p:nvSpPr>
        <p:spPr>
          <a:xfrm>
            <a:off x="3915360" y="2139840"/>
            <a:ext cx="1398600" cy="712800"/>
          </a:xfrm>
          <a:prstGeom prst="roundRect">
            <a:avLst>
              <a:gd name="adj" fmla="val 10000"/>
            </a:avLst>
          </a:prstGeom>
          <a:solidFill>
            <a:srgbClr val="F4F1E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IN" sz="1400" b="0" u="none" strike="noStrike">
              <a:solidFill>
                <a:schemeClr val="lt1"/>
              </a:solidFill>
              <a:effectLst/>
              <a:uFillTx/>
              <a:latin typeface="Arial"/>
            </a:endParaRPr>
          </a:p>
        </p:txBody>
      </p:sp>
      <p:sp>
        <p:nvSpPr>
          <p:cNvPr id="129" name="TextBox 69"/>
          <p:cNvSpPr/>
          <p:nvPr/>
        </p:nvSpPr>
        <p:spPr>
          <a:xfrm>
            <a:off x="3988440" y="2139840"/>
            <a:ext cx="1252440" cy="712800"/>
          </a:xfrm>
          <a:prstGeom prst="rect">
            <a:avLst/>
          </a:prstGeom>
          <a:noFill/>
          <a:ln w="0">
            <a:noFill/>
          </a:ln>
        </p:spPr>
        <p:style>
          <a:lnRef idx="0"/>
          <a:fillRef idx="0"/>
          <a:effectRef idx="0"/>
          <a:fontRef idx="minor"/>
        </p:style>
        <p:txBody>
          <a:bodyPr lIns="0" tIns="0" rIns="0" bIns="0" anchor="ctr">
            <a:spAutoFit/>
          </a:bodyPr>
          <a:p>
            <a:pPr/>
            <a:r>
              <a:rPr lang="en-IN" sz="820" b="1" u="none" strike="noStrike">
                <a:solidFill>
                  <a:srgbClr val="1F3A30"/>
                </a:solidFill>
                <a:effectLst/>
                <a:uFillTx/>
                <a:latin typeface="DM Sans"/>
                <a:ea typeface="Arial"/>
              </a:rPr>
              <a:t>Strip region</a:t>
            </a:r>
            <a:endParaRPr lang="en-IN" sz="820" b="0" u="none" strike="noStrike">
              <a:solidFill>
                <a:srgbClr val="000000"/>
              </a:solidFill>
              <a:effectLst/>
              <a:uFillTx/>
              <a:latin typeface="Arial"/>
            </a:endParaRPr>
          </a:p>
          <a:p>
            <a:pPr algn="ctr">
              <a:lnSpc>
                <a:spcPct val="112000"/>
              </a:lnSpc>
            </a:pPr>
            <a:r>
              <a:rPr lang="en-IN" sz="820" b="1" u="none" strike="noStrike">
                <a:solidFill>
                  <a:srgbClr val="1F3A30"/>
                </a:solidFill>
                <a:effectLst/>
                <a:uFillTx/>
                <a:latin typeface="DM Sans"/>
                <a:ea typeface="Arial"/>
              </a:rPr>
              <a:t>auto-detected</a:t>
            </a:r>
            <a:endParaRPr lang="en-IN" sz="820" b="0" u="none" strike="noStrike">
              <a:solidFill>
                <a:srgbClr val="000000"/>
              </a:solidFill>
              <a:effectLst/>
              <a:uFillTx/>
              <a:latin typeface="Arial"/>
            </a:endParaRPr>
          </a:p>
        </p:txBody>
      </p:sp>
      <p:sp>
        <p:nvSpPr>
          <p:cNvPr id="130" name="Isosceles Triangle 70"/>
          <p:cNvSpPr/>
          <p:nvPr/>
        </p:nvSpPr>
        <p:spPr>
          <a:xfrm rot="5400000">
            <a:off x="5331240" y="2413800"/>
            <a:ext cx="118440" cy="164160"/>
          </a:xfrm>
          <a:prstGeom prst="triangle">
            <a:avLst>
              <a:gd name="adj" fmla="val 50000"/>
            </a:avLst>
          </a:prstGeom>
          <a:solidFill>
            <a:srgbClr val="9DB3A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440" rIns="90000" bIns="37440" anchor="ctr">
            <a:noAutofit/>
          </a:bodyPr>
          <a:p>
            <a:pPr/>
            <a:endParaRPr lang="en-IN" sz="1400" b="0" u="none" strike="noStrike">
              <a:solidFill>
                <a:schemeClr val="lt1"/>
              </a:solidFill>
              <a:effectLst/>
              <a:uFillTx/>
              <a:latin typeface="Arial"/>
            </a:endParaRPr>
          </a:p>
        </p:txBody>
      </p:sp>
      <p:sp>
        <p:nvSpPr>
          <p:cNvPr id="131" name="Rounded Rectangle 71"/>
          <p:cNvSpPr/>
          <p:nvPr/>
        </p:nvSpPr>
        <p:spPr>
          <a:xfrm>
            <a:off x="5466240" y="2139840"/>
            <a:ext cx="1398600" cy="712800"/>
          </a:xfrm>
          <a:prstGeom prst="roundRect">
            <a:avLst>
              <a:gd name="adj" fmla="val 10000"/>
            </a:avLst>
          </a:prstGeom>
          <a:solidFill>
            <a:srgbClr val="F4F1E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IN" sz="1400" b="0" u="none" strike="noStrike">
              <a:solidFill>
                <a:schemeClr val="lt1"/>
              </a:solidFill>
              <a:effectLst/>
              <a:uFillTx/>
              <a:latin typeface="Arial"/>
            </a:endParaRPr>
          </a:p>
        </p:txBody>
      </p:sp>
      <p:sp>
        <p:nvSpPr>
          <p:cNvPr id="132" name="TextBox 72"/>
          <p:cNvSpPr/>
          <p:nvPr/>
        </p:nvSpPr>
        <p:spPr>
          <a:xfrm>
            <a:off x="5539320" y="2139840"/>
            <a:ext cx="1252440" cy="712800"/>
          </a:xfrm>
          <a:prstGeom prst="rect">
            <a:avLst/>
          </a:prstGeom>
          <a:noFill/>
          <a:ln w="0">
            <a:noFill/>
          </a:ln>
        </p:spPr>
        <p:style>
          <a:lnRef idx="0"/>
          <a:fillRef idx="0"/>
          <a:effectRef idx="0"/>
          <a:fontRef idx="minor"/>
        </p:style>
        <p:txBody>
          <a:bodyPr lIns="0" tIns="0" rIns="0" bIns="0" anchor="ctr">
            <a:spAutoFit/>
          </a:bodyPr>
          <a:p>
            <a:pPr/>
            <a:r>
              <a:rPr lang="en-IN" sz="820" b="1" u="none" strike="noStrike">
                <a:solidFill>
                  <a:srgbClr val="1F3A30"/>
                </a:solidFill>
                <a:effectLst/>
                <a:uFillTx/>
                <a:latin typeface="DM Sans"/>
                <a:ea typeface="Arial"/>
              </a:rPr>
              <a:t>Zone colour</a:t>
            </a:r>
            <a:endParaRPr lang="en-IN" sz="820" b="0" u="none" strike="noStrike">
              <a:solidFill>
                <a:srgbClr val="000000"/>
              </a:solidFill>
              <a:effectLst/>
              <a:uFillTx/>
              <a:latin typeface="Arial"/>
            </a:endParaRPr>
          </a:p>
          <a:p>
            <a:pPr algn="ctr">
              <a:lnSpc>
                <a:spcPct val="112000"/>
              </a:lnSpc>
            </a:pPr>
            <a:r>
              <a:rPr lang="en-IN" sz="820" b="1" u="none" strike="noStrike">
                <a:solidFill>
                  <a:srgbClr val="1F3A30"/>
                </a:solidFill>
                <a:effectLst/>
                <a:uFillTx/>
                <a:latin typeface="DM Sans"/>
                <a:ea typeface="Arial"/>
              </a:rPr>
              <a:t>Lab + ΔE vs card</a:t>
            </a:r>
            <a:endParaRPr lang="en-IN" sz="820" b="0" u="none" strike="noStrike">
              <a:solidFill>
                <a:srgbClr val="000000"/>
              </a:solidFill>
              <a:effectLst/>
              <a:uFillTx/>
              <a:latin typeface="Arial"/>
            </a:endParaRPr>
          </a:p>
        </p:txBody>
      </p:sp>
      <p:sp>
        <p:nvSpPr>
          <p:cNvPr id="133" name="Isosceles Triangle 73"/>
          <p:cNvSpPr/>
          <p:nvPr/>
        </p:nvSpPr>
        <p:spPr>
          <a:xfrm rot="5400000">
            <a:off x="6882120" y="2413800"/>
            <a:ext cx="118440" cy="164160"/>
          </a:xfrm>
          <a:prstGeom prst="triangle">
            <a:avLst>
              <a:gd name="adj" fmla="val 50000"/>
            </a:avLst>
          </a:prstGeom>
          <a:solidFill>
            <a:srgbClr val="9DB3A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440" rIns="90000" bIns="37440" anchor="ctr">
            <a:noAutofit/>
          </a:bodyPr>
          <a:p>
            <a:pPr/>
            <a:endParaRPr lang="en-IN" sz="1400" b="0" u="none" strike="noStrike">
              <a:solidFill>
                <a:schemeClr val="lt1"/>
              </a:solidFill>
              <a:effectLst/>
              <a:uFillTx/>
              <a:latin typeface="Arial"/>
            </a:endParaRPr>
          </a:p>
        </p:txBody>
      </p:sp>
      <p:sp>
        <p:nvSpPr>
          <p:cNvPr id="134" name="Rounded Rectangle 74"/>
          <p:cNvSpPr/>
          <p:nvPr/>
        </p:nvSpPr>
        <p:spPr>
          <a:xfrm>
            <a:off x="7017120" y="2139840"/>
            <a:ext cx="1398600" cy="712800"/>
          </a:xfrm>
          <a:prstGeom prst="roundRect">
            <a:avLst>
              <a:gd name="adj" fmla="val 10000"/>
            </a:avLst>
          </a:prstGeom>
          <a:solidFill>
            <a:srgbClr val="F4F1E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IN" sz="1400" b="0" u="none" strike="noStrike">
              <a:solidFill>
                <a:schemeClr val="lt1"/>
              </a:solidFill>
              <a:effectLst/>
              <a:uFillTx/>
              <a:latin typeface="Arial"/>
            </a:endParaRPr>
          </a:p>
        </p:txBody>
      </p:sp>
      <p:sp>
        <p:nvSpPr>
          <p:cNvPr id="135" name="TextBox 75"/>
          <p:cNvSpPr/>
          <p:nvPr/>
        </p:nvSpPr>
        <p:spPr>
          <a:xfrm>
            <a:off x="7090200" y="2139840"/>
            <a:ext cx="1252440" cy="712800"/>
          </a:xfrm>
          <a:prstGeom prst="rect">
            <a:avLst/>
          </a:prstGeom>
          <a:noFill/>
          <a:ln w="0">
            <a:noFill/>
          </a:ln>
        </p:spPr>
        <p:style>
          <a:lnRef idx="0"/>
          <a:fillRef idx="0"/>
          <a:effectRef idx="0"/>
          <a:fontRef idx="minor"/>
        </p:style>
        <p:txBody>
          <a:bodyPr lIns="0" tIns="0" rIns="0" bIns="0" anchor="ctr">
            <a:spAutoFit/>
          </a:bodyPr>
          <a:p>
            <a:pPr/>
            <a:r>
              <a:rPr lang="en-IN" sz="820" b="1" u="none" strike="noStrike">
                <a:solidFill>
                  <a:srgbClr val="1F3A30"/>
                </a:solidFill>
                <a:effectLst/>
                <a:uFillTx/>
                <a:latin typeface="DM Sans"/>
                <a:ea typeface="Arial"/>
              </a:rPr>
              <a:t>12 colour and</a:t>
            </a:r>
            <a:endParaRPr lang="en-IN" sz="820" b="0" u="none" strike="noStrike">
              <a:solidFill>
                <a:srgbClr val="000000"/>
              </a:solidFill>
              <a:effectLst/>
              <a:uFillTx/>
              <a:latin typeface="Arial"/>
            </a:endParaRPr>
          </a:p>
          <a:p>
            <a:pPr algn="ctr">
              <a:lnSpc>
                <a:spcPct val="112000"/>
              </a:lnSpc>
            </a:pPr>
            <a:r>
              <a:rPr lang="en-IN" sz="820" b="1" u="none" strike="noStrike">
                <a:solidFill>
                  <a:srgbClr val="1F3A30"/>
                </a:solidFill>
                <a:effectLst/>
                <a:uFillTx/>
                <a:latin typeface="DM Sans"/>
                <a:ea typeface="Arial"/>
              </a:rPr>
              <a:t>ΔE features</a:t>
            </a:r>
            <a:endParaRPr lang="en-IN" sz="820" b="0" u="none" strike="noStrike">
              <a:solidFill>
                <a:srgbClr val="000000"/>
              </a:solidFill>
              <a:effectLst/>
              <a:uFillTx/>
              <a:latin typeface="Arial"/>
            </a:endParaRPr>
          </a:p>
        </p:txBody>
      </p:sp>
      <p:sp>
        <p:nvSpPr>
          <p:cNvPr id="136" name="Isosceles Triangle 76"/>
          <p:cNvSpPr/>
          <p:nvPr/>
        </p:nvSpPr>
        <p:spPr>
          <a:xfrm rot="5400000">
            <a:off x="8433000" y="2413800"/>
            <a:ext cx="118440" cy="164160"/>
          </a:xfrm>
          <a:prstGeom prst="triangle">
            <a:avLst>
              <a:gd name="adj" fmla="val 50000"/>
            </a:avLst>
          </a:prstGeom>
          <a:solidFill>
            <a:srgbClr val="9DB3A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440" rIns="90000" bIns="37440" anchor="ctr">
            <a:noAutofit/>
          </a:bodyPr>
          <a:p>
            <a:pPr/>
            <a:endParaRPr lang="en-IN" sz="1400" b="0" u="none" strike="noStrike">
              <a:solidFill>
                <a:schemeClr val="lt1"/>
              </a:solidFill>
              <a:effectLst/>
              <a:uFillTx/>
              <a:latin typeface="Arial"/>
            </a:endParaRPr>
          </a:p>
        </p:txBody>
      </p:sp>
      <p:sp>
        <p:nvSpPr>
          <p:cNvPr id="137" name="Rounded Rectangle 77"/>
          <p:cNvSpPr/>
          <p:nvPr/>
        </p:nvSpPr>
        <p:spPr>
          <a:xfrm>
            <a:off x="8568000" y="2139840"/>
            <a:ext cx="1398600" cy="712800"/>
          </a:xfrm>
          <a:prstGeom prst="roundRect">
            <a:avLst>
              <a:gd name="adj" fmla="val 10000"/>
            </a:avLst>
          </a:prstGeom>
          <a:solidFill>
            <a:srgbClr val="2A4A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IN" sz="1400" b="0" u="none" strike="noStrike">
              <a:solidFill>
                <a:schemeClr val="lt1"/>
              </a:solidFill>
              <a:effectLst/>
              <a:uFillTx/>
              <a:latin typeface="Arial"/>
            </a:endParaRPr>
          </a:p>
        </p:txBody>
      </p:sp>
      <p:sp>
        <p:nvSpPr>
          <p:cNvPr id="138" name="TextBox 78"/>
          <p:cNvSpPr/>
          <p:nvPr/>
        </p:nvSpPr>
        <p:spPr>
          <a:xfrm>
            <a:off x="8641080" y="2139840"/>
            <a:ext cx="1252440" cy="712800"/>
          </a:xfrm>
          <a:prstGeom prst="rect">
            <a:avLst/>
          </a:prstGeom>
          <a:noFill/>
          <a:ln w="0">
            <a:noFill/>
          </a:ln>
        </p:spPr>
        <p:style>
          <a:lnRef idx="0"/>
          <a:fillRef idx="0"/>
          <a:effectRef idx="0"/>
          <a:fontRef idx="minor"/>
        </p:style>
        <p:txBody>
          <a:bodyPr lIns="0" tIns="0" rIns="0" bIns="0" anchor="ctr">
            <a:spAutoFit/>
          </a:bodyPr>
          <a:p>
            <a:pPr/>
            <a:r>
              <a:rPr lang="en-IN" sz="820" b="1" u="none" strike="noStrike">
                <a:solidFill>
                  <a:srgbClr val="FFFFFF"/>
                </a:solidFill>
                <a:effectLst/>
                <a:uFillTx/>
                <a:latin typeface="DM Sans"/>
                <a:ea typeface="Arial"/>
              </a:rPr>
              <a:t>Gradient</a:t>
            </a:r>
            <a:endParaRPr lang="en-IN" sz="820" b="0" u="none" strike="noStrike">
              <a:solidFill>
                <a:srgbClr val="000000"/>
              </a:solidFill>
              <a:effectLst/>
              <a:uFillTx/>
              <a:latin typeface="Arial"/>
            </a:endParaRPr>
          </a:p>
          <a:p>
            <a:pPr algn="ctr">
              <a:lnSpc>
                <a:spcPct val="112000"/>
              </a:lnSpc>
            </a:pPr>
            <a:r>
              <a:rPr lang="en-IN" sz="820" b="1" u="none" strike="noStrike">
                <a:solidFill>
                  <a:srgbClr val="FFFFFF"/>
                </a:solidFill>
                <a:effectLst/>
                <a:uFillTx/>
                <a:latin typeface="DM Sans"/>
                <a:ea typeface="Arial"/>
              </a:rPr>
              <a:t>boosting</a:t>
            </a:r>
            <a:endParaRPr lang="en-IN" sz="820" b="0" u="none" strike="noStrike">
              <a:solidFill>
                <a:srgbClr val="000000"/>
              </a:solidFill>
              <a:effectLst/>
              <a:uFillTx/>
              <a:latin typeface="Arial"/>
            </a:endParaRPr>
          </a:p>
        </p:txBody>
      </p:sp>
      <p:sp>
        <p:nvSpPr>
          <p:cNvPr id="139" name="Isosceles Triangle 79"/>
          <p:cNvSpPr/>
          <p:nvPr/>
        </p:nvSpPr>
        <p:spPr>
          <a:xfrm rot="5400000">
            <a:off x="9983520" y="2413800"/>
            <a:ext cx="118440" cy="164160"/>
          </a:xfrm>
          <a:prstGeom prst="triangle">
            <a:avLst>
              <a:gd name="adj" fmla="val 50000"/>
            </a:avLst>
          </a:prstGeom>
          <a:solidFill>
            <a:srgbClr val="9DB3A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440" rIns="90000" bIns="37440" anchor="ctr">
            <a:noAutofit/>
          </a:bodyPr>
          <a:p>
            <a:pPr/>
            <a:endParaRPr lang="en-IN" sz="1400" b="0" u="none" strike="noStrike">
              <a:solidFill>
                <a:schemeClr val="lt1"/>
              </a:solidFill>
              <a:effectLst/>
              <a:uFillTx/>
              <a:latin typeface="Arial"/>
            </a:endParaRPr>
          </a:p>
        </p:txBody>
      </p:sp>
      <p:sp>
        <p:nvSpPr>
          <p:cNvPr id="140" name="Rounded Rectangle 80"/>
          <p:cNvSpPr/>
          <p:nvPr/>
        </p:nvSpPr>
        <p:spPr>
          <a:xfrm>
            <a:off x="10118880" y="2139840"/>
            <a:ext cx="1398600" cy="712800"/>
          </a:xfrm>
          <a:prstGeom prst="roundRect">
            <a:avLst>
              <a:gd name="adj" fmla="val 10000"/>
            </a:avLst>
          </a:prstGeom>
          <a:solidFill>
            <a:srgbClr val="F4F1E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IN" sz="1400" b="0" u="none" strike="noStrike">
              <a:solidFill>
                <a:schemeClr val="lt1"/>
              </a:solidFill>
              <a:effectLst/>
              <a:uFillTx/>
              <a:latin typeface="Arial"/>
            </a:endParaRPr>
          </a:p>
        </p:txBody>
      </p:sp>
      <p:sp>
        <p:nvSpPr>
          <p:cNvPr id="141" name="TextBox 81"/>
          <p:cNvSpPr/>
          <p:nvPr/>
        </p:nvSpPr>
        <p:spPr>
          <a:xfrm>
            <a:off x="10191960" y="2139840"/>
            <a:ext cx="1252440" cy="712800"/>
          </a:xfrm>
          <a:prstGeom prst="rect">
            <a:avLst/>
          </a:prstGeom>
          <a:noFill/>
          <a:ln w="0">
            <a:noFill/>
          </a:ln>
        </p:spPr>
        <p:style>
          <a:lnRef idx="0"/>
          <a:fillRef idx="0"/>
          <a:effectRef idx="0"/>
          <a:fontRef idx="minor"/>
        </p:style>
        <p:txBody>
          <a:bodyPr lIns="0" tIns="0" rIns="0" bIns="0" anchor="ctr">
            <a:spAutoFit/>
          </a:bodyPr>
          <a:p>
            <a:pPr/>
            <a:r>
              <a:rPr lang="en-IN" sz="820" b="1" u="none" strike="noStrike">
                <a:solidFill>
                  <a:srgbClr val="1F3A30"/>
                </a:solidFill>
                <a:effectLst/>
                <a:uFillTx/>
                <a:latin typeface="DM Sans"/>
                <a:ea typeface="Arial"/>
              </a:rPr>
              <a:t>Calibrated</a:t>
            </a:r>
            <a:endParaRPr lang="en-IN" sz="820" b="0" u="none" strike="noStrike">
              <a:solidFill>
                <a:srgbClr val="000000"/>
              </a:solidFill>
              <a:effectLst/>
              <a:uFillTx/>
              <a:latin typeface="Arial"/>
            </a:endParaRPr>
          </a:p>
          <a:p>
            <a:pPr algn="ctr">
              <a:lnSpc>
                <a:spcPct val="112000"/>
              </a:lnSpc>
            </a:pPr>
            <a:r>
              <a:rPr lang="en-IN" sz="820" b="1" u="none" strike="noStrike">
                <a:solidFill>
                  <a:srgbClr val="1F3A30"/>
                </a:solidFill>
                <a:effectLst/>
                <a:uFillTx/>
                <a:latin typeface="DM Sans"/>
                <a:ea typeface="Arial"/>
              </a:rPr>
              <a:t>confidence</a:t>
            </a:r>
            <a:endParaRPr lang="en-IN" sz="820" b="0" u="none" strike="noStrike">
              <a:solidFill>
                <a:srgbClr val="000000"/>
              </a:solidFill>
              <a:effectLst/>
              <a:uFillTx/>
              <a:latin typeface="Arial"/>
            </a:endParaRPr>
          </a:p>
        </p:txBody>
      </p:sp>
      <p:sp>
        <p:nvSpPr>
          <p:cNvPr id="142" name="Rounded Rectangle 82"/>
          <p:cNvSpPr/>
          <p:nvPr/>
        </p:nvSpPr>
        <p:spPr>
          <a:xfrm>
            <a:off x="813960" y="3054240"/>
            <a:ext cx="5120280" cy="566640"/>
          </a:xfrm>
          <a:prstGeom prst="roundRect">
            <a:avLst>
              <a:gd name="adj" fmla="val 10000"/>
            </a:avLst>
          </a:prstGeom>
          <a:solidFill>
            <a:srgbClr val="F5C84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IN" sz="1400" b="0" u="none" strike="noStrike">
              <a:solidFill>
                <a:schemeClr val="lt1"/>
              </a:solidFill>
              <a:effectLst/>
              <a:uFillTx/>
              <a:latin typeface="Arial"/>
            </a:endParaRPr>
          </a:p>
        </p:txBody>
      </p:sp>
      <p:sp>
        <p:nvSpPr>
          <p:cNvPr id="143" name="TextBox 83"/>
          <p:cNvSpPr/>
          <p:nvPr/>
        </p:nvSpPr>
        <p:spPr>
          <a:xfrm>
            <a:off x="996840" y="3054240"/>
            <a:ext cx="4754520" cy="566640"/>
          </a:xfrm>
          <a:prstGeom prst="rect">
            <a:avLst/>
          </a:prstGeom>
          <a:noFill/>
          <a:ln w="0">
            <a:noFill/>
          </a:ln>
        </p:spPr>
        <p:style>
          <a:lnRef idx="0"/>
          <a:fillRef idx="0"/>
          <a:effectRef idx="0"/>
          <a:fontRef idx="minor"/>
        </p:style>
        <p:txBody>
          <a:bodyPr lIns="0" tIns="0" rIns="0" bIns="0" anchor="ctr">
            <a:spAutoFit/>
          </a:bodyPr>
          <a:p>
            <a:pPr>
              <a:lnSpc>
                <a:spcPct val="100000"/>
              </a:lnSpc>
            </a:pPr>
            <a:r>
              <a:rPr lang="en-IN" sz="900" b="1" u="none" strike="noStrike">
                <a:solidFill>
                  <a:srgbClr val="1F3A30"/>
                </a:solidFill>
                <a:effectLst/>
                <a:uFillTx/>
                <a:latin typeface="DM Sans"/>
                <a:ea typeface="Arial"/>
              </a:rPr>
              <a:t>confidence ≥ 0.55  →  verdict, severity and advice, or  inconclusive and sent to a lab</a:t>
            </a:r>
            <a:endParaRPr lang="en-IN" sz="900" b="0" u="none" strike="noStrike">
              <a:solidFill>
                <a:srgbClr val="000000"/>
              </a:solidFill>
              <a:effectLst/>
              <a:uFillTx/>
              <a:latin typeface="Arial"/>
            </a:endParaRPr>
          </a:p>
        </p:txBody>
      </p:sp>
      <p:sp>
        <p:nvSpPr>
          <p:cNvPr id="144" name="TextBox 84"/>
          <p:cNvSpPr/>
          <p:nvPr/>
        </p:nvSpPr>
        <p:spPr>
          <a:xfrm>
            <a:off x="6144840" y="3054240"/>
            <a:ext cx="5540760" cy="566640"/>
          </a:xfrm>
          <a:prstGeom prst="rect">
            <a:avLst/>
          </a:prstGeom>
          <a:noFill/>
          <a:ln w="0">
            <a:noFill/>
          </a:ln>
        </p:spPr>
        <p:style>
          <a:lnRef idx="0"/>
          <a:fillRef idx="0"/>
          <a:effectRef idx="0"/>
          <a:fontRef idx="minor"/>
        </p:style>
        <p:txBody>
          <a:bodyPr lIns="0" tIns="0" rIns="0" bIns="0" anchor="ctr">
            <a:spAutoFit/>
          </a:bodyPr>
          <a:p>
            <a:pPr>
              <a:lnSpc>
                <a:spcPct val="114000"/>
              </a:lnSpc>
            </a:pPr>
            <a:r>
              <a:rPr lang="en-IN" sz="880" b="0" u="none" strike="noStrike">
                <a:solidFill>
                  <a:srgbClr val="6B7A72"/>
                </a:solidFill>
                <a:effectLst/>
                <a:uFillTx/>
                <a:latin typeface="DM Sans"/>
                <a:ea typeface="Arial"/>
              </a:rPr>
              <a:t>Below threshold the pipeline writes an inconclusive entry, not a guess. A deterministic rule table stays reachable as a fallback if the ML runtime fails to load.</a:t>
            </a:r>
            <a:endParaRPr lang="en-IN" sz="880" b="0" u="none" strike="noStrike">
              <a:solidFill>
                <a:srgbClr val="000000"/>
              </a:solidFill>
              <a:effectLst/>
              <a:uFillTx/>
              <a:latin typeface="Arial"/>
            </a:endParaRPr>
          </a:p>
        </p:txBody>
      </p:sp>
      <p:sp>
        <p:nvSpPr>
          <p:cNvPr id="145" name="TextBox 85"/>
          <p:cNvSpPr/>
          <p:nvPr/>
        </p:nvSpPr>
        <p:spPr>
          <a:xfrm>
            <a:off x="813960" y="3803760"/>
            <a:ext cx="10881000" cy="155160"/>
          </a:xfrm>
          <a:prstGeom prst="rect">
            <a:avLst/>
          </a:prstGeom>
          <a:noFill/>
          <a:ln w="0">
            <a:noFill/>
          </a:ln>
        </p:spPr>
        <p:style>
          <a:lnRef idx="0"/>
          <a:fillRef idx="0"/>
          <a:effectRef idx="0"/>
          <a:fontRef idx="minor"/>
        </p:style>
        <p:txBody>
          <a:bodyPr lIns="0" tIns="0" rIns="0" bIns="0" anchor="t">
            <a:spAutoFit/>
          </a:bodyPr>
          <a:p>
            <a:pPr>
              <a:lnSpc>
                <a:spcPct val="100000"/>
              </a:lnSpc>
            </a:pPr>
            <a:r>
              <a:rPr lang="en-IN" sz="820" b="1" u="none" strike="noStrike">
                <a:solidFill>
                  <a:srgbClr val="6B7A72"/>
                </a:solidFill>
                <a:effectLst/>
                <a:uFillTx/>
                <a:latin typeface="DM Sans"/>
                <a:ea typeface="Arial"/>
              </a:rPr>
              <a:t>SERVES AND STORES</a:t>
            </a:r>
            <a:endParaRPr lang="en-IN" sz="820" b="0" u="none" strike="noStrike">
              <a:solidFill>
                <a:srgbClr val="000000"/>
              </a:solidFill>
              <a:effectLst/>
              <a:uFillTx/>
              <a:latin typeface="Arial"/>
            </a:endParaRPr>
          </a:p>
        </p:txBody>
      </p:sp>
      <p:sp>
        <p:nvSpPr>
          <p:cNvPr id="146" name="Rounded Rectangle 86"/>
          <p:cNvSpPr/>
          <p:nvPr/>
        </p:nvSpPr>
        <p:spPr>
          <a:xfrm>
            <a:off x="813960" y="3968640"/>
            <a:ext cx="1481040" cy="566640"/>
          </a:xfrm>
          <a:prstGeom prst="roundRect">
            <a:avLst>
              <a:gd name="adj" fmla="val 10000"/>
            </a:avLst>
          </a:prstGeom>
          <a:solidFill>
            <a:srgbClr val="FFFFFF"/>
          </a:solidFill>
          <a:ln>
            <a:solidFill>
              <a:srgbClr val="DCD6C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IN" sz="1400" b="0" u="none" strike="noStrike">
              <a:solidFill>
                <a:schemeClr val="lt1"/>
              </a:solidFill>
              <a:effectLst/>
              <a:uFillTx/>
              <a:latin typeface="Arial"/>
            </a:endParaRPr>
          </a:p>
        </p:txBody>
      </p:sp>
      <p:sp>
        <p:nvSpPr>
          <p:cNvPr id="147" name="TextBox 87"/>
          <p:cNvSpPr/>
          <p:nvPr/>
        </p:nvSpPr>
        <p:spPr>
          <a:xfrm>
            <a:off x="887040" y="3968640"/>
            <a:ext cx="1334520" cy="566640"/>
          </a:xfrm>
          <a:prstGeom prst="rect">
            <a:avLst/>
          </a:prstGeom>
          <a:noFill/>
          <a:ln w="0">
            <a:noFill/>
          </a:ln>
        </p:spPr>
        <p:style>
          <a:lnRef idx="0"/>
          <a:fillRef idx="0"/>
          <a:effectRef idx="0"/>
          <a:fontRef idx="minor"/>
        </p:style>
        <p:txBody>
          <a:bodyPr lIns="0" tIns="0" rIns="0" bIns="0" anchor="ctr">
            <a:spAutoFit/>
          </a:bodyPr>
          <a:p>
            <a:pPr/>
            <a:r>
              <a:rPr lang="en-IN" sz="800" b="0" u="none" strike="noStrike">
                <a:solidFill>
                  <a:srgbClr val="2A4A3E"/>
                </a:solidFill>
                <a:effectLst/>
                <a:uFillTx/>
                <a:latin typeface="DM Sans"/>
                <a:ea typeface="Arial"/>
              </a:rPr>
              <a:t>Append-only</a:t>
            </a:r>
            <a:endParaRPr lang="en-IN" sz="800" b="0" u="none" strike="noStrike">
              <a:solidFill>
                <a:srgbClr val="000000"/>
              </a:solidFill>
              <a:effectLst/>
              <a:uFillTx/>
              <a:latin typeface="Arial"/>
            </a:endParaRPr>
          </a:p>
          <a:p>
            <a:pPr algn="ctr">
              <a:lnSpc>
                <a:spcPct val="110000"/>
              </a:lnSpc>
            </a:pPr>
            <a:r>
              <a:rPr lang="en-IN" sz="800" b="0" u="none" strike="noStrike">
                <a:solidFill>
                  <a:srgbClr val="2A4A3E"/>
                </a:solidFill>
                <a:effectLst/>
                <a:uFillTx/>
                <a:latin typeface="DM Sans"/>
                <a:ea typeface="Arial"/>
              </a:rPr>
              <a:t>SQLite</a:t>
            </a:r>
            <a:endParaRPr lang="en-IN" sz="800" b="0" u="none" strike="noStrike">
              <a:solidFill>
                <a:srgbClr val="000000"/>
              </a:solidFill>
              <a:effectLst/>
              <a:uFillTx/>
              <a:latin typeface="Arial"/>
            </a:endParaRPr>
          </a:p>
        </p:txBody>
      </p:sp>
      <p:sp>
        <p:nvSpPr>
          <p:cNvPr id="148" name="Isosceles Triangle 88"/>
          <p:cNvSpPr/>
          <p:nvPr/>
        </p:nvSpPr>
        <p:spPr>
          <a:xfrm rot="5400000">
            <a:off x="2364120" y="4169520"/>
            <a:ext cx="118440" cy="145800"/>
          </a:xfrm>
          <a:prstGeom prst="triangle">
            <a:avLst>
              <a:gd name="adj" fmla="val 50000"/>
            </a:avLst>
          </a:prstGeom>
          <a:solidFill>
            <a:srgbClr val="9DB3A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p>
            <a:pPr/>
            <a:endParaRPr lang="en-IN" sz="1400" b="0" u="none" strike="noStrike">
              <a:solidFill>
                <a:schemeClr val="lt1"/>
              </a:solidFill>
              <a:effectLst/>
              <a:uFillTx/>
              <a:latin typeface="Arial"/>
            </a:endParaRPr>
          </a:p>
        </p:txBody>
      </p:sp>
      <p:sp>
        <p:nvSpPr>
          <p:cNvPr id="149" name="Rounded Rectangle 89"/>
          <p:cNvSpPr/>
          <p:nvPr/>
        </p:nvSpPr>
        <p:spPr>
          <a:xfrm>
            <a:off x="2569320" y="3968640"/>
            <a:ext cx="1481040" cy="566640"/>
          </a:xfrm>
          <a:prstGeom prst="roundRect">
            <a:avLst>
              <a:gd name="adj" fmla="val 10000"/>
            </a:avLst>
          </a:prstGeom>
          <a:solidFill>
            <a:srgbClr val="FFFFFF"/>
          </a:solidFill>
          <a:ln>
            <a:solidFill>
              <a:srgbClr val="DCD6C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IN" sz="1400" b="0" u="none" strike="noStrike">
              <a:solidFill>
                <a:schemeClr val="lt1"/>
              </a:solidFill>
              <a:effectLst/>
              <a:uFillTx/>
              <a:latin typeface="Arial"/>
            </a:endParaRPr>
          </a:p>
        </p:txBody>
      </p:sp>
      <p:sp>
        <p:nvSpPr>
          <p:cNvPr id="150" name="TextBox 90"/>
          <p:cNvSpPr/>
          <p:nvPr/>
        </p:nvSpPr>
        <p:spPr>
          <a:xfrm>
            <a:off x="2642760" y="3968640"/>
            <a:ext cx="1334520" cy="566640"/>
          </a:xfrm>
          <a:prstGeom prst="rect">
            <a:avLst/>
          </a:prstGeom>
          <a:noFill/>
          <a:ln w="0">
            <a:noFill/>
          </a:ln>
        </p:spPr>
        <p:style>
          <a:lnRef idx="0"/>
          <a:fillRef idx="0"/>
          <a:effectRef idx="0"/>
          <a:fontRef idx="minor"/>
        </p:style>
        <p:txBody>
          <a:bodyPr lIns="0" tIns="0" rIns="0" bIns="0" anchor="ctr">
            <a:spAutoFit/>
          </a:bodyPr>
          <a:p>
            <a:pPr/>
            <a:r>
              <a:rPr lang="en-IN" sz="800" b="0" u="none" strike="noStrike">
                <a:solidFill>
                  <a:srgbClr val="2A4A3E"/>
                </a:solidFill>
                <a:effectLst/>
                <a:uFillTx/>
                <a:latin typeface="DM Sans"/>
                <a:ea typeface="Arial"/>
              </a:rPr>
              <a:t>PDF + QR</a:t>
            </a:r>
            <a:endParaRPr lang="en-IN" sz="800" b="0" u="none" strike="noStrike">
              <a:solidFill>
                <a:srgbClr val="000000"/>
              </a:solidFill>
              <a:effectLst/>
              <a:uFillTx/>
              <a:latin typeface="Arial"/>
            </a:endParaRPr>
          </a:p>
          <a:p>
            <a:pPr algn="ctr">
              <a:lnSpc>
                <a:spcPct val="110000"/>
              </a:lnSpc>
            </a:pPr>
            <a:r>
              <a:rPr lang="en-IN" sz="800" b="0" u="none" strike="noStrike">
                <a:solidFill>
                  <a:srgbClr val="2A4A3E"/>
                </a:solidFill>
                <a:effectLst/>
                <a:uFillTx/>
                <a:latin typeface="DM Sans"/>
                <a:ea typeface="Arial"/>
              </a:rPr>
              <a:t>report</a:t>
            </a:r>
            <a:endParaRPr lang="en-IN" sz="800" b="0" u="none" strike="noStrike">
              <a:solidFill>
                <a:srgbClr val="000000"/>
              </a:solidFill>
              <a:effectLst/>
              <a:uFillTx/>
              <a:latin typeface="Arial"/>
            </a:endParaRPr>
          </a:p>
        </p:txBody>
      </p:sp>
      <p:sp>
        <p:nvSpPr>
          <p:cNvPr id="151" name="Isosceles Triangle 91"/>
          <p:cNvSpPr/>
          <p:nvPr/>
        </p:nvSpPr>
        <p:spPr>
          <a:xfrm rot="5400000">
            <a:off x="4119840" y="4169520"/>
            <a:ext cx="118440" cy="145800"/>
          </a:xfrm>
          <a:prstGeom prst="triangle">
            <a:avLst>
              <a:gd name="adj" fmla="val 50000"/>
            </a:avLst>
          </a:prstGeom>
          <a:solidFill>
            <a:srgbClr val="9DB3A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p>
            <a:pPr/>
            <a:endParaRPr lang="en-IN" sz="1400" b="0" u="none" strike="noStrike">
              <a:solidFill>
                <a:schemeClr val="lt1"/>
              </a:solidFill>
              <a:effectLst/>
              <a:uFillTx/>
              <a:latin typeface="Arial"/>
            </a:endParaRPr>
          </a:p>
        </p:txBody>
      </p:sp>
      <p:sp>
        <p:nvSpPr>
          <p:cNvPr id="152" name="Rounded Rectangle 92"/>
          <p:cNvSpPr/>
          <p:nvPr/>
        </p:nvSpPr>
        <p:spPr>
          <a:xfrm>
            <a:off x="4325040" y="3968640"/>
            <a:ext cx="1481040" cy="566640"/>
          </a:xfrm>
          <a:prstGeom prst="roundRect">
            <a:avLst>
              <a:gd name="adj" fmla="val 10000"/>
            </a:avLst>
          </a:prstGeom>
          <a:solidFill>
            <a:srgbClr val="FFFFFF"/>
          </a:solidFill>
          <a:ln>
            <a:solidFill>
              <a:srgbClr val="DCD6C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IN" sz="1400" b="0" u="none" strike="noStrike">
              <a:solidFill>
                <a:schemeClr val="lt1"/>
              </a:solidFill>
              <a:effectLst/>
              <a:uFillTx/>
              <a:latin typeface="Arial"/>
            </a:endParaRPr>
          </a:p>
        </p:txBody>
      </p:sp>
      <p:sp>
        <p:nvSpPr>
          <p:cNvPr id="153" name="TextBox 93"/>
          <p:cNvSpPr/>
          <p:nvPr/>
        </p:nvSpPr>
        <p:spPr>
          <a:xfrm>
            <a:off x="4398120" y="3968640"/>
            <a:ext cx="1334520" cy="566640"/>
          </a:xfrm>
          <a:prstGeom prst="rect">
            <a:avLst/>
          </a:prstGeom>
          <a:noFill/>
          <a:ln w="0">
            <a:noFill/>
          </a:ln>
        </p:spPr>
        <p:style>
          <a:lnRef idx="0"/>
          <a:fillRef idx="0"/>
          <a:effectRef idx="0"/>
          <a:fontRef idx="minor"/>
        </p:style>
        <p:txBody>
          <a:bodyPr lIns="0" tIns="0" rIns="0" bIns="0" anchor="ctr">
            <a:spAutoFit/>
          </a:bodyPr>
          <a:p>
            <a:pPr/>
            <a:r>
              <a:rPr lang="en-IN" sz="800" b="0" u="none" strike="noStrike">
                <a:solidFill>
                  <a:srgbClr val="2A4A3E"/>
                </a:solidFill>
                <a:effectLst/>
                <a:uFillTx/>
                <a:latin typeface="DM Sans"/>
                <a:ea typeface="Arial"/>
              </a:rPr>
              <a:t>Batch id on</a:t>
            </a:r>
            <a:endParaRPr lang="en-IN" sz="800" b="0" u="none" strike="noStrike">
              <a:solidFill>
                <a:srgbClr val="000000"/>
              </a:solidFill>
              <a:effectLst/>
              <a:uFillTx/>
              <a:latin typeface="Arial"/>
            </a:endParaRPr>
          </a:p>
          <a:p>
            <a:pPr algn="ctr">
              <a:lnSpc>
                <a:spcPct val="110000"/>
              </a:lnSpc>
            </a:pPr>
            <a:r>
              <a:rPr lang="en-IN" sz="800" b="0" u="none" strike="noStrike">
                <a:solidFill>
                  <a:srgbClr val="2A4A3E"/>
                </a:solidFill>
                <a:effectLst/>
                <a:uFillTx/>
                <a:latin typeface="DM Sans"/>
                <a:ea typeface="Arial"/>
              </a:rPr>
              <a:t>every test</a:t>
            </a:r>
            <a:endParaRPr lang="en-IN" sz="800" b="0" u="none" strike="noStrike">
              <a:solidFill>
                <a:srgbClr val="000000"/>
              </a:solidFill>
              <a:effectLst/>
              <a:uFillTx/>
              <a:latin typeface="Arial"/>
            </a:endParaRPr>
          </a:p>
        </p:txBody>
      </p:sp>
      <p:sp>
        <p:nvSpPr>
          <p:cNvPr id="154" name="Isosceles Triangle 94"/>
          <p:cNvSpPr/>
          <p:nvPr/>
        </p:nvSpPr>
        <p:spPr>
          <a:xfrm rot="5400000">
            <a:off x="5875560" y="4169520"/>
            <a:ext cx="118440" cy="145800"/>
          </a:xfrm>
          <a:prstGeom prst="triangle">
            <a:avLst>
              <a:gd name="adj" fmla="val 50000"/>
            </a:avLst>
          </a:prstGeom>
          <a:solidFill>
            <a:srgbClr val="9DB3A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p>
            <a:pPr/>
            <a:endParaRPr lang="en-IN" sz="1400" b="0" u="none" strike="noStrike">
              <a:solidFill>
                <a:schemeClr val="lt1"/>
              </a:solidFill>
              <a:effectLst/>
              <a:uFillTx/>
              <a:latin typeface="Arial"/>
            </a:endParaRPr>
          </a:p>
        </p:txBody>
      </p:sp>
      <p:sp>
        <p:nvSpPr>
          <p:cNvPr id="155" name="Rounded Rectangle 95"/>
          <p:cNvSpPr/>
          <p:nvPr/>
        </p:nvSpPr>
        <p:spPr>
          <a:xfrm>
            <a:off x="6080760" y="3968640"/>
            <a:ext cx="1481040" cy="566640"/>
          </a:xfrm>
          <a:prstGeom prst="roundRect">
            <a:avLst>
              <a:gd name="adj" fmla="val 10000"/>
            </a:avLst>
          </a:prstGeom>
          <a:solidFill>
            <a:srgbClr val="FFFFFF"/>
          </a:solidFill>
          <a:ln>
            <a:solidFill>
              <a:srgbClr val="DCD6C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IN" sz="1400" b="0" u="none" strike="noStrike">
              <a:solidFill>
                <a:schemeClr val="lt1"/>
              </a:solidFill>
              <a:effectLst/>
              <a:uFillTx/>
              <a:latin typeface="Arial"/>
            </a:endParaRPr>
          </a:p>
        </p:txBody>
      </p:sp>
      <p:sp>
        <p:nvSpPr>
          <p:cNvPr id="156" name="TextBox 96"/>
          <p:cNvSpPr/>
          <p:nvPr/>
        </p:nvSpPr>
        <p:spPr>
          <a:xfrm>
            <a:off x="6153840" y="3968640"/>
            <a:ext cx="1334520" cy="566640"/>
          </a:xfrm>
          <a:prstGeom prst="rect">
            <a:avLst/>
          </a:prstGeom>
          <a:noFill/>
          <a:ln w="0">
            <a:noFill/>
          </a:ln>
        </p:spPr>
        <p:style>
          <a:lnRef idx="0"/>
          <a:fillRef idx="0"/>
          <a:effectRef idx="0"/>
          <a:fontRef idx="minor"/>
        </p:style>
        <p:txBody>
          <a:bodyPr lIns="0" tIns="0" rIns="0" bIns="0" anchor="ctr">
            <a:spAutoFit/>
          </a:bodyPr>
          <a:p>
            <a:pPr/>
            <a:r>
              <a:rPr lang="en-IN" sz="800" b="0" u="none" strike="noStrike">
                <a:solidFill>
                  <a:srgbClr val="2A4A3E"/>
                </a:solidFill>
                <a:effectLst/>
                <a:uFillTx/>
                <a:latin typeface="DM Sans"/>
                <a:ea typeface="Arial"/>
              </a:rPr>
              <a:t>Recall scoped to</a:t>
            </a:r>
            <a:endParaRPr lang="en-IN" sz="800" b="0" u="none" strike="noStrike">
              <a:solidFill>
                <a:srgbClr val="000000"/>
              </a:solidFill>
              <a:effectLst/>
              <a:uFillTx/>
              <a:latin typeface="Arial"/>
            </a:endParaRPr>
          </a:p>
          <a:p>
            <a:pPr algn="ctr">
              <a:lnSpc>
                <a:spcPct val="110000"/>
              </a:lnSpc>
            </a:pPr>
            <a:r>
              <a:rPr lang="en-IN" sz="800" b="0" u="none" strike="noStrike">
                <a:solidFill>
                  <a:srgbClr val="2A4A3E"/>
                </a:solidFill>
                <a:effectLst/>
                <a:uFillTx/>
                <a:latin typeface="DM Sans"/>
                <a:ea typeface="Arial"/>
              </a:rPr>
              <a:t>a batch</a:t>
            </a:r>
            <a:endParaRPr lang="en-IN" sz="800" b="0" u="none" strike="noStrike">
              <a:solidFill>
                <a:srgbClr val="000000"/>
              </a:solidFill>
              <a:effectLst/>
              <a:uFillTx/>
              <a:latin typeface="Arial"/>
            </a:endParaRPr>
          </a:p>
        </p:txBody>
      </p:sp>
      <p:sp>
        <p:nvSpPr>
          <p:cNvPr id="157" name="Isosceles Triangle 97"/>
          <p:cNvSpPr/>
          <p:nvPr/>
        </p:nvSpPr>
        <p:spPr>
          <a:xfrm rot="5400000">
            <a:off x="7631280" y="4169520"/>
            <a:ext cx="118440" cy="145800"/>
          </a:xfrm>
          <a:prstGeom prst="triangle">
            <a:avLst>
              <a:gd name="adj" fmla="val 50000"/>
            </a:avLst>
          </a:prstGeom>
          <a:solidFill>
            <a:srgbClr val="9DB3A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p>
            <a:pPr/>
            <a:endParaRPr lang="en-IN" sz="1400" b="0" u="none" strike="noStrike">
              <a:solidFill>
                <a:schemeClr val="lt1"/>
              </a:solidFill>
              <a:effectLst/>
              <a:uFillTx/>
              <a:latin typeface="Arial"/>
            </a:endParaRPr>
          </a:p>
        </p:txBody>
      </p:sp>
      <p:sp>
        <p:nvSpPr>
          <p:cNvPr id="158" name="Rounded Rectangle 98"/>
          <p:cNvSpPr/>
          <p:nvPr/>
        </p:nvSpPr>
        <p:spPr>
          <a:xfrm>
            <a:off x="7836480" y="3968640"/>
            <a:ext cx="1481040" cy="566640"/>
          </a:xfrm>
          <a:prstGeom prst="roundRect">
            <a:avLst>
              <a:gd name="adj" fmla="val 10000"/>
            </a:avLst>
          </a:prstGeom>
          <a:solidFill>
            <a:srgbClr val="FFFFFF"/>
          </a:solidFill>
          <a:ln>
            <a:solidFill>
              <a:srgbClr val="DCD6C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IN" sz="1400" b="0" u="none" strike="noStrike">
              <a:solidFill>
                <a:schemeClr val="lt1"/>
              </a:solidFill>
              <a:effectLst/>
              <a:uFillTx/>
              <a:latin typeface="Arial"/>
            </a:endParaRPr>
          </a:p>
        </p:txBody>
      </p:sp>
      <p:sp>
        <p:nvSpPr>
          <p:cNvPr id="159" name="TextBox 99"/>
          <p:cNvSpPr/>
          <p:nvPr/>
        </p:nvSpPr>
        <p:spPr>
          <a:xfrm>
            <a:off x="7909560" y="3968640"/>
            <a:ext cx="1334520" cy="566640"/>
          </a:xfrm>
          <a:prstGeom prst="rect">
            <a:avLst/>
          </a:prstGeom>
          <a:noFill/>
          <a:ln w="0">
            <a:noFill/>
          </a:ln>
        </p:spPr>
        <p:style>
          <a:lnRef idx="0"/>
          <a:fillRef idx="0"/>
          <a:effectRef idx="0"/>
          <a:fontRef idx="minor"/>
        </p:style>
        <p:txBody>
          <a:bodyPr lIns="0" tIns="0" rIns="0" bIns="0" anchor="ctr">
            <a:spAutoFit/>
          </a:bodyPr>
          <a:p>
            <a:pPr/>
            <a:r>
              <a:rPr lang="en-IN" sz="800" b="0" u="none" strike="noStrike">
                <a:solidFill>
                  <a:srgbClr val="2A4A3E"/>
                </a:solidFill>
                <a:effectLst/>
                <a:uFillTx/>
                <a:latin typeface="DM Sans"/>
                <a:ea typeface="Arial"/>
              </a:rPr>
              <a:t>PWA frontend,</a:t>
            </a:r>
            <a:endParaRPr lang="en-IN" sz="800" b="0" u="none" strike="noStrike">
              <a:solidFill>
                <a:srgbClr val="000000"/>
              </a:solidFill>
              <a:effectLst/>
              <a:uFillTx/>
              <a:latin typeface="Arial"/>
            </a:endParaRPr>
          </a:p>
          <a:p>
            <a:pPr algn="ctr">
              <a:lnSpc>
                <a:spcPct val="110000"/>
              </a:lnSpc>
            </a:pPr>
            <a:r>
              <a:rPr lang="en-IN" sz="800" b="0" u="none" strike="noStrike">
                <a:solidFill>
                  <a:srgbClr val="2A4A3E"/>
                </a:solidFill>
                <a:effectLst/>
                <a:uFillTx/>
                <a:latin typeface="DM Sans"/>
                <a:ea typeface="Arial"/>
              </a:rPr>
              <a:t>no install</a:t>
            </a:r>
            <a:endParaRPr lang="en-IN" sz="800" b="0" u="none" strike="noStrike">
              <a:solidFill>
                <a:srgbClr val="000000"/>
              </a:solidFill>
              <a:effectLst/>
              <a:uFillTx/>
              <a:latin typeface="Arial"/>
            </a:endParaRPr>
          </a:p>
        </p:txBody>
      </p:sp>
      <p:sp>
        <p:nvSpPr>
          <p:cNvPr id="160" name="TextBox 100"/>
          <p:cNvSpPr/>
          <p:nvPr/>
        </p:nvSpPr>
        <p:spPr>
          <a:xfrm>
            <a:off x="813960" y="4590360"/>
            <a:ext cx="4937400" cy="155160"/>
          </a:xfrm>
          <a:prstGeom prst="rect">
            <a:avLst/>
          </a:prstGeom>
          <a:noFill/>
          <a:ln w="0">
            <a:noFill/>
          </a:ln>
        </p:spPr>
        <p:style>
          <a:lnRef idx="0"/>
          <a:fillRef idx="0"/>
          <a:effectRef idx="0"/>
          <a:fontRef idx="minor"/>
        </p:style>
        <p:txBody>
          <a:bodyPr lIns="0" tIns="0" rIns="0" bIns="0" anchor="t">
            <a:spAutoFit/>
          </a:bodyPr>
          <a:p>
            <a:pPr>
              <a:lnSpc>
                <a:spcPct val="100000"/>
              </a:lnSpc>
            </a:pPr>
            <a:r>
              <a:rPr lang="en-IN" sz="820" b="1" u="none" strike="noStrike">
                <a:solidFill>
                  <a:srgbClr val="6B7A72"/>
                </a:solidFill>
                <a:effectLst/>
                <a:uFillTx/>
                <a:latin typeface="DM Sans"/>
                <a:ea typeface="Arial"/>
              </a:rPr>
              <a:t>WHY THE SMALLER MODEL SHIPS</a:t>
            </a:r>
            <a:endParaRPr lang="en-IN" sz="820" b="0" u="none" strike="noStrike">
              <a:solidFill>
                <a:srgbClr val="000000"/>
              </a:solidFill>
              <a:effectLst/>
              <a:uFillTx/>
              <a:latin typeface="Arial"/>
            </a:endParaRPr>
          </a:p>
        </p:txBody>
      </p:sp>
      <p:pic>
        <p:nvPicPr>
          <p:cNvPr id="161" name="Picture 101" descr="c_models.png"/>
          <p:cNvPicPr/>
          <p:nvPr/>
        </p:nvPicPr>
        <p:blipFill>
          <a:blip r:embed="rId1"/>
          <a:stretch/>
        </p:blipFill>
        <p:spPr>
          <a:xfrm>
            <a:off x="813960" y="4766760"/>
            <a:ext cx="4937400" cy="1027800"/>
          </a:xfrm>
          <a:prstGeom prst="rect">
            <a:avLst/>
          </a:prstGeom>
          <a:noFill/>
          <a:ln w="0">
            <a:noFill/>
          </a:ln>
        </p:spPr>
      </p:pic>
      <p:sp>
        <p:nvSpPr>
          <p:cNvPr id="162" name="Rounded Rectangle 102"/>
          <p:cNvSpPr/>
          <p:nvPr/>
        </p:nvSpPr>
        <p:spPr>
          <a:xfrm>
            <a:off x="5961960" y="4590360"/>
            <a:ext cx="5641560" cy="1243080"/>
          </a:xfrm>
          <a:prstGeom prst="roundRect">
            <a:avLst>
              <a:gd name="adj" fmla="val 10000"/>
            </a:avLst>
          </a:prstGeom>
          <a:solidFill>
            <a:srgbClr val="F4F1E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IN" sz="1400" b="0" u="none" strike="noStrike">
              <a:solidFill>
                <a:schemeClr val="lt1"/>
              </a:solidFill>
              <a:effectLst/>
              <a:uFillTx/>
              <a:latin typeface="Arial"/>
            </a:endParaRPr>
          </a:p>
        </p:txBody>
      </p:sp>
      <p:sp>
        <p:nvSpPr>
          <p:cNvPr id="163" name="TextBox 103"/>
          <p:cNvSpPr/>
          <p:nvPr/>
        </p:nvSpPr>
        <p:spPr>
          <a:xfrm>
            <a:off x="6181200" y="4763880"/>
            <a:ext cx="5202720" cy="932400"/>
          </a:xfrm>
          <a:prstGeom prst="rect">
            <a:avLst/>
          </a:prstGeom>
          <a:noFill/>
          <a:ln w="0">
            <a:noFill/>
          </a:ln>
        </p:spPr>
        <p:style>
          <a:lnRef idx="0"/>
          <a:fillRef idx="0"/>
          <a:effectRef idx="0"/>
          <a:fontRef idx="minor"/>
        </p:style>
        <p:txBody>
          <a:bodyPr lIns="0" tIns="0" rIns="0" bIns="0" anchor="t">
            <a:spAutoFit/>
          </a:bodyPr>
          <a:p>
            <a:pPr>
              <a:lnSpc>
                <a:spcPct val="100000"/>
              </a:lnSpc>
              <a:spcAft>
                <a:spcPts val="400"/>
              </a:spcAft>
            </a:pPr>
            <a:r>
              <a:rPr lang="en-IN" sz="1000" b="1" u="none" strike="noStrike">
                <a:solidFill>
                  <a:srgbClr val="2A4A3E"/>
                </a:solidFill>
                <a:effectLst/>
                <a:uFillTx/>
                <a:latin typeface="Rubik"/>
                <a:ea typeface="Arial"/>
              </a:rPr>
              <a:t>Both models tie on accuracy, so the tie broke elsewhere</a:t>
            </a:r>
            <a:endParaRPr lang="en-IN" sz="1000" b="0" u="none" strike="noStrike">
              <a:solidFill>
                <a:srgbClr val="000000"/>
              </a:solidFill>
              <a:effectLst/>
              <a:uFillTx/>
              <a:latin typeface="Arial"/>
            </a:endParaRPr>
          </a:p>
          <a:p>
            <a:pPr>
              <a:lnSpc>
                <a:spcPct val="112000"/>
              </a:lnSpc>
              <a:spcAft>
                <a:spcPts val="349"/>
              </a:spcAft>
            </a:pPr>
            <a:r>
              <a:rPr lang="en-IN" sz="880" b="0" u="none" strike="noStrike">
                <a:solidFill>
                  <a:srgbClr val="1F3A30"/>
                </a:solidFill>
                <a:effectLst/>
                <a:uFillTx/>
                <a:latin typeface="DM Sans"/>
                <a:ea typeface="Arial"/>
              </a:rPr>
              <a:t>A 12-feature gradient booster and a ResNet18 both scored 1.000 at 0.800 coverage on held-out lighting. The booster ships: 179 KB against 45 MB, and it answers at 0.55 confidence where the network needs 0.999, which leaves room to still answer when a real phone camera shifts the colour.</a:t>
            </a:r>
            <a:endParaRPr lang="en-IN" sz="880" b="0" u="none" strike="noStrike">
              <a:solidFill>
                <a:srgbClr val="000000"/>
              </a:solidFill>
              <a:effectLst/>
              <a:uFillTx/>
              <a:latin typeface="Arial"/>
            </a:endParaRPr>
          </a:p>
        </p:txBody>
      </p:sp>
      <p:sp>
        <p:nvSpPr>
          <p:cNvPr id="164" name="TextBox 104"/>
          <p:cNvSpPr/>
          <p:nvPr/>
        </p:nvSpPr>
        <p:spPr>
          <a:xfrm>
            <a:off x="813960" y="5925240"/>
            <a:ext cx="10881000" cy="237240"/>
          </a:xfrm>
          <a:prstGeom prst="rect">
            <a:avLst/>
          </a:prstGeom>
          <a:noFill/>
          <a:ln w="0">
            <a:noFill/>
          </a:ln>
        </p:spPr>
        <p:style>
          <a:lnRef idx="0"/>
          <a:fillRef idx="0"/>
          <a:effectRef idx="0"/>
          <a:fontRef idx="minor"/>
        </p:style>
        <p:txBody>
          <a:bodyPr lIns="0" tIns="0" rIns="0" bIns="0" anchor="t">
            <a:spAutoFit/>
          </a:bodyPr>
          <a:p>
            <a:pPr>
              <a:lnSpc>
                <a:spcPct val="100000"/>
              </a:lnSpc>
            </a:pPr>
            <a:r>
              <a:rPr lang="en-IN" sz="760" b="0" u="none" strike="noStrike">
                <a:solidFill>
                  <a:srgbClr val="9DB3A7"/>
                </a:solidFill>
                <a:effectLst/>
                <a:uFillTx/>
                <a:latin typeface="DM Sans"/>
                <a:ea typeface="Arial"/>
              </a:rPr>
              <a:t>Stack: Python 3.12 · OpenCV · scikit-learn · ONNX Runtime on CPU · FastAPI · SQLite · browser frontend. No GPU is needed at inference.</a:t>
            </a:r>
            <a:endParaRPr lang="en-IN" sz="76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65" name="Google Shape;68;p7"/>
          <p:cNvSpPr/>
          <p:nvPr/>
        </p:nvSpPr>
        <p:spPr>
          <a:xfrm>
            <a:off x="812880" y="812880"/>
            <a:ext cx="10883160" cy="256320"/>
          </a:xfrm>
          <a:prstGeom prst="rect">
            <a:avLst/>
          </a:prstGeom>
          <a:noFill/>
          <a:ln w="0">
            <a:noFill/>
          </a:ln>
        </p:spPr>
        <p:style>
          <a:lnRef idx="0"/>
          <a:fillRef idx="0"/>
          <a:effectRef idx="0"/>
          <a:fontRef idx="minor"/>
        </p:style>
        <p:txBody>
          <a:bodyPr lIns="0" tIns="0" rIns="0" bIns="0" anchor="t">
            <a:noAutofit/>
          </a:bodyPr>
          <a:p>
            <a:pPr>
              <a:lnSpc>
                <a:spcPct val="140000"/>
              </a:lnSpc>
              <a:tabLst>
                <a:tab pos="0" algn="l"/>
              </a:tabLst>
            </a:pPr>
            <a:r>
              <a:rPr lang="en-US" sz="1300" b="1" u="none" strike="noStrike">
                <a:solidFill>
                  <a:srgbClr val="D9581C"/>
                </a:solidFill>
                <a:effectLst/>
                <a:uFillTx/>
                <a:latin typeface="DM Sans"/>
                <a:ea typeface="DM Sans"/>
              </a:rPr>
              <a:t>TECH4FOOD 2026 · ROUND 1 IDEA SUBMISSION</a:t>
            </a:r>
            <a:endParaRPr lang="en-IN" sz="1300" b="0" u="none" strike="noStrike">
              <a:solidFill>
                <a:srgbClr val="000000"/>
              </a:solidFill>
              <a:effectLst/>
              <a:uFillTx/>
              <a:latin typeface="Arial"/>
            </a:endParaRPr>
          </a:p>
        </p:txBody>
      </p:sp>
      <p:sp>
        <p:nvSpPr>
          <p:cNvPr id="166" name="Google Shape;69;p7"/>
          <p:cNvSpPr/>
          <p:nvPr/>
        </p:nvSpPr>
        <p:spPr>
          <a:xfrm>
            <a:off x="812880" y="1272600"/>
            <a:ext cx="10883160" cy="527760"/>
          </a:xfrm>
          <a:prstGeom prst="rect">
            <a:avLst/>
          </a:prstGeom>
          <a:noFill/>
          <a:ln w="0">
            <a:noFill/>
          </a:ln>
        </p:spPr>
        <p:style>
          <a:lnRef idx="0"/>
          <a:fillRef idx="0"/>
          <a:effectRef idx="0"/>
          <a:fontRef idx="minor"/>
        </p:style>
        <p:txBody>
          <a:bodyPr lIns="0" tIns="0" rIns="0" bIns="0" anchor="t">
            <a:noAutofit/>
          </a:bodyPr>
          <a:p>
            <a:pPr>
              <a:lnSpc>
                <a:spcPct val="110000"/>
              </a:lnSpc>
              <a:tabLst>
                <a:tab pos="0" algn="l"/>
              </a:tabLst>
            </a:pPr>
            <a:r>
              <a:rPr lang="en-US" sz="3600" b="1" u="none" strike="noStrike">
                <a:solidFill>
                  <a:srgbClr val="1F3A30"/>
                </a:solidFill>
                <a:effectLst/>
                <a:uFillTx/>
                <a:latin typeface="Rubik"/>
                <a:ea typeface="Rubik"/>
              </a:rPr>
              <a:t>Implementation / Prototype</a:t>
            </a:r>
            <a:endParaRPr lang="en-IN" sz="3600" b="0" u="none" strike="noStrike">
              <a:solidFill>
                <a:srgbClr val="000000"/>
              </a:solidFill>
              <a:effectLst/>
              <a:uFillTx/>
              <a:latin typeface="Arial"/>
            </a:endParaRPr>
          </a:p>
        </p:txBody>
      </p:sp>
      <p:sp>
        <p:nvSpPr>
          <p:cNvPr id="167" name="Google Shape;71;p7"/>
          <p:cNvSpPr/>
          <p:nvPr/>
        </p:nvSpPr>
        <p:spPr>
          <a:xfrm>
            <a:off x="812880" y="6238440"/>
            <a:ext cx="10883160" cy="238320"/>
          </a:xfrm>
          <a:prstGeom prst="rect">
            <a:avLst/>
          </a:prstGeom>
          <a:noFill/>
          <a:ln w="0">
            <a:noFill/>
          </a:ln>
        </p:spPr>
        <p:style>
          <a:lnRef idx="0"/>
          <a:fillRef idx="0"/>
          <a:effectRef idx="0"/>
          <a:fontRef idx="minor"/>
        </p:style>
        <p:txBody>
          <a:bodyPr lIns="0" tIns="0" rIns="0" bIns="0" anchor="t">
            <a:noAutofit/>
          </a:bodyPr>
          <a:p>
            <a:pPr>
              <a:lnSpc>
                <a:spcPct val="140000"/>
              </a:lnSpc>
              <a:tabLst>
                <a:tab pos="0" algn="l"/>
              </a:tabLst>
            </a:pPr>
            <a:r>
              <a:rPr lang="en-US" sz="1200" b="0" u="none" strike="noStrike">
                <a:solidFill>
                  <a:srgbClr val="6B7A72"/>
                </a:solidFill>
                <a:effectLst/>
                <a:uFillTx/>
                <a:latin typeface="DM Sans"/>
                <a:ea typeface="DM Sans"/>
              </a:rPr>
              <a:t>Tech4Food 2026 · New Era of Smarter Food Safety · PCCOE, Pune · 05</a:t>
            </a:r>
            <a:endParaRPr lang="en-IN" sz="1200" b="0" u="none" strike="noStrike">
              <a:solidFill>
                <a:srgbClr val="000000"/>
              </a:solidFill>
              <a:effectLst/>
              <a:uFillTx/>
              <a:latin typeface="Arial"/>
            </a:endParaRPr>
          </a:p>
        </p:txBody>
      </p:sp>
      <p:sp>
        <p:nvSpPr>
          <p:cNvPr id="168" name="Rounded Rectangle 71"/>
          <p:cNvSpPr/>
          <p:nvPr/>
        </p:nvSpPr>
        <p:spPr>
          <a:xfrm>
            <a:off x="813960" y="2066400"/>
            <a:ext cx="3520080" cy="1572480"/>
          </a:xfrm>
          <a:prstGeom prst="roundRect">
            <a:avLst>
              <a:gd name="adj" fmla="val 10000"/>
            </a:avLst>
          </a:prstGeom>
          <a:solidFill>
            <a:srgbClr val="0D142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IN" sz="1400" b="0" u="none" strike="noStrike">
              <a:solidFill>
                <a:schemeClr val="lt1"/>
              </a:solidFill>
              <a:effectLst/>
              <a:uFillTx/>
              <a:latin typeface="Arial"/>
            </a:endParaRPr>
          </a:p>
        </p:txBody>
      </p:sp>
      <p:pic>
        <p:nvPicPr>
          <p:cNvPr id="169" name="Picture 72" descr="s_verdict_starch.png"/>
          <p:cNvPicPr/>
          <p:nvPr/>
        </p:nvPicPr>
        <p:blipFill>
          <a:blip r:embed="rId1"/>
          <a:stretch/>
        </p:blipFill>
        <p:spPr>
          <a:xfrm>
            <a:off x="1039680" y="2103120"/>
            <a:ext cx="3067920" cy="1499400"/>
          </a:xfrm>
          <a:prstGeom prst="rect">
            <a:avLst/>
          </a:prstGeom>
          <a:noFill/>
          <a:ln w="0">
            <a:noFill/>
          </a:ln>
        </p:spPr>
      </p:pic>
      <p:sp>
        <p:nvSpPr>
          <p:cNvPr id="170" name="TextBox 73"/>
          <p:cNvSpPr/>
          <p:nvPr/>
        </p:nvSpPr>
        <p:spPr>
          <a:xfrm>
            <a:off x="813960" y="3675960"/>
            <a:ext cx="3520080" cy="237240"/>
          </a:xfrm>
          <a:prstGeom prst="rect">
            <a:avLst/>
          </a:prstGeom>
          <a:noFill/>
          <a:ln w="0">
            <a:noFill/>
          </a:ln>
        </p:spPr>
        <p:style>
          <a:lnRef idx="0"/>
          <a:fillRef idx="0"/>
          <a:effectRef idx="0"/>
          <a:fontRef idx="minor"/>
        </p:style>
        <p:txBody>
          <a:bodyPr lIns="0" tIns="0" rIns="0" bIns="0" anchor="t">
            <a:spAutoFit/>
          </a:bodyPr>
          <a:p>
            <a:pPr>
              <a:lnSpc>
                <a:spcPct val="112000"/>
              </a:lnSpc>
            </a:pPr>
            <a:r>
              <a:rPr lang="en-IN" sz="760" b="0" u="none" strike="noStrike">
                <a:solidFill>
                  <a:srgbClr val="6B7A72"/>
                </a:solidFill>
                <a:effectLst/>
                <a:uFillTx/>
                <a:latin typeface="DM Sans"/>
                <a:ea typeface="Arial"/>
              </a:rPr>
              <a:t>Verdict screen: type, confidence, severity, and what to do next</a:t>
            </a:r>
            <a:endParaRPr lang="en-IN" sz="760" b="0" u="none" strike="noStrike">
              <a:solidFill>
                <a:srgbClr val="000000"/>
              </a:solidFill>
              <a:effectLst/>
              <a:uFillTx/>
              <a:latin typeface="Arial"/>
            </a:endParaRPr>
          </a:p>
        </p:txBody>
      </p:sp>
      <p:sp>
        <p:nvSpPr>
          <p:cNvPr id="171" name="Rounded Rectangle 74"/>
          <p:cNvSpPr/>
          <p:nvPr/>
        </p:nvSpPr>
        <p:spPr>
          <a:xfrm>
            <a:off x="4494240" y="2066400"/>
            <a:ext cx="3520080" cy="1572480"/>
          </a:xfrm>
          <a:prstGeom prst="roundRect">
            <a:avLst>
              <a:gd name="adj" fmla="val 10000"/>
            </a:avLst>
          </a:prstGeom>
          <a:solidFill>
            <a:srgbClr val="0D142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IN" sz="1400" b="0" u="none" strike="noStrike">
              <a:solidFill>
                <a:schemeClr val="lt1"/>
              </a:solidFill>
              <a:effectLst/>
              <a:uFillTx/>
              <a:latin typeface="Arial"/>
            </a:endParaRPr>
          </a:p>
        </p:txBody>
      </p:sp>
      <p:pic>
        <p:nvPicPr>
          <p:cNvPr id="172" name="Picture 75" descr="s_verdict_pure.png"/>
          <p:cNvPicPr/>
          <p:nvPr/>
        </p:nvPicPr>
        <p:blipFill>
          <a:blip r:embed="rId2"/>
          <a:stretch/>
        </p:blipFill>
        <p:spPr>
          <a:xfrm>
            <a:off x="4720320" y="2103120"/>
            <a:ext cx="3067920" cy="1499400"/>
          </a:xfrm>
          <a:prstGeom prst="rect">
            <a:avLst/>
          </a:prstGeom>
          <a:noFill/>
          <a:ln w="0">
            <a:noFill/>
          </a:ln>
        </p:spPr>
      </p:pic>
      <p:sp>
        <p:nvSpPr>
          <p:cNvPr id="173" name="TextBox 76"/>
          <p:cNvSpPr/>
          <p:nvPr/>
        </p:nvSpPr>
        <p:spPr>
          <a:xfrm>
            <a:off x="4494240" y="3675960"/>
            <a:ext cx="3520080" cy="237240"/>
          </a:xfrm>
          <a:prstGeom prst="rect">
            <a:avLst/>
          </a:prstGeom>
          <a:noFill/>
          <a:ln w="0">
            <a:noFill/>
          </a:ln>
        </p:spPr>
        <p:style>
          <a:lnRef idx="0"/>
          <a:fillRef idx="0"/>
          <a:effectRef idx="0"/>
          <a:fontRef idx="minor"/>
        </p:style>
        <p:txBody>
          <a:bodyPr lIns="0" tIns="0" rIns="0" bIns="0" anchor="t">
            <a:spAutoFit/>
          </a:bodyPr>
          <a:p>
            <a:pPr>
              <a:lnSpc>
                <a:spcPct val="112000"/>
              </a:lnSpc>
            </a:pPr>
            <a:r>
              <a:rPr lang="en-IN" sz="760" b="0" u="none" strike="noStrike">
                <a:solidFill>
                  <a:srgbClr val="6B7A72"/>
                </a:solidFill>
                <a:effectLst/>
                <a:uFillTx/>
                <a:latin typeface="DM Sans"/>
                <a:ea typeface="Arial"/>
              </a:rPr>
              <a:t>A clean sample comes back as none, not as a blank screen</a:t>
            </a:r>
            <a:endParaRPr lang="en-IN" sz="760" b="0" u="none" strike="noStrike">
              <a:solidFill>
                <a:srgbClr val="000000"/>
              </a:solidFill>
              <a:effectLst/>
              <a:uFillTx/>
              <a:latin typeface="Arial"/>
            </a:endParaRPr>
          </a:p>
        </p:txBody>
      </p:sp>
      <p:sp>
        <p:nvSpPr>
          <p:cNvPr id="174" name="Rounded Rectangle 77"/>
          <p:cNvSpPr/>
          <p:nvPr/>
        </p:nvSpPr>
        <p:spPr>
          <a:xfrm>
            <a:off x="8174880" y="2066400"/>
            <a:ext cx="3520080" cy="1572480"/>
          </a:xfrm>
          <a:prstGeom prst="roundRect">
            <a:avLst>
              <a:gd name="adj" fmla="val 10000"/>
            </a:avLst>
          </a:prstGeom>
          <a:solidFill>
            <a:srgbClr val="0D142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IN" sz="1400" b="0" u="none" strike="noStrike">
              <a:solidFill>
                <a:schemeClr val="lt1"/>
              </a:solidFill>
              <a:effectLst/>
              <a:uFillTx/>
              <a:latin typeface="Arial"/>
            </a:endParaRPr>
          </a:p>
        </p:txBody>
      </p:sp>
      <p:pic>
        <p:nvPicPr>
          <p:cNvPr id="175" name="Picture 78" descr="s_evidence.png"/>
          <p:cNvPicPr/>
          <p:nvPr/>
        </p:nvPicPr>
        <p:blipFill>
          <a:blip r:embed="rId3"/>
          <a:stretch/>
        </p:blipFill>
        <p:spPr>
          <a:xfrm>
            <a:off x="8211240" y="2205000"/>
            <a:ext cx="3447000" cy="1295640"/>
          </a:xfrm>
          <a:prstGeom prst="rect">
            <a:avLst/>
          </a:prstGeom>
          <a:noFill/>
          <a:ln w="0">
            <a:noFill/>
          </a:ln>
        </p:spPr>
      </p:pic>
      <p:sp>
        <p:nvSpPr>
          <p:cNvPr id="176" name="TextBox 79"/>
          <p:cNvSpPr/>
          <p:nvPr/>
        </p:nvSpPr>
        <p:spPr>
          <a:xfrm>
            <a:off x="8174880" y="3675960"/>
            <a:ext cx="3520080" cy="237240"/>
          </a:xfrm>
          <a:prstGeom prst="rect">
            <a:avLst/>
          </a:prstGeom>
          <a:noFill/>
          <a:ln w="0">
            <a:noFill/>
          </a:ln>
        </p:spPr>
        <p:style>
          <a:lnRef idx="0"/>
          <a:fillRef idx="0"/>
          <a:effectRef idx="0"/>
          <a:fontRef idx="minor"/>
        </p:style>
        <p:txBody>
          <a:bodyPr lIns="0" tIns="0" rIns="0" bIns="0" anchor="t">
            <a:spAutoFit/>
          </a:bodyPr>
          <a:p>
            <a:pPr>
              <a:lnSpc>
                <a:spcPct val="112000"/>
              </a:lnSpc>
            </a:pPr>
            <a:r>
              <a:rPr lang="en-IN" sz="760" b="0" u="none" strike="noStrike">
                <a:solidFill>
                  <a:srgbClr val="6B7A72"/>
                </a:solidFill>
                <a:effectLst/>
                <a:uFillTx/>
                <a:latin typeface="DM Sans"/>
                <a:ea typeface="Arial"/>
              </a:rPr>
              <a:t>Evidence log: every test stamped, each with a PDF and QR report</a:t>
            </a:r>
            <a:endParaRPr lang="en-IN" sz="760" b="0" u="none" strike="noStrike">
              <a:solidFill>
                <a:srgbClr val="000000"/>
              </a:solidFill>
              <a:effectLst/>
              <a:uFillTx/>
              <a:latin typeface="Arial"/>
            </a:endParaRPr>
          </a:p>
        </p:txBody>
      </p:sp>
      <p:sp>
        <p:nvSpPr>
          <p:cNvPr id="177" name="TextBox 80"/>
          <p:cNvSpPr/>
          <p:nvPr/>
        </p:nvSpPr>
        <p:spPr>
          <a:xfrm>
            <a:off x="813960" y="3986640"/>
            <a:ext cx="2962440" cy="155160"/>
          </a:xfrm>
          <a:prstGeom prst="rect">
            <a:avLst/>
          </a:prstGeom>
          <a:noFill/>
          <a:ln w="0">
            <a:noFill/>
          </a:ln>
        </p:spPr>
        <p:style>
          <a:lnRef idx="0"/>
          <a:fillRef idx="0"/>
          <a:effectRef idx="0"/>
          <a:fontRef idx="minor"/>
        </p:style>
        <p:txBody>
          <a:bodyPr lIns="0" tIns="0" rIns="0" bIns="0" anchor="t">
            <a:spAutoFit/>
          </a:bodyPr>
          <a:p>
            <a:pPr>
              <a:lnSpc>
                <a:spcPct val="100000"/>
              </a:lnSpc>
            </a:pPr>
            <a:r>
              <a:rPr lang="en-IN" sz="820" b="1" u="none" strike="noStrike">
                <a:solidFill>
                  <a:srgbClr val="6B7A72"/>
                </a:solidFill>
                <a:effectLst/>
                <a:uFillTx/>
                <a:latin typeface="DM Sans"/>
                <a:ea typeface="Arial"/>
              </a:rPr>
              <a:t>HELD OUT BY LIGHTING, NOT BY IMAGE</a:t>
            </a:r>
            <a:endParaRPr lang="en-IN" sz="820" b="0" u="none" strike="noStrike">
              <a:solidFill>
                <a:srgbClr val="000000"/>
              </a:solidFill>
              <a:effectLst/>
              <a:uFillTx/>
              <a:latin typeface="Arial"/>
            </a:endParaRPr>
          </a:p>
        </p:txBody>
      </p:sp>
      <p:pic>
        <p:nvPicPr>
          <p:cNvPr id="178" name="Picture 81" descr="c_confusion.png"/>
          <p:cNvPicPr/>
          <p:nvPr/>
        </p:nvPicPr>
        <p:blipFill>
          <a:blip r:embed="rId4"/>
          <a:stretch/>
        </p:blipFill>
        <p:spPr>
          <a:xfrm>
            <a:off x="1067040" y="4169520"/>
            <a:ext cx="1888920" cy="1645560"/>
          </a:xfrm>
          <a:prstGeom prst="rect">
            <a:avLst/>
          </a:prstGeom>
          <a:noFill/>
          <a:ln w="0">
            <a:noFill/>
          </a:ln>
        </p:spPr>
      </p:pic>
      <p:sp>
        <p:nvSpPr>
          <p:cNvPr id="179" name="TextBox 82"/>
          <p:cNvSpPr/>
          <p:nvPr/>
        </p:nvSpPr>
        <p:spPr>
          <a:xfrm>
            <a:off x="813960" y="5833800"/>
            <a:ext cx="2962440" cy="237240"/>
          </a:xfrm>
          <a:prstGeom prst="rect">
            <a:avLst/>
          </a:prstGeom>
          <a:noFill/>
          <a:ln w="0">
            <a:noFill/>
          </a:ln>
        </p:spPr>
        <p:style>
          <a:lnRef idx="0"/>
          <a:fillRef idx="0"/>
          <a:effectRef idx="0"/>
          <a:fontRef idx="minor"/>
        </p:style>
        <p:txBody>
          <a:bodyPr lIns="0" tIns="0" rIns="0" bIns="0" anchor="t">
            <a:spAutoFit/>
          </a:bodyPr>
          <a:p>
            <a:pPr>
              <a:lnSpc>
                <a:spcPct val="100000"/>
              </a:lnSpc>
            </a:pPr>
            <a:r>
              <a:rPr lang="en-IN" sz="740" b="0" u="none" strike="noStrike">
                <a:solidFill>
                  <a:srgbClr val="9DB3A7"/>
                </a:solidFill>
                <a:effectLst/>
                <a:uFillTx/>
                <a:latin typeface="DM Sans"/>
                <a:ea typeface="Arial"/>
              </a:rPr>
              <a:t>45 samples, 3 lighting conditions the model never saw in training</a:t>
            </a:r>
            <a:endParaRPr lang="en-IN" sz="740" b="0" u="none" strike="noStrike">
              <a:solidFill>
                <a:srgbClr val="000000"/>
              </a:solidFill>
              <a:effectLst/>
              <a:uFillTx/>
              <a:latin typeface="Arial"/>
            </a:endParaRPr>
          </a:p>
        </p:txBody>
      </p:sp>
      <p:sp>
        <p:nvSpPr>
          <p:cNvPr id="180" name="TextBox 83"/>
          <p:cNvSpPr/>
          <p:nvPr/>
        </p:nvSpPr>
        <p:spPr>
          <a:xfrm>
            <a:off x="3968640" y="3986640"/>
            <a:ext cx="3931560" cy="155160"/>
          </a:xfrm>
          <a:prstGeom prst="rect">
            <a:avLst/>
          </a:prstGeom>
          <a:noFill/>
          <a:ln w="0">
            <a:noFill/>
          </a:ln>
        </p:spPr>
        <p:style>
          <a:lnRef idx="0"/>
          <a:fillRef idx="0"/>
          <a:effectRef idx="0"/>
          <a:fontRef idx="minor"/>
        </p:style>
        <p:txBody>
          <a:bodyPr lIns="0" tIns="0" rIns="0" bIns="0" anchor="t">
            <a:spAutoFit/>
          </a:bodyPr>
          <a:p>
            <a:pPr>
              <a:lnSpc>
                <a:spcPct val="100000"/>
              </a:lnSpc>
            </a:pPr>
            <a:r>
              <a:rPr lang="en-IN" sz="820" b="1" u="none" strike="noStrike">
                <a:solidFill>
                  <a:srgbClr val="6B7A72"/>
                </a:solidFill>
                <a:effectLst/>
                <a:uFillTx/>
                <a:latin typeface="DM Sans"/>
                <a:ea typeface="Arial"/>
              </a:rPr>
              <a:t>TRAINING SET, 534 SYNTHETIC STRIP IMAGES</a:t>
            </a:r>
            <a:endParaRPr lang="en-IN" sz="820" b="0" u="none" strike="noStrike">
              <a:solidFill>
                <a:srgbClr val="000000"/>
              </a:solidFill>
              <a:effectLst/>
              <a:uFillTx/>
              <a:latin typeface="Arial"/>
            </a:endParaRPr>
          </a:p>
        </p:txBody>
      </p:sp>
      <p:pic>
        <p:nvPicPr>
          <p:cNvPr id="181" name="Picture 84" descr="c_dataset.png"/>
          <p:cNvPicPr/>
          <p:nvPr/>
        </p:nvPicPr>
        <p:blipFill>
          <a:blip r:embed="rId5"/>
          <a:stretch/>
        </p:blipFill>
        <p:spPr>
          <a:xfrm>
            <a:off x="4492800" y="4169520"/>
            <a:ext cx="2883240" cy="1298160"/>
          </a:xfrm>
          <a:prstGeom prst="rect">
            <a:avLst/>
          </a:prstGeom>
          <a:noFill/>
          <a:ln w="0">
            <a:noFill/>
          </a:ln>
        </p:spPr>
      </p:pic>
      <p:sp>
        <p:nvSpPr>
          <p:cNvPr id="182" name="TextBox 85"/>
          <p:cNvSpPr/>
          <p:nvPr/>
        </p:nvSpPr>
        <p:spPr>
          <a:xfrm>
            <a:off x="3968640" y="5559480"/>
            <a:ext cx="3931560" cy="475200"/>
          </a:xfrm>
          <a:prstGeom prst="rect">
            <a:avLst/>
          </a:prstGeom>
          <a:noFill/>
          <a:ln w="0">
            <a:noFill/>
          </a:ln>
        </p:spPr>
        <p:style>
          <a:lnRef idx="0"/>
          <a:fillRef idx="0"/>
          <a:effectRef idx="0"/>
          <a:fontRef idx="minor"/>
        </p:style>
        <p:txBody>
          <a:bodyPr lIns="0" tIns="0" rIns="0" bIns="0" anchor="t">
            <a:spAutoFit/>
          </a:bodyPr>
          <a:p>
            <a:pPr>
              <a:lnSpc>
                <a:spcPct val="114000"/>
              </a:lnSpc>
            </a:pPr>
            <a:r>
              <a:rPr lang="en-IN" sz="800" b="0" u="none" strike="noStrike">
                <a:solidFill>
                  <a:srgbClr val="6B7A72"/>
                </a:solidFill>
                <a:effectLst/>
                <a:uFillTx/>
                <a:latin typeface="DM Sans"/>
                <a:ea typeface="Arial"/>
              </a:rPr>
              <a:t>Splits are assigned by lighting condition, so no condition appears in two splits. The model abstains on 9 of the 45 held-out samples, and those 9 are the 9 labelled inconclusive.</a:t>
            </a:r>
            <a:endParaRPr lang="en-IN" sz="800" b="0" u="none" strike="noStrike">
              <a:solidFill>
                <a:srgbClr val="000000"/>
              </a:solidFill>
              <a:effectLst/>
              <a:uFillTx/>
              <a:latin typeface="Arial"/>
            </a:endParaRPr>
          </a:p>
        </p:txBody>
      </p:sp>
      <p:sp>
        <p:nvSpPr>
          <p:cNvPr id="183" name="Rounded Rectangle 86"/>
          <p:cNvSpPr/>
          <p:nvPr/>
        </p:nvSpPr>
        <p:spPr>
          <a:xfrm>
            <a:off x="8174880" y="3986640"/>
            <a:ext cx="3428640" cy="475200"/>
          </a:xfrm>
          <a:prstGeom prst="roundRect">
            <a:avLst>
              <a:gd name="adj" fmla="val 10000"/>
            </a:avLst>
          </a:prstGeom>
          <a:solidFill>
            <a:srgbClr val="F4F1E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IN" sz="1400" b="0" u="none" strike="noStrike">
              <a:solidFill>
                <a:schemeClr val="lt1"/>
              </a:solidFill>
              <a:effectLst/>
              <a:uFillTx/>
              <a:latin typeface="Arial"/>
            </a:endParaRPr>
          </a:p>
        </p:txBody>
      </p:sp>
      <p:sp>
        <p:nvSpPr>
          <p:cNvPr id="184" name="Rectangle 87"/>
          <p:cNvSpPr/>
          <p:nvPr/>
        </p:nvSpPr>
        <p:spPr>
          <a:xfrm>
            <a:off x="8174880" y="3986640"/>
            <a:ext cx="50040" cy="475200"/>
          </a:xfrm>
          <a:prstGeom prst="rect">
            <a:avLst/>
          </a:prstGeom>
          <a:solidFill>
            <a:srgbClr val="2A4A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IN" sz="1400" b="0" u="none" strike="noStrike">
              <a:solidFill>
                <a:schemeClr val="lt1"/>
              </a:solidFill>
              <a:effectLst/>
              <a:uFillTx/>
              <a:latin typeface="Arial"/>
            </a:endParaRPr>
          </a:p>
        </p:txBody>
      </p:sp>
      <p:sp>
        <p:nvSpPr>
          <p:cNvPr id="185" name="TextBox 88"/>
          <p:cNvSpPr/>
          <p:nvPr/>
        </p:nvSpPr>
        <p:spPr>
          <a:xfrm>
            <a:off x="8375760" y="4078080"/>
            <a:ext cx="3099600" cy="310680"/>
          </a:xfrm>
          <a:prstGeom prst="rect">
            <a:avLst/>
          </a:prstGeom>
          <a:noFill/>
          <a:ln w="0">
            <a:noFill/>
          </a:ln>
        </p:spPr>
        <p:style>
          <a:lnRef idx="0"/>
          <a:fillRef idx="0"/>
          <a:effectRef idx="0"/>
          <a:fontRef idx="minor"/>
        </p:style>
        <p:txBody>
          <a:bodyPr lIns="0" tIns="0" rIns="0" bIns="0" anchor="t">
            <a:spAutoFit/>
          </a:bodyPr>
          <a:p>
            <a:pPr>
              <a:lnSpc>
                <a:spcPct val="100000"/>
              </a:lnSpc>
              <a:spcAft>
                <a:spcPts val="99"/>
              </a:spcAft>
            </a:pPr>
            <a:r>
              <a:rPr lang="en-IN" sz="1600" b="1" u="none" strike="noStrike">
                <a:solidFill>
                  <a:srgbClr val="2A4A3E"/>
                </a:solidFill>
                <a:effectLst/>
                <a:uFillTx/>
                <a:latin typeface="Rubik"/>
                <a:ea typeface="Arial"/>
              </a:rPr>
              <a:t>6.0 ms</a:t>
            </a:r>
            <a:endParaRPr lang="en-IN" sz="1600" b="0" u="none" strike="noStrike">
              <a:solidFill>
                <a:srgbClr val="000000"/>
              </a:solidFill>
              <a:effectLst/>
              <a:uFillTx/>
              <a:latin typeface="Arial"/>
            </a:endParaRPr>
          </a:p>
          <a:p>
            <a:pPr>
              <a:lnSpc>
                <a:spcPct val="106000"/>
              </a:lnSpc>
            </a:pPr>
            <a:r>
              <a:rPr lang="en-IN" sz="780" b="0" u="none" strike="noStrike">
                <a:solidFill>
                  <a:srgbClr val="6B7A72"/>
                </a:solidFill>
                <a:effectLst/>
                <a:uFillTx/>
                <a:latin typeface="DM Sans"/>
                <a:ea typeface="Arial"/>
              </a:rPr>
              <a:t>median analysis time, in-process (n=20)</a:t>
            </a:r>
            <a:endParaRPr lang="en-IN" sz="780" b="0" u="none" strike="noStrike">
              <a:solidFill>
                <a:srgbClr val="000000"/>
              </a:solidFill>
              <a:effectLst/>
              <a:uFillTx/>
              <a:latin typeface="Arial"/>
            </a:endParaRPr>
          </a:p>
        </p:txBody>
      </p:sp>
      <p:sp>
        <p:nvSpPr>
          <p:cNvPr id="186" name="Rounded Rectangle 89"/>
          <p:cNvSpPr/>
          <p:nvPr/>
        </p:nvSpPr>
        <p:spPr>
          <a:xfrm>
            <a:off x="8174880" y="4535280"/>
            <a:ext cx="3428640" cy="475200"/>
          </a:xfrm>
          <a:prstGeom prst="roundRect">
            <a:avLst>
              <a:gd name="adj" fmla="val 10000"/>
            </a:avLst>
          </a:prstGeom>
          <a:solidFill>
            <a:srgbClr val="F4F1E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IN" sz="1400" b="0" u="none" strike="noStrike">
              <a:solidFill>
                <a:schemeClr val="lt1"/>
              </a:solidFill>
              <a:effectLst/>
              <a:uFillTx/>
              <a:latin typeface="Arial"/>
            </a:endParaRPr>
          </a:p>
        </p:txBody>
      </p:sp>
      <p:sp>
        <p:nvSpPr>
          <p:cNvPr id="187" name="Rectangle 90"/>
          <p:cNvSpPr/>
          <p:nvPr/>
        </p:nvSpPr>
        <p:spPr>
          <a:xfrm>
            <a:off x="8174880" y="4535280"/>
            <a:ext cx="50040" cy="475200"/>
          </a:xfrm>
          <a:prstGeom prst="rect">
            <a:avLst/>
          </a:prstGeom>
          <a:solidFill>
            <a:srgbClr val="F26B2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IN" sz="1400" b="0" u="none" strike="noStrike">
              <a:solidFill>
                <a:schemeClr val="lt1"/>
              </a:solidFill>
              <a:effectLst/>
              <a:uFillTx/>
              <a:latin typeface="Arial"/>
            </a:endParaRPr>
          </a:p>
        </p:txBody>
      </p:sp>
      <p:sp>
        <p:nvSpPr>
          <p:cNvPr id="188" name="TextBox 91"/>
          <p:cNvSpPr/>
          <p:nvPr/>
        </p:nvSpPr>
        <p:spPr>
          <a:xfrm>
            <a:off x="8375760" y="4626720"/>
            <a:ext cx="3099600" cy="310680"/>
          </a:xfrm>
          <a:prstGeom prst="rect">
            <a:avLst/>
          </a:prstGeom>
          <a:noFill/>
          <a:ln w="0">
            <a:noFill/>
          </a:ln>
        </p:spPr>
        <p:style>
          <a:lnRef idx="0"/>
          <a:fillRef idx="0"/>
          <a:effectRef idx="0"/>
          <a:fontRef idx="minor"/>
        </p:style>
        <p:txBody>
          <a:bodyPr lIns="0" tIns="0" rIns="0" bIns="0" anchor="t">
            <a:spAutoFit/>
          </a:bodyPr>
          <a:p>
            <a:pPr>
              <a:lnSpc>
                <a:spcPct val="100000"/>
              </a:lnSpc>
              <a:spcAft>
                <a:spcPts val="99"/>
              </a:spcAft>
            </a:pPr>
            <a:r>
              <a:rPr lang="en-IN" sz="1600" b="1" u="none" strike="noStrike">
                <a:solidFill>
                  <a:srgbClr val="F26B2A"/>
                </a:solidFill>
                <a:effectLst/>
                <a:uFillTx/>
                <a:latin typeface="Rubik"/>
                <a:ea typeface="Arial"/>
              </a:rPr>
              <a:t>19.3 ms</a:t>
            </a:r>
            <a:endParaRPr lang="en-IN" sz="1600" b="0" u="none" strike="noStrike">
              <a:solidFill>
                <a:srgbClr val="000000"/>
              </a:solidFill>
              <a:effectLst/>
              <a:uFillTx/>
              <a:latin typeface="Arial"/>
            </a:endParaRPr>
          </a:p>
          <a:p>
            <a:pPr>
              <a:lnSpc>
                <a:spcPct val="106000"/>
              </a:lnSpc>
            </a:pPr>
            <a:r>
              <a:rPr lang="en-IN" sz="780" b="0" u="none" strike="noStrike">
                <a:solidFill>
                  <a:srgbClr val="6B7A72"/>
                </a:solidFill>
                <a:effectLst/>
                <a:uFillTx/>
                <a:latin typeface="DM Sans"/>
                <a:ea typeface="Arial"/>
              </a:rPr>
              <a:t>full HTTP request to verdict (n=12)</a:t>
            </a:r>
            <a:endParaRPr lang="en-IN" sz="780" b="0" u="none" strike="noStrike">
              <a:solidFill>
                <a:srgbClr val="000000"/>
              </a:solidFill>
              <a:effectLst/>
              <a:uFillTx/>
              <a:latin typeface="Arial"/>
            </a:endParaRPr>
          </a:p>
        </p:txBody>
      </p:sp>
      <p:sp>
        <p:nvSpPr>
          <p:cNvPr id="189" name="Rounded Rectangle 92"/>
          <p:cNvSpPr/>
          <p:nvPr/>
        </p:nvSpPr>
        <p:spPr>
          <a:xfrm>
            <a:off x="8174880" y="5083920"/>
            <a:ext cx="3428640" cy="475200"/>
          </a:xfrm>
          <a:prstGeom prst="roundRect">
            <a:avLst>
              <a:gd name="adj" fmla="val 10000"/>
            </a:avLst>
          </a:prstGeom>
          <a:solidFill>
            <a:srgbClr val="F4F1E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IN" sz="1400" b="0" u="none" strike="noStrike">
              <a:solidFill>
                <a:schemeClr val="lt1"/>
              </a:solidFill>
              <a:effectLst/>
              <a:uFillTx/>
              <a:latin typeface="Arial"/>
            </a:endParaRPr>
          </a:p>
        </p:txBody>
      </p:sp>
      <p:sp>
        <p:nvSpPr>
          <p:cNvPr id="190" name="Rectangle 93"/>
          <p:cNvSpPr/>
          <p:nvPr/>
        </p:nvSpPr>
        <p:spPr>
          <a:xfrm>
            <a:off x="8174880" y="5083920"/>
            <a:ext cx="50040" cy="475200"/>
          </a:xfrm>
          <a:prstGeom prst="rect">
            <a:avLst/>
          </a:prstGeom>
          <a:solidFill>
            <a:srgbClr val="B88F1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IN" sz="1400" b="0" u="none" strike="noStrike">
              <a:solidFill>
                <a:schemeClr val="lt1"/>
              </a:solidFill>
              <a:effectLst/>
              <a:uFillTx/>
              <a:latin typeface="Arial"/>
            </a:endParaRPr>
          </a:p>
        </p:txBody>
      </p:sp>
      <p:sp>
        <p:nvSpPr>
          <p:cNvPr id="191" name="TextBox 94"/>
          <p:cNvSpPr/>
          <p:nvPr/>
        </p:nvSpPr>
        <p:spPr>
          <a:xfrm>
            <a:off x="8375760" y="5175360"/>
            <a:ext cx="3099600" cy="310680"/>
          </a:xfrm>
          <a:prstGeom prst="rect">
            <a:avLst/>
          </a:prstGeom>
          <a:noFill/>
          <a:ln w="0">
            <a:noFill/>
          </a:ln>
        </p:spPr>
        <p:style>
          <a:lnRef idx="0"/>
          <a:fillRef idx="0"/>
          <a:effectRef idx="0"/>
          <a:fontRef idx="minor"/>
        </p:style>
        <p:txBody>
          <a:bodyPr lIns="0" tIns="0" rIns="0" bIns="0" anchor="t">
            <a:spAutoFit/>
          </a:bodyPr>
          <a:p>
            <a:pPr>
              <a:lnSpc>
                <a:spcPct val="100000"/>
              </a:lnSpc>
              <a:spcAft>
                <a:spcPts val="99"/>
              </a:spcAft>
            </a:pPr>
            <a:r>
              <a:rPr lang="en-IN" sz="1600" b="1" u="none" strike="noStrike">
                <a:solidFill>
                  <a:srgbClr val="B88F14"/>
                </a:solidFill>
                <a:effectLst/>
                <a:uFillTx/>
                <a:latin typeface="Rubik"/>
                <a:ea typeface="Arial"/>
              </a:rPr>
              <a:t>0.42 s</a:t>
            </a:r>
            <a:endParaRPr lang="en-IN" sz="1600" b="0" u="none" strike="noStrike">
              <a:solidFill>
                <a:srgbClr val="000000"/>
              </a:solidFill>
              <a:effectLst/>
              <a:uFillTx/>
              <a:latin typeface="Arial"/>
            </a:endParaRPr>
          </a:p>
          <a:p>
            <a:pPr>
              <a:lnSpc>
                <a:spcPct val="106000"/>
              </a:lnSpc>
            </a:pPr>
            <a:r>
              <a:rPr lang="en-IN" sz="780" b="0" u="none" strike="noStrike">
                <a:solidFill>
                  <a:srgbClr val="6B7A72"/>
                </a:solidFill>
                <a:effectLst/>
                <a:uFillTx/>
                <a:latin typeface="DM Sans"/>
                <a:ea typeface="Arial"/>
              </a:rPr>
              <a:t>cold start, API ready to serve</a:t>
            </a:r>
            <a:endParaRPr lang="en-IN" sz="780" b="0" u="none" strike="noStrike">
              <a:solidFill>
                <a:srgbClr val="000000"/>
              </a:solidFill>
              <a:effectLst/>
              <a:uFillTx/>
              <a:latin typeface="Arial"/>
            </a:endParaRPr>
          </a:p>
        </p:txBody>
      </p:sp>
      <p:sp>
        <p:nvSpPr>
          <p:cNvPr id="192" name="Rounded Rectangle 95"/>
          <p:cNvSpPr/>
          <p:nvPr/>
        </p:nvSpPr>
        <p:spPr>
          <a:xfrm>
            <a:off x="8174880" y="5632560"/>
            <a:ext cx="3428640" cy="475200"/>
          </a:xfrm>
          <a:prstGeom prst="roundRect">
            <a:avLst>
              <a:gd name="adj" fmla="val 10000"/>
            </a:avLst>
          </a:prstGeom>
          <a:solidFill>
            <a:srgbClr val="F4F1E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IN" sz="1400" b="0" u="none" strike="noStrike">
              <a:solidFill>
                <a:schemeClr val="lt1"/>
              </a:solidFill>
              <a:effectLst/>
              <a:uFillTx/>
              <a:latin typeface="Arial"/>
            </a:endParaRPr>
          </a:p>
        </p:txBody>
      </p:sp>
      <p:sp>
        <p:nvSpPr>
          <p:cNvPr id="193" name="Rectangle 96"/>
          <p:cNvSpPr/>
          <p:nvPr/>
        </p:nvSpPr>
        <p:spPr>
          <a:xfrm>
            <a:off x="8174880" y="5632560"/>
            <a:ext cx="50040" cy="475200"/>
          </a:xfrm>
          <a:prstGeom prst="rect">
            <a:avLst/>
          </a:prstGeom>
          <a:solidFill>
            <a:srgbClr val="D9581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IN" sz="1400" b="0" u="none" strike="noStrike">
              <a:solidFill>
                <a:schemeClr val="lt1"/>
              </a:solidFill>
              <a:effectLst/>
              <a:uFillTx/>
              <a:latin typeface="Arial"/>
            </a:endParaRPr>
          </a:p>
        </p:txBody>
      </p:sp>
      <p:sp>
        <p:nvSpPr>
          <p:cNvPr id="194" name="TextBox 97"/>
          <p:cNvSpPr/>
          <p:nvPr/>
        </p:nvSpPr>
        <p:spPr>
          <a:xfrm>
            <a:off x="8375760" y="5724000"/>
            <a:ext cx="3099600" cy="310680"/>
          </a:xfrm>
          <a:prstGeom prst="rect">
            <a:avLst/>
          </a:prstGeom>
          <a:noFill/>
          <a:ln w="0">
            <a:noFill/>
          </a:ln>
        </p:spPr>
        <p:style>
          <a:lnRef idx="0"/>
          <a:fillRef idx="0"/>
          <a:effectRef idx="0"/>
          <a:fontRef idx="minor"/>
        </p:style>
        <p:txBody>
          <a:bodyPr lIns="0" tIns="0" rIns="0" bIns="0" anchor="t">
            <a:spAutoFit/>
          </a:bodyPr>
          <a:p>
            <a:pPr>
              <a:lnSpc>
                <a:spcPct val="100000"/>
              </a:lnSpc>
              <a:spcAft>
                <a:spcPts val="99"/>
              </a:spcAft>
            </a:pPr>
            <a:r>
              <a:rPr lang="en-IN" sz="1200" b="1" u="none" strike="noStrike">
                <a:solidFill>
                  <a:srgbClr val="D9581C"/>
                </a:solidFill>
                <a:effectLst/>
                <a:uFillTx/>
                <a:latin typeface="Rubik"/>
                <a:ea typeface="Arial"/>
              </a:rPr>
              <a:t>184 tests · 93% coverage</a:t>
            </a:r>
            <a:endParaRPr lang="en-IN" sz="1200" b="0" u="none" strike="noStrike">
              <a:solidFill>
                <a:srgbClr val="000000"/>
              </a:solidFill>
              <a:effectLst/>
              <a:uFillTx/>
              <a:latin typeface="Arial"/>
            </a:endParaRPr>
          </a:p>
          <a:p>
            <a:pPr>
              <a:lnSpc>
                <a:spcPct val="106000"/>
              </a:lnSpc>
            </a:pPr>
            <a:r>
              <a:rPr lang="en-IN" sz="780" b="0" u="none" strike="noStrike">
                <a:solidFill>
                  <a:srgbClr val="6B7A72"/>
                </a:solidFill>
                <a:effectLst/>
                <a:uFillTx/>
                <a:latin typeface="DM Sans"/>
                <a:ea typeface="Arial"/>
              </a:rPr>
              <a:t>passing, ruff clean</a:t>
            </a:r>
            <a:endParaRPr lang="en-IN" sz="78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95" name="Google Shape;77;p8"/>
          <p:cNvSpPr/>
          <p:nvPr/>
        </p:nvSpPr>
        <p:spPr>
          <a:xfrm>
            <a:off x="812880" y="812880"/>
            <a:ext cx="10883160" cy="256320"/>
          </a:xfrm>
          <a:prstGeom prst="rect">
            <a:avLst/>
          </a:prstGeom>
          <a:noFill/>
          <a:ln w="0">
            <a:noFill/>
          </a:ln>
        </p:spPr>
        <p:style>
          <a:lnRef idx="0"/>
          <a:fillRef idx="0"/>
          <a:effectRef idx="0"/>
          <a:fontRef idx="minor"/>
        </p:style>
        <p:txBody>
          <a:bodyPr lIns="0" tIns="0" rIns="0" bIns="0" anchor="t">
            <a:noAutofit/>
          </a:bodyPr>
          <a:p>
            <a:pPr>
              <a:lnSpc>
                <a:spcPct val="140000"/>
              </a:lnSpc>
              <a:tabLst>
                <a:tab pos="0" algn="l"/>
              </a:tabLst>
            </a:pPr>
            <a:r>
              <a:rPr lang="en-US" sz="1300" b="1" u="none" strike="noStrike">
                <a:solidFill>
                  <a:srgbClr val="D9581C"/>
                </a:solidFill>
                <a:effectLst/>
                <a:uFillTx/>
                <a:latin typeface="DM Sans"/>
                <a:ea typeface="DM Sans"/>
              </a:rPr>
              <a:t>TECH4FOOD 2026 · ROUND 1 IDEA SUBMISSION</a:t>
            </a:r>
            <a:endParaRPr lang="en-IN" sz="1300" b="0" u="none" strike="noStrike">
              <a:solidFill>
                <a:srgbClr val="000000"/>
              </a:solidFill>
              <a:effectLst/>
              <a:uFillTx/>
              <a:latin typeface="Arial"/>
            </a:endParaRPr>
          </a:p>
        </p:txBody>
      </p:sp>
      <p:sp>
        <p:nvSpPr>
          <p:cNvPr id="196" name="Google Shape;78;p8"/>
          <p:cNvSpPr/>
          <p:nvPr/>
        </p:nvSpPr>
        <p:spPr>
          <a:xfrm>
            <a:off x="812880" y="1272600"/>
            <a:ext cx="10883160" cy="527760"/>
          </a:xfrm>
          <a:prstGeom prst="rect">
            <a:avLst/>
          </a:prstGeom>
          <a:noFill/>
          <a:ln w="0">
            <a:noFill/>
          </a:ln>
        </p:spPr>
        <p:style>
          <a:lnRef idx="0"/>
          <a:fillRef idx="0"/>
          <a:effectRef idx="0"/>
          <a:fontRef idx="minor"/>
        </p:style>
        <p:txBody>
          <a:bodyPr lIns="0" tIns="0" rIns="0" bIns="0" anchor="t">
            <a:noAutofit/>
          </a:bodyPr>
          <a:p>
            <a:pPr>
              <a:lnSpc>
                <a:spcPct val="110000"/>
              </a:lnSpc>
              <a:tabLst>
                <a:tab pos="0" algn="l"/>
              </a:tabLst>
            </a:pPr>
            <a:r>
              <a:rPr lang="en-US" sz="3600" b="1" u="none" strike="noStrike">
                <a:solidFill>
                  <a:srgbClr val="1F3A30"/>
                </a:solidFill>
                <a:effectLst/>
                <a:uFillTx/>
                <a:latin typeface="Rubik"/>
                <a:ea typeface="Rubik"/>
              </a:rPr>
              <a:t>Feasibility &amp; Impact</a:t>
            </a:r>
            <a:endParaRPr lang="en-IN" sz="3600" b="0" u="none" strike="noStrike">
              <a:solidFill>
                <a:srgbClr val="000000"/>
              </a:solidFill>
              <a:effectLst/>
              <a:uFillTx/>
              <a:latin typeface="Arial"/>
            </a:endParaRPr>
          </a:p>
        </p:txBody>
      </p:sp>
      <p:sp>
        <p:nvSpPr>
          <p:cNvPr id="197" name="Google Shape;80;p8"/>
          <p:cNvSpPr/>
          <p:nvPr/>
        </p:nvSpPr>
        <p:spPr>
          <a:xfrm>
            <a:off x="812880" y="6238440"/>
            <a:ext cx="10883160" cy="238320"/>
          </a:xfrm>
          <a:prstGeom prst="rect">
            <a:avLst/>
          </a:prstGeom>
          <a:noFill/>
          <a:ln w="0">
            <a:noFill/>
          </a:ln>
        </p:spPr>
        <p:style>
          <a:lnRef idx="0"/>
          <a:fillRef idx="0"/>
          <a:effectRef idx="0"/>
          <a:fontRef idx="minor"/>
        </p:style>
        <p:txBody>
          <a:bodyPr lIns="0" tIns="0" rIns="0" bIns="0" anchor="t">
            <a:noAutofit/>
          </a:bodyPr>
          <a:p>
            <a:pPr>
              <a:lnSpc>
                <a:spcPct val="140000"/>
              </a:lnSpc>
              <a:tabLst>
                <a:tab pos="0" algn="l"/>
              </a:tabLst>
            </a:pPr>
            <a:r>
              <a:rPr lang="en-US" sz="1200" b="0" u="none" strike="noStrike">
                <a:solidFill>
                  <a:srgbClr val="6B7A72"/>
                </a:solidFill>
                <a:effectLst/>
                <a:uFillTx/>
                <a:latin typeface="DM Sans"/>
                <a:ea typeface="DM Sans"/>
              </a:rPr>
              <a:t>Tech4Food 2026 · New Era of Smarter Food Safety · PCCOE, Pune · 06</a:t>
            </a:r>
            <a:endParaRPr lang="en-IN" sz="1200" b="0" u="none" strike="noStrike">
              <a:solidFill>
                <a:srgbClr val="000000"/>
              </a:solidFill>
              <a:effectLst/>
              <a:uFillTx/>
              <a:latin typeface="Arial"/>
            </a:endParaRPr>
          </a:p>
        </p:txBody>
      </p:sp>
      <p:sp>
        <p:nvSpPr>
          <p:cNvPr id="198" name="TextBox 80"/>
          <p:cNvSpPr/>
          <p:nvPr/>
        </p:nvSpPr>
        <p:spPr>
          <a:xfrm>
            <a:off x="813960" y="2066400"/>
            <a:ext cx="4937400" cy="155160"/>
          </a:xfrm>
          <a:prstGeom prst="rect">
            <a:avLst/>
          </a:prstGeom>
          <a:noFill/>
          <a:ln w="0">
            <a:noFill/>
          </a:ln>
        </p:spPr>
        <p:style>
          <a:lnRef idx="0"/>
          <a:fillRef idx="0"/>
          <a:effectRef idx="0"/>
          <a:fontRef idx="minor"/>
        </p:style>
        <p:txBody>
          <a:bodyPr lIns="0" tIns="0" rIns="0" bIns="0" anchor="t">
            <a:spAutoFit/>
          </a:bodyPr>
          <a:p>
            <a:pPr>
              <a:lnSpc>
                <a:spcPct val="100000"/>
              </a:lnSpc>
            </a:pPr>
            <a:r>
              <a:rPr lang="en-IN" sz="820" b="1" u="none" strike="noStrike">
                <a:solidFill>
                  <a:srgbClr val="6B7A72"/>
                </a:solidFill>
                <a:effectLst/>
                <a:uFillTx/>
                <a:latin typeface="DM Sans"/>
                <a:ea typeface="Arial"/>
              </a:rPr>
              <a:t>MEASURED SPEED, AGAINST THE 10-SECOND PROMISE</a:t>
            </a:r>
            <a:endParaRPr lang="en-IN" sz="820" b="0" u="none" strike="noStrike">
              <a:solidFill>
                <a:srgbClr val="000000"/>
              </a:solidFill>
              <a:effectLst/>
              <a:uFillTx/>
              <a:latin typeface="Arial"/>
            </a:endParaRPr>
          </a:p>
        </p:txBody>
      </p:sp>
      <p:pic>
        <p:nvPicPr>
          <p:cNvPr id="199" name="Picture 81" descr="c_latency.png"/>
          <p:cNvPicPr/>
          <p:nvPr/>
        </p:nvPicPr>
        <p:blipFill>
          <a:blip r:embed="rId1"/>
          <a:stretch/>
        </p:blipFill>
        <p:spPr>
          <a:xfrm>
            <a:off x="813960" y="2232360"/>
            <a:ext cx="4937400" cy="1423800"/>
          </a:xfrm>
          <a:prstGeom prst="rect">
            <a:avLst/>
          </a:prstGeom>
          <a:noFill/>
          <a:ln w="0">
            <a:noFill/>
          </a:ln>
        </p:spPr>
      </p:pic>
      <p:sp>
        <p:nvSpPr>
          <p:cNvPr id="200" name="TextBox 82"/>
          <p:cNvSpPr/>
          <p:nvPr/>
        </p:nvSpPr>
        <p:spPr>
          <a:xfrm>
            <a:off x="5961960" y="2066400"/>
            <a:ext cx="5641560" cy="155160"/>
          </a:xfrm>
          <a:prstGeom prst="rect">
            <a:avLst/>
          </a:prstGeom>
          <a:noFill/>
          <a:ln w="0">
            <a:noFill/>
          </a:ln>
        </p:spPr>
        <p:style>
          <a:lnRef idx="0"/>
          <a:fillRef idx="0"/>
          <a:effectRef idx="0"/>
          <a:fontRef idx="minor"/>
        </p:style>
        <p:txBody>
          <a:bodyPr lIns="0" tIns="0" rIns="0" bIns="0" anchor="t">
            <a:spAutoFit/>
          </a:bodyPr>
          <a:p>
            <a:pPr>
              <a:lnSpc>
                <a:spcPct val="100000"/>
              </a:lnSpc>
            </a:pPr>
            <a:r>
              <a:rPr lang="en-IN" sz="820" b="1" u="none" strike="noStrike">
                <a:solidFill>
                  <a:srgbClr val="6B7A72"/>
                </a:solidFill>
                <a:effectLst/>
                <a:uFillTx/>
                <a:latin typeface="DM Sans"/>
                <a:ea typeface="Arial"/>
              </a:rPr>
              <a:t>WHAT THE MODEL DOES WITH AMBIGUITY</a:t>
            </a:r>
            <a:endParaRPr lang="en-IN" sz="820" b="0" u="none" strike="noStrike">
              <a:solidFill>
                <a:srgbClr val="000000"/>
              </a:solidFill>
              <a:effectLst/>
              <a:uFillTx/>
              <a:latin typeface="Arial"/>
            </a:endParaRPr>
          </a:p>
        </p:txBody>
      </p:sp>
      <p:pic>
        <p:nvPicPr>
          <p:cNvPr id="201" name="Picture 83" descr="c_abstain.png"/>
          <p:cNvPicPr/>
          <p:nvPr/>
        </p:nvPicPr>
        <p:blipFill>
          <a:blip r:embed="rId2"/>
          <a:stretch/>
        </p:blipFill>
        <p:spPr>
          <a:xfrm>
            <a:off x="6684840" y="2395800"/>
            <a:ext cx="4195440" cy="1005480"/>
          </a:xfrm>
          <a:prstGeom prst="rect">
            <a:avLst/>
          </a:prstGeom>
          <a:noFill/>
          <a:ln w="0">
            <a:noFill/>
          </a:ln>
        </p:spPr>
      </p:pic>
      <p:sp>
        <p:nvSpPr>
          <p:cNvPr id="202" name="TextBox 84"/>
          <p:cNvSpPr/>
          <p:nvPr/>
        </p:nvSpPr>
        <p:spPr>
          <a:xfrm>
            <a:off x="5961960" y="3602880"/>
            <a:ext cx="5641560" cy="200880"/>
          </a:xfrm>
          <a:prstGeom prst="rect">
            <a:avLst/>
          </a:prstGeom>
          <a:noFill/>
          <a:ln w="0">
            <a:noFill/>
          </a:ln>
        </p:spPr>
        <p:style>
          <a:lnRef idx="0"/>
          <a:fillRef idx="0"/>
          <a:effectRef idx="0"/>
          <a:fontRef idx="minor"/>
        </p:style>
        <p:txBody>
          <a:bodyPr lIns="0" tIns="0" rIns="0" bIns="0" anchor="t">
            <a:spAutoFit/>
          </a:bodyPr>
          <a:p>
            <a:pPr>
              <a:lnSpc>
                <a:spcPct val="100000"/>
              </a:lnSpc>
            </a:pPr>
            <a:r>
              <a:rPr lang="en-IN" sz="740" b="0" u="none" strike="noStrike">
                <a:solidFill>
                  <a:srgbClr val="9DB3A7"/>
                </a:solidFill>
                <a:effectLst/>
                <a:uFillTx/>
                <a:latin typeface="DM Sans"/>
                <a:ea typeface="Arial"/>
              </a:rPr>
              <a:t>Both bars are the same run: 36 answered, 9 declined.</a:t>
            </a:r>
            <a:endParaRPr lang="en-IN" sz="740" b="0" u="none" strike="noStrike">
              <a:solidFill>
                <a:srgbClr val="000000"/>
              </a:solidFill>
              <a:effectLst/>
              <a:uFillTx/>
              <a:latin typeface="Arial"/>
            </a:endParaRPr>
          </a:p>
        </p:txBody>
      </p:sp>
      <p:sp>
        <p:nvSpPr>
          <p:cNvPr id="203" name="Rounded Rectangle 85"/>
          <p:cNvSpPr/>
          <p:nvPr/>
        </p:nvSpPr>
        <p:spPr>
          <a:xfrm>
            <a:off x="813960" y="3913560"/>
            <a:ext cx="3401280" cy="2102760"/>
          </a:xfrm>
          <a:prstGeom prst="roundRect">
            <a:avLst>
              <a:gd name="adj" fmla="val 10000"/>
            </a:avLst>
          </a:prstGeom>
          <a:solidFill>
            <a:srgbClr val="F4F1E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IN" sz="1400" b="0" u="none" strike="noStrike">
              <a:solidFill>
                <a:schemeClr val="lt1"/>
              </a:solidFill>
              <a:effectLst/>
              <a:uFillTx/>
              <a:latin typeface="Arial"/>
            </a:endParaRPr>
          </a:p>
        </p:txBody>
      </p:sp>
      <p:sp>
        <p:nvSpPr>
          <p:cNvPr id="204" name="Rectangle 86"/>
          <p:cNvSpPr/>
          <p:nvPr/>
        </p:nvSpPr>
        <p:spPr>
          <a:xfrm>
            <a:off x="813960" y="3913560"/>
            <a:ext cx="3401280" cy="40680"/>
          </a:xfrm>
          <a:prstGeom prst="rect">
            <a:avLst/>
          </a:prstGeom>
          <a:solidFill>
            <a:srgbClr val="F5C84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960" rIns="90000" bIns="-3960" anchor="ctr">
            <a:noAutofit/>
          </a:bodyPr>
          <a:p>
            <a:pPr/>
            <a:endParaRPr lang="en-IN" sz="1400" b="0" u="none" strike="noStrike">
              <a:solidFill>
                <a:schemeClr val="lt1"/>
              </a:solidFill>
              <a:effectLst/>
              <a:uFillTx/>
              <a:latin typeface="Arial"/>
            </a:endParaRPr>
          </a:p>
        </p:txBody>
      </p:sp>
      <p:sp>
        <p:nvSpPr>
          <p:cNvPr id="205" name="TextBox 87"/>
          <p:cNvSpPr/>
          <p:nvPr/>
        </p:nvSpPr>
        <p:spPr>
          <a:xfrm>
            <a:off x="1033200" y="4087440"/>
            <a:ext cx="2962440" cy="200880"/>
          </a:xfrm>
          <a:prstGeom prst="rect">
            <a:avLst/>
          </a:prstGeom>
          <a:noFill/>
          <a:ln w="0">
            <a:noFill/>
          </a:ln>
        </p:spPr>
        <p:style>
          <a:lnRef idx="0"/>
          <a:fillRef idx="0"/>
          <a:effectRef idx="0"/>
          <a:fontRef idx="minor"/>
        </p:style>
        <p:txBody>
          <a:bodyPr lIns="0" tIns="0" rIns="0" bIns="0" anchor="t">
            <a:spAutoFit/>
          </a:bodyPr>
          <a:p>
            <a:pPr>
              <a:lnSpc>
                <a:spcPct val="100000"/>
              </a:lnSpc>
            </a:pPr>
            <a:r>
              <a:rPr lang="en-IN" sz="1000" b="1" u="none" strike="noStrike">
                <a:solidFill>
                  <a:srgbClr val="2A4A3E"/>
                </a:solidFill>
                <a:effectLst/>
                <a:uFillTx/>
                <a:latin typeface="Rubik"/>
                <a:ea typeface="Arial"/>
              </a:rPr>
              <a:t>Cost per test (estimate)</a:t>
            </a:r>
            <a:endParaRPr lang="en-IN" sz="1000" b="0" u="none" strike="noStrike">
              <a:solidFill>
                <a:srgbClr val="000000"/>
              </a:solidFill>
              <a:effectLst/>
              <a:uFillTx/>
              <a:latin typeface="Arial"/>
            </a:endParaRPr>
          </a:p>
        </p:txBody>
      </p:sp>
      <p:sp>
        <p:nvSpPr>
          <p:cNvPr id="206" name="TextBox 88"/>
          <p:cNvSpPr/>
          <p:nvPr/>
        </p:nvSpPr>
        <p:spPr>
          <a:xfrm>
            <a:off x="1033200" y="4407480"/>
            <a:ext cx="1919880" cy="200880"/>
          </a:xfrm>
          <a:prstGeom prst="rect">
            <a:avLst/>
          </a:prstGeom>
          <a:noFill/>
          <a:ln w="0">
            <a:noFill/>
          </a:ln>
        </p:spPr>
        <p:style>
          <a:lnRef idx="0"/>
          <a:fillRef idx="0"/>
          <a:effectRef idx="0"/>
          <a:fontRef idx="minor"/>
        </p:style>
        <p:txBody>
          <a:bodyPr lIns="0" tIns="0" rIns="0" bIns="0" anchor="t">
            <a:spAutoFit/>
          </a:bodyPr>
          <a:p>
            <a:pPr>
              <a:lnSpc>
                <a:spcPct val="100000"/>
              </a:lnSpc>
            </a:pPr>
            <a:r>
              <a:rPr lang="en-IN" sz="880" b="0" u="none" strike="noStrike">
                <a:solidFill>
                  <a:srgbClr val="1F3A30"/>
                </a:solidFill>
                <a:effectLst/>
                <a:uFillTx/>
                <a:latin typeface="DM Sans"/>
                <a:ea typeface="Arial"/>
              </a:rPr>
              <a:t>Printed card, two zones</a:t>
            </a:r>
            <a:endParaRPr lang="en-IN" sz="880" b="0" u="none" strike="noStrike">
              <a:solidFill>
                <a:srgbClr val="000000"/>
              </a:solidFill>
              <a:effectLst/>
              <a:uFillTx/>
              <a:latin typeface="Arial"/>
            </a:endParaRPr>
          </a:p>
        </p:txBody>
      </p:sp>
      <p:sp>
        <p:nvSpPr>
          <p:cNvPr id="207" name="TextBox 89"/>
          <p:cNvSpPr/>
          <p:nvPr/>
        </p:nvSpPr>
        <p:spPr>
          <a:xfrm>
            <a:off x="2953440" y="4407480"/>
            <a:ext cx="1042200" cy="200880"/>
          </a:xfrm>
          <a:prstGeom prst="rect">
            <a:avLst/>
          </a:prstGeom>
          <a:noFill/>
          <a:ln w="0">
            <a:noFill/>
          </a:ln>
        </p:spPr>
        <p:style>
          <a:lnRef idx="0"/>
          <a:fillRef idx="0"/>
          <a:effectRef idx="0"/>
          <a:fontRef idx="minor"/>
        </p:style>
        <p:txBody>
          <a:bodyPr lIns="0" tIns="0" rIns="0" bIns="0" anchor="t">
            <a:spAutoFit/>
          </a:bodyPr>
          <a:p>
            <a:pPr algn="r">
              <a:lnSpc>
                <a:spcPct val="100000"/>
              </a:lnSpc>
            </a:pPr>
            <a:r>
              <a:rPr lang="en-IN" sz="880" b="1" u="none" strike="noStrike">
                <a:solidFill>
                  <a:srgbClr val="2A4A3E"/>
                </a:solidFill>
                <a:effectLst/>
                <a:uFillTx/>
                <a:latin typeface="DM Sans"/>
                <a:ea typeface="Arial"/>
              </a:rPr>
              <a:t>≈ ₹2</a:t>
            </a:r>
            <a:endParaRPr lang="en-IN" sz="880" b="0" u="none" strike="noStrike">
              <a:solidFill>
                <a:srgbClr val="000000"/>
              </a:solidFill>
              <a:effectLst/>
              <a:uFillTx/>
              <a:latin typeface="Arial"/>
            </a:endParaRPr>
          </a:p>
        </p:txBody>
      </p:sp>
      <p:sp>
        <p:nvSpPr>
          <p:cNvPr id="208" name="TextBox 90"/>
          <p:cNvSpPr/>
          <p:nvPr/>
        </p:nvSpPr>
        <p:spPr>
          <a:xfrm>
            <a:off x="1033200" y="4681800"/>
            <a:ext cx="1919880" cy="200880"/>
          </a:xfrm>
          <a:prstGeom prst="rect">
            <a:avLst/>
          </a:prstGeom>
          <a:noFill/>
          <a:ln w="0">
            <a:noFill/>
          </a:ln>
        </p:spPr>
        <p:style>
          <a:lnRef idx="0"/>
          <a:fillRef idx="0"/>
          <a:effectRef idx="0"/>
          <a:fontRef idx="minor"/>
        </p:style>
        <p:txBody>
          <a:bodyPr lIns="0" tIns="0" rIns="0" bIns="0" anchor="t">
            <a:spAutoFit/>
          </a:bodyPr>
          <a:p>
            <a:pPr>
              <a:lnSpc>
                <a:spcPct val="100000"/>
              </a:lnSpc>
            </a:pPr>
            <a:r>
              <a:rPr lang="en-IN" sz="880" b="0" u="none" strike="noStrike">
                <a:solidFill>
                  <a:srgbClr val="1F3A30"/>
                </a:solidFill>
                <a:effectLst/>
                <a:uFillTx/>
                <a:latin typeface="DM Sans"/>
                <a:ea typeface="Arial"/>
              </a:rPr>
              <a:t>One iodine or MB drop</a:t>
            </a:r>
            <a:endParaRPr lang="en-IN" sz="880" b="0" u="none" strike="noStrike">
              <a:solidFill>
                <a:srgbClr val="000000"/>
              </a:solidFill>
              <a:effectLst/>
              <a:uFillTx/>
              <a:latin typeface="Arial"/>
            </a:endParaRPr>
          </a:p>
        </p:txBody>
      </p:sp>
      <p:sp>
        <p:nvSpPr>
          <p:cNvPr id="209" name="TextBox 91"/>
          <p:cNvSpPr/>
          <p:nvPr/>
        </p:nvSpPr>
        <p:spPr>
          <a:xfrm>
            <a:off x="2953440" y="4681800"/>
            <a:ext cx="1042200" cy="200880"/>
          </a:xfrm>
          <a:prstGeom prst="rect">
            <a:avLst/>
          </a:prstGeom>
          <a:noFill/>
          <a:ln w="0">
            <a:noFill/>
          </a:ln>
        </p:spPr>
        <p:style>
          <a:lnRef idx="0"/>
          <a:fillRef idx="0"/>
          <a:effectRef idx="0"/>
          <a:fontRef idx="minor"/>
        </p:style>
        <p:txBody>
          <a:bodyPr lIns="0" tIns="0" rIns="0" bIns="0" anchor="t">
            <a:spAutoFit/>
          </a:bodyPr>
          <a:p>
            <a:pPr algn="r">
              <a:lnSpc>
                <a:spcPct val="100000"/>
              </a:lnSpc>
            </a:pPr>
            <a:r>
              <a:rPr lang="en-IN" sz="880" b="1" u="none" strike="noStrike">
                <a:solidFill>
                  <a:srgbClr val="2A4A3E"/>
                </a:solidFill>
                <a:effectLst/>
                <a:uFillTx/>
                <a:latin typeface="DM Sans"/>
                <a:ea typeface="Arial"/>
              </a:rPr>
              <a:t>≈ ₹1</a:t>
            </a:r>
            <a:endParaRPr lang="en-IN" sz="880" b="0" u="none" strike="noStrike">
              <a:solidFill>
                <a:srgbClr val="000000"/>
              </a:solidFill>
              <a:effectLst/>
              <a:uFillTx/>
              <a:latin typeface="Arial"/>
            </a:endParaRPr>
          </a:p>
        </p:txBody>
      </p:sp>
      <p:sp>
        <p:nvSpPr>
          <p:cNvPr id="210" name="TextBox 92"/>
          <p:cNvSpPr/>
          <p:nvPr/>
        </p:nvSpPr>
        <p:spPr>
          <a:xfrm>
            <a:off x="1033200" y="4956120"/>
            <a:ext cx="1919880" cy="200880"/>
          </a:xfrm>
          <a:prstGeom prst="rect">
            <a:avLst/>
          </a:prstGeom>
          <a:noFill/>
          <a:ln w="0">
            <a:noFill/>
          </a:ln>
        </p:spPr>
        <p:style>
          <a:lnRef idx="0"/>
          <a:fillRef idx="0"/>
          <a:effectRef idx="0"/>
          <a:fontRef idx="minor"/>
        </p:style>
        <p:txBody>
          <a:bodyPr lIns="0" tIns="0" rIns="0" bIns="0" anchor="t">
            <a:spAutoFit/>
          </a:bodyPr>
          <a:p>
            <a:pPr>
              <a:lnSpc>
                <a:spcPct val="100000"/>
              </a:lnSpc>
            </a:pPr>
            <a:r>
              <a:rPr lang="en-IN" sz="880" b="0" u="none" strike="noStrike">
                <a:solidFill>
                  <a:srgbClr val="1F3A30"/>
                </a:solidFill>
                <a:effectLst/>
                <a:uFillTx/>
                <a:latin typeface="DM Sans"/>
                <a:ea typeface="Arial"/>
              </a:rPr>
              <a:t>Phone and network</a:t>
            </a:r>
            <a:endParaRPr lang="en-IN" sz="880" b="0" u="none" strike="noStrike">
              <a:solidFill>
                <a:srgbClr val="000000"/>
              </a:solidFill>
              <a:effectLst/>
              <a:uFillTx/>
              <a:latin typeface="Arial"/>
            </a:endParaRPr>
          </a:p>
        </p:txBody>
      </p:sp>
      <p:sp>
        <p:nvSpPr>
          <p:cNvPr id="211" name="TextBox 93"/>
          <p:cNvSpPr/>
          <p:nvPr/>
        </p:nvSpPr>
        <p:spPr>
          <a:xfrm>
            <a:off x="2953440" y="4956120"/>
            <a:ext cx="1042200" cy="200880"/>
          </a:xfrm>
          <a:prstGeom prst="rect">
            <a:avLst/>
          </a:prstGeom>
          <a:noFill/>
          <a:ln w="0">
            <a:noFill/>
          </a:ln>
        </p:spPr>
        <p:style>
          <a:lnRef idx="0"/>
          <a:fillRef idx="0"/>
          <a:effectRef idx="0"/>
          <a:fontRef idx="minor"/>
        </p:style>
        <p:txBody>
          <a:bodyPr lIns="0" tIns="0" rIns="0" bIns="0" anchor="t">
            <a:spAutoFit/>
          </a:bodyPr>
          <a:p>
            <a:pPr algn="r">
              <a:lnSpc>
                <a:spcPct val="100000"/>
              </a:lnSpc>
            </a:pPr>
            <a:r>
              <a:rPr lang="en-IN" sz="880" b="1" u="none" strike="noStrike">
                <a:solidFill>
                  <a:srgbClr val="2A4A3E"/>
                </a:solidFill>
                <a:effectLst/>
                <a:uFillTx/>
                <a:latin typeface="DM Sans"/>
                <a:ea typeface="Arial"/>
              </a:rPr>
              <a:t>already owned</a:t>
            </a:r>
            <a:endParaRPr lang="en-IN" sz="880" b="0" u="none" strike="noStrike">
              <a:solidFill>
                <a:srgbClr val="000000"/>
              </a:solidFill>
              <a:effectLst/>
              <a:uFillTx/>
              <a:latin typeface="Arial"/>
            </a:endParaRPr>
          </a:p>
        </p:txBody>
      </p:sp>
      <p:sp>
        <p:nvSpPr>
          <p:cNvPr id="212" name="Rectangle 94"/>
          <p:cNvSpPr/>
          <p:nvPr/>
        </p:nvSpPr>
        <p:spPr>
          <a:xfrm>
            <a:off x="1033200" y="5266800"/>
            <a:ext cx="2962440" cy="12600"/>
          </a:xfrm>
          <a:prstGeom prst="rect">
            <a:avLst/>
          </a:prstGeom>
          <a:solidFill>
            <a:srgbClr val="DCD6C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2040" rIns="90000" bIns="-32040" anchor="ctr">
            <a:noAutofit/>
          </a:bodyPr>
          <a:p>
            <a:pPr/>
            <a:endParaRPr lang="en-IN" sz="1400" b="0" u="none" strike="noStrike">
              <a:solidFill>
                <a:schemeClr val="lt1"/>
              </a:solidFill>
              <a:effectLst/>
              <a:uFillTx/>
              <a:latin typeface="Arial"/>
            </a:endParaRPr>
          </a:p>
        </p:txBody>
      </p:sp>
      <p:sp>
        <p:nvSpPr>
          <p:cNvPr id="213" name="TextBox 95"/>
          <p:cNvSpPr/>
          <p:nvPr/>
        </p:nvSpPr>
        <p:spPr>
          <a:xfrm>
            <a:off x="1033200" y="5358240"/>
            <a:ext cx="2962440" cy="219240"/>
          </a:xfrm>
          <a:prstGeom prst="rect">
            <a:avLst/>
          </a:prstGeom>
          <a:noFill/>
          <a:ln w="0">
            <a:noFill/>
          </a:ln>
        </p:spPr>
        <p:style>
          <a:lnRef idx="0"/>
          <a:fillRef idx="0"/>
          <a:effectRef idx="0"/>
          <a:fontRef idx="minor"/>
        </p:style>
        <p:txBody>
          <a:bodyPr lIns="0" tIns="0" rIns="0" bIns="0" anchor="t">
            <a:spAutoFit/>
          </a:bodyPr>
          <a:p>
            <a:pPr>
              <a:lnSpc>
                <a:spcPct val="100000"/>
              </a:lnSpc>
            </a:pPr>
            <a:r>
              <a:rPr lang="en-IN" sz="960" b="1" u="none" strike="noStrike">
                <a:solidFill>
                  <a:srgbClr val="2A4A3E"/>
                </a:solidFill>
                <a:effectLst/>
                <a:uFillTx/>
                <a:latin typeface="Rubik"/>
                <a:ea typeface="Arial"/>
              </a:rPr>
              <a:t>≈ ₹3 per test, excluding the phone</a:t>
            </a:r>
            <a:endParaRPr lang="en-IN" sz="960" b="0" u="none" strike="noStrike">
              <a:solidFill>
                <a:srgbClr val="000000"/>
              </a:solidFill>
              <a:effectLst/>
              <a:uFillTx/>
              <a:latin typeface="Arial"/>
            </a:endParaRPr>
          </a:p>
        </p:txBody>
      </p:sp>
      <p:sp>
        <p:nvSpPr>
          <p:cNvPr id="214" name="TextBox 96"/>
          <p:cNvSpPr/>
          <p:nvPr/>
        </p:nvSpPr>
        <p:spPr>
          <a:xfrm>
            <a:off x="1033200" y="5614560"/>
            <a:ext cx="2962440" cy="310680"/>
          </a:xfrm>
          <a:prstGeom prst="rect">
            <a:avLst/>
          </a:prstGeom>
          <a:noFill/>
          <a:ln w="0">
            <a:noFill/>
          </a:ln>
        </p:spPr>
        <p:style>
          <a:lnRef idx="0"/>
          <a:fillRef idx="0"/>
          <a:effectRef idx="0"/>
          <a:fontRef idx="minor"/>
        </p:style>
        <p:txBody>
          <a:bodyPr lIns="0" tIns="0" rIns="0" bIns="0" anchor="t">
            <a:spAutoFit/>
          </a:bodyPr>
          <a:p>
            <a:pPr>
              <a:lnSpc>
                <a:spcPct val="110000"/>
              </a:lnSpc>
            </a:pPr>
            <a:r>
              <a:rPr lang="en-IN" sz="700" b="0" u="none" strike="noStrike">
                <a:solidFill>
                  <a:srgbClr val="6B7A72"/>
                </a:solidFill>
                <a:effectLst/>
                <a:uFillTx/>
                <a:latin typeface="DM Sans"/>
                <a:ea typeface="Arial"/>
              </a:rPr>
              <a:t>Estimate only. Reagent prices are pending; the kit is being bought this week and the figure will be restated once.</a:t>
            </a:r>
            <a:endParaRPr lang="en-IN" sz="700" b="0" u="none" strike="noStrike">
              <a:solidFill>
                <a:srgbClr val="000000"/>
              </a:solidFill>
              <a:effectLst/>
              <a:uFillTx/>
              <a:latin typeface="Arial"/>
            </a:endParaRPr>
          </a:p>
        </p:txBody>
      </p:sp>
      <p:sp>
        <p:nvSpPr>
          <p:cNvPr id="215" name="Rounded Rectangle 97"/>
          <p:cNvSpPr/>
          <p:nvPr/>
        </p:nvSpPr>
        <p:spPr>
          <a:xfrm>
            <a:off x="4389120" y="3913560"/>
            <a:ext cx="3401280" cy="2102760"/>
          </a:xfrm>
          <a:prstGeom prst="roundRect">
            <a:avLst>
              <a:gd name="adj" fmla="val 10000"/>
            </a:avLst>
          </a:prstGeom>
          <a:solidFill>
            <a:srgbClr val="F4F1E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IN" sz="1400" b="0" u="none" strike="noStrike">
              <a:solidFill>
                <a:schemeClr val="lt1"/>
              </a:solidFill>
              <a:effectLst/>
              <a:uFillTx/>
              <a:latin typeface="Arial"/>
            </a:endParaRPr>
          </a:p>
        </p:txBody>
      </p:sp>
      <p:sp>
        <p:nvSpPr>
          <p:cNvPr id="216" name="Rectangle 98"/>
          <p:cNvSpPr/>
          <p:nvPr/>
        </p:nvSpPr>
        <p:spPr>
          <a:xfrm>
            <a:off x="4389120" y="3913560"/>
            <a:ext cx="3401280" cy="40680"/>
          </a:xfrm>
          <a:prstGeom prst="rect">
            <a:avLst/>
          </a:prstGeom>
          <a:solidFill>
            <a:srgbClr val="2A4A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960" rIns="90000" bIns="-3960" anchor="ctr">
            <a:noAutofit/>
          </a:bodyPr>
          <a:p>
            <a:pPr/>
            <a:endParaRPr lang="en-IN" sz="1400" b="0" u="none" strike="noStrike">
              <a:solidFill>
                <a:schemeClr val="lt1"/>
              </a:solidFill>
              <a:effectLst/>
              <a:uFillTx/>
              <a:latin typeface="Arial"/>
            </a:endParaRPr>
          </a:p>
        </p:txBody>
      </p:sp>
      <p:sp>
        <p:nvSpPr>
          <p:cNvPr id="217" name="TextBox 99"/>
          <p:cNvSpPr/>
          <p:nvPr/>
        </p:nvSpPr>
        <p:spPr>
          <a:xfrm>
            <a:off x="4608720" y="4087440"/>
            <a:ext cx="2962440" cy="1791720"/>
          </a:xfrm>
          <a:prstGeom prst="rect">
            <a:avLst/>
          </a:prstGeom>
          <a:noFill/>
          <a:ln w="0">
            <a:noFill/>
          </a:ln>
        </p:spPr>
        <p:style>
          <a:lnRef idx="0"/>
          <a:fillRef idx="0"/>
          <a:effectRef idx="0"/>
          <a:fontRef idx="minor"/>
        </p:style>
        <p:txBody>
          <a:bodyPr lIns="0" tIns="0" rIns="0" bIns="0" anchor="t">
            <a:spAutoFit/>
          </a:bodyPr>
          <a:p>
            <a:pPr>
              <a:lnSpc>
                <a:spcPct val="100000"/>
              </a:lnSpc>
              <a:spcAft>
                <a:spcPts val="400"/>
              </a:spcAft>
            </a:pPr>
            <a:r>
              <a:rPr lang="en-IN" sz="1000" b="1" u="none" strike="noStrike">
                <a:solidFill>
                  <a:srgbClr val="2A4A3E"/>
                </a:solidFill>
                <a:effectLst/>
                <a:uFillTx/>
                <a:latin typeface="Rubik"/>
                <a:ea typeface="Arial"/>
              </a:rPr>
              <a:t>What a vendor actually needs</a:t>
            </a:r>
            <a:endParaRPr lang="en-IN" sz="1000" b="0" u="none" strike="noStrike">
              <a:solidFill>
                <a:srgbClr val="000000"/>
              </a:solidFill>
              <a:effectLst/>
              <a:uFillTx/>
              <a:latin typeface="Arial"/>
            </a:endParaRPr>
          </a:p>
          <a:p>
            <a:pPr>
              <a:lnSpc>
                <a:spcPct val="112000"/>
              </a:lnSpc>
              <a:spcAft>
                <a:spcPts val="349"/>
              </a:spcAft>
            </a:pPr>
            <a:r>
              <a:rPr lang="en-IN" sz="880" b="0" u="none" strike="noStrike">
                <a:solidFill>
                  <a:srgbClr val="1F3A30"/>
                </a:solidFill>
                <a:effectLst/>
                <a:uFillTx/>
                <a:latin typeface="DM Sans"/>
                <a:ea typeface="Arial"/>
              </a:rPr>
              <a:t>Printed cards, two dropper bottles and a phone. No app store, no account, no internet after the first page load, no calibration by hand.</a:t>
            </a:r>
            <a:endParaRPr lang="en-IN" sz="880" b="0" u="none" strike="noStrike">
              <a:solidFill>
                <a:srgbClr val="000000"/>
              </a:solidFill>
              <a:effectLst/>
              <a:uFillTx/>
              <a:latin typeface="Arial"/>
            </a:endParaRPr>
          </a:p>
          <a:p>
            <a:pPr>
              <a:lnSpc>
                <a:spcPct val="112000"/>
              </a:lnSpc>
              <a:spcAft>
                <a:spcPts val="349"/>
              </a:spcAft>
            </a:pPr>
            <a:endParaRPr lang="en-IN" sz="880" b="0" u="none" strike="noStrike">
              <a:solidFill>
                <a:srgbClr val="000000"/>
              </a:solidFill>
              <a:effectLst/>
              <a:uFillTx/>
              <a:latin typeface="Arial"/>
            </a:endParaRPr>
          </a:p>
          <a:p>
            <a:pPr>
              <a:lnSpc>
                <a:spcPct val="112000"/>
              </a:lnSpc>
              <a:spcAft>
                <a:spcPts val="349"/>
              </a:spcAft>
            </a:pPr>
            <a:r>
              <a:rPr lang="en-IN" sz="880" b="0" u="none" strike="noStrike">
                <a:solidFill>
                  <a:srgbClr val="1F3A30"/>
                </a:solidFill>
                <a:effectLst/>
                <a:uFillTx/>
                <a:latin typeface="DM Sans"/>
                <a:ea typeface="Arial"/>
              </a:rPr>
              <a:t>The same card and app work for milk, water and any liquid the two reagents screen for.</a:t>
            </a:r>
            <a:endParaRPr lang="en-IN" sz="880" b="0" u="none" strike="noStrike">
              <a:solidFill>
                <a:srgbClr val="000000"/>
              </a:solidFill>
              <a:effectLst/>
              <a:uFillTx/>
              <a:latin typeface="Arial"/>
            </a:endParaRPr>
          </a:p>
        </p:txBody>
      </p:sp>
      <p:sp>
        <p:nvSpPr>
          <p:cNvPr id="218" name="Rounded Rectangle 100"/>
          <p:cNvSpPr/>
          <p:nvPr/>
        </p:nvSpPr>
        <p:spPr>
          <a:xfrm>
            <a:off x="8010000" y="3913560"/>
            <a:ext cx="3593160" cy="2102760"/>
          </a:xfrm>
          <a:prstGeom prst="roundRect">
            <a:avLst>
              <a:gd name="adj" fmla="val 10000"/>
            </a:avLst>
          </a:prstGeom>
          <a:solidFill>
            <a:srgbClr val="F4F1E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IN" sz="1400" b="0" u="none" strike="noStrike">
              <a:solidFill>
                <a:schemeClr val="lt1"/>
              </a:solidFill>
              <a:effectLst/>
              <a:uFillTx/>
              <a:latin typeface="Arial"/>
            </a:endParaRPr>
          </a:p>
        </p:txBody>
      </p:sp>
      <p:sp>
        <p:nvSpPr>
          <p:cNvPr id="219" name="Rectangle 101"/>
          <p:cNvSpPr/>
          <p:nvPr/>
        </p:nvSpPr>
        <p:spPr>
          <a:xfrm>
            <a:off x="8010000" y="3913560"/>
            <a:ext cx="3593160" cy="40680"/>
          </a:xfrm>
          <a:prstGeom prst="rect">
            <a:avLst/>
          </a:prstGeom>
          <a:solidFill>
            <a:srgbClr val="F26B2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960" rIns="90000" bIns="-3960" anchor="ctr">
            <a:noAutofit/>
          </a:bodyPr>
          <a:p>
            <a:pPr/>
            <a:endParaRPr lang="en-IN" sz="1400" b="0" u="none" strike="noStrike">
              <a:solidFill>
                <a:schemeClr val="lt1"/>
              </a:solidFill>
              <a:effectLst/>
              <a:uFillTx/>
              <a:latin typeface="Arial"/>
            </a:endParaRPr>
          </a:p>
        </p:txBody>
      </p:sp>
      <p:sp>
        <p:nvSpPr>
          <p:cNvPr id="220" name="TextBox 102"/>
          <p:cNvSpPr/>
          <p:nvPr/>
        </p:nvSpPr>
        <p:spPr>
          <a:xfrm>
            <a:off x="8229600" y="4087440"/>
            <a:ext cx="3154320" cy="1791720"/>
          </a:xfrm>
          <a:prstGeom prst="rect">
            <a:avLst/>
          </a:prstGeom>
          <a:noFill/>
          <a:ln w="0">
            <a:noFill/>
          </a:ln>
        </p:spPr>
        <p:style>
          <a:lnRef idx="0"/>
          <a:fillRef idx="0"/>
          <a:effectRef idx="0"/>
          <a:fontRef idx="minor"/>
        </p:style>
        <p:txBody>
          <a:bodyPr lIns="0" tIns="0" rIns="0" bIns="0" anchor="t">
            <a:spAutoFit/>
          </a:bodyPr>
          <a:p>
            <a:pPr>
              <a:lnSpc>
                <a:spcPct val="100000"/>
              </a:lnSpc>
              <a:spcAft>
                <a:spcPts val="400"/>
              </a:spcAft>
            </a:pPr>
            <a:r>
              <a:rPr lang="en-IN" sz="1000" b="1" u="none" strike="noStrike">
                <a:solidFill>
                  <a:srgbClr val="2A4A3E"/>
                </a:solidFill>
                <a:effectLst/>
                <a:uFillTx/>
                <a:latin typeface="Rubik"/>
                <a:ea typeface="Arial"/>
              </a:rPr>
              <a:t>Impact, and the road to 23 October</a:t>
            </a:r>
            <a:endParaRPr lang="en-IN" sz="1000" b="0" u="none" strike="noStrike">
              <a:solidFill>
                <a:srgbClr val="000000"/>
              </a:solidFill>
              <a:effectLst/>
              <a:uFillTx/>
              <a:latin typeface="Arial"/>
            </a:endParaRPr>
          </a:p>
          <a:p>
            <a:pPr>
              <a:lnSpc>
                <a:spcPct val="112000"/>
              </a:lnSpc>
              <a:spcAft>
                <a:spcPts val="349"/>
              </a:spcAft>
            </a:pPr>
            <a:r>
              <a:rPr lang="en-IN" sz="880" b="0" u="none" strike="noStrike">
                <a:solidFill>
                  <a:srgbClr val="1F3A30"/>
                </a:solidFill>
                <a:effectLst/>
                <a:uFillTx/>
                <a:latin typeface="DM Sans"/>
                <a:ea typeface="Arial"/>
              </a:rPr>
              <a:t>Every test carries a batch id and a QR, so a distributor can scope a recall to the batches that failed instead of pulling a whole product line.</a:t>
            </a:r>
            <a:endParaRPr lang="en-IN" sz="880" b="0" u="none" strike="noStrike">
              <a:solidFill>
                <a:srgbClr val="000000"/>
              </a:solidFill>
              <a:effectLst/>
              <a:uFillTx/>
              <a:latin typeface="Arial"/>
            </a:endParaRPr>
          </a:p>
          <a:p>
            <a:pPr>
              <a:lnSpc>
                <a:spcPct val="112000"/>
              </a:lnSpc>
              <a:spcAft>
                <a:spcPts val="349"/>
              </a:spcAft>
            </a:pPr>
            <a:endParaRPr lang="en-IN" sz="880" b="0" u="none" strike="noStrike">
              <a:solidFill>
                <a:srgbClr val="000000"/>
              </a:solidFill>
              <a:effectLst/>
              <a:uFillTx/>
              <a:latin typeface="Arial"/>
            </a:endParaRPr>
          </a:p>
          <a:p>
            <a:pPr>
              <a:lnSpc>
                <a:spcPct val="112000"/>
              </a:lnSpc>
              <a:spcAft>
                <a:spcPts val="349"/>
              </a:spcAft>
            </a:pPr>
            <a:r>
              <a:rPr lang="en-IN" sz="880" b="0" u="none" strike="noStrike">
                <a:solidFill>
                  <a:srgbClr val="1F3A30"/>
                </a:solidFill>
                <a:effectLst/>
                <a:uFillTx/>
                <a:latin typeface="DM Sans"/>
                <a:ea typeface="Arial"/>
              </a:rPr>
              <a:t>15-21 Oct capture real strips and retrain · 22 Oct rehearsal · 23 Oct final, live on real reagents.</a:t>
            </a:r>
            <a:endParaRPr lang="en-IN" sz="88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21" name="Google Shape;86;p9"/>
          <p:cNvSpPr/>
          <p:nvPr/>
        </p:nvSpPr>
        <p:spPr>
          <a:xfrm>
            <a:off x="812880" y="812880"/>
            <a:ext cx="10883160" cy="256320"/>
          </a:xfrm>
          <a:prstGeom prst="rect">
            <a:avLst/>
          </a:prstGeom>
          <a:noFill/>
          <a:ln w="0">
            <a:noFill/>
          </a:ln>
        </p:spPr>
        <p:style>
          <a:lnRef idx="0"/>
          <a:fillRef idx="0"/>
          <a:effectRef idx="0"/>
          <a:fontRef idx="minor"/>
        </p:style>
        <p:txBody>
          <a:bodyPr lIns="0" tIns="0" rIns="0" bIns="0" anchor="t">
            <a:noAutofit/>
          </a:bodyPr>
          <a:p>
            <a:pPr>
              <a:lnSpc>
                <a:spcPct val="140000"/>
              </a:lnSpc>
              <a:tabLst>
                <a:tab pos="0" algn="l"/>
              </a:tabLst>
            </a:pPr>
            <a:r>
              <a:rPr lang="en-US" sz="1300" b="1" u="none" strike="noStrike">
                <a:solidFill>
                  <a:srgbClr val="D9581C"/>
                </a:solidFill>
                <a:effectLst/>
                <a:uFillTx/>
                <a:latin typeface="DM Sans"/>
                <a:ea typeface="DM Sans"/>
              </a:rPr>
              <a:t>TECH4FOOD 2026 · ROUND 1 IDEA SUBMISSION</a:t>
            </a:r>
            <a:endParaRPr lang="en-IN" sz="1300" b="0" u="none" strike="noStrike">
              <a:solidFill>
                <a:srgbClr val="000000"/>
              </a:solidFill>
              <a:effectLst/>
              <a:uFillTx/>
              <a:latin typeface="Arial"/>
            </a:endParaRPr>
          </a:p>
        </p:txBody>
      </p:sp>
      <p:sp>
        <p:nvSpPr>
          <p:cNvPr id="222" name="Google Shape;87;p9"/>
          <p:cNvSpPr/>
          <p:nvPr/>
        </p:nvSpPr>
        <p:spPr>
          <a:xfrm>
            <a:off x="812880" y="1272600"/>
            <a:ext cx="10883160" cy="527760"/>
          </a:xfrm>
          <a:prstGeom prst="rect">
            <a:avLst/>
          </a:prstGeom>
          <a:noFill/>
          <a:ln w="0">
            <a:noFill/>
          </a:ln>
        </p:spPr>
        <p:style>
          <a:lnRef idx="0"/>
          <a:fillRef idx="0"/>
          <a:effectRef idx="0"/>
          <a:fontRef idx="minor"/>
        </p:style>
        <p:txBody>
          <a:bodyPr lIns="0" tIns="0" rIns="0" bIns="0" anchor="t">
            <a:noAutofit/>
          </a:bodyPr>
          <a:p>
            <a:pPr>
              <a:lnSpc>
                <a:spcPct val="110000"/>
              </a:lnSpc>
              <a:tabLst>
                <a:tab pos="0" algn="l"/>
              </a:tabLst>
            </a:pPr>
            <a:r>
              <a:rPr lang="en-US" sz="3600" b="1" u="none" strike="noStrike">
                <a:solidFill>
                  <a:srgbClr val="1F3A30"/>
                </a:solidFill>
                <a:effectLst/>
                <a:uFillTx/>
                <a:latin typeface="Rubik"/>
                <a:ea typeface="Rubik"/>
              </a:rPr>
              <a:t>Research &amp; References</a:t>
            </a:r>
            <a:endParaRPr lang="en-IN" sz="3600" b="0" u="none" strike="noStrike">
              <a:solidFill>
                <a:srgbClr val="000000"/>
              </a:solidFill>
              <a:effectLst/>
              <a:uFillTx/>
              <a:latin typeface="Arial"/>
            </a:endParaRPr>
          </a:p>
        </p:txBody>
      </p:sp>
      <p:sp>
        <p:nvSpPr>
          <p:cNvPr id="223" name="Google Shape;94;p9"/>
          <p:cNvSpPr/>
          <p:nvPr/>
        </p:nvSpPr>
        <p:spPr>
          <a:xfrm>
            <a:off x="812880" y="6238440"/>
            <a:ext cx="10883160" cy="238320"/>
          </a:xfrm>
          <a:prstGeom prst="rect">
            <a:avLst/>
          </a:prstGeom>
          <a:noFill/>
          <a:ln w="0">
            <a:noFill/>
          </a:ln>
        </p:spPr>
        <p:style>
          <a:lnRef idx="0"/>
          <a:fillRef idx="0"/>
          <a:effectRef idx="0"/>
          <a:fontRef idx="minor"/>
        </p:style>
        <p:txBody>
          <a:bodyPr lIns="0" tIns="0" rIns="0" bIns="0" anchor="t">
            <a:noAutofit/>
          </a:bodyPr>
          <a:p>
            <a:pPr>
              <a:lnSpc>
                <a:spcPct val="140000"/>
              </a:lnSpc>
              <a:tabLst>
                <a:tab pos="0" algn="l"/>
              </a:tabLst>
            </a:pPr>
            <a:r>
              <a:rPr lang="en-US" sz="1200" b="0" u="none" strike="noStrike">
                <a:solidFill>
                  <a:srgbClr val="6B7A72"/>
                </a:solidFill>
                <a:effectLst/>
                <a:uFillTx/>
                <a:latin typeface="DM Sans"/>
                <a:ea typeface="DM Sans"/>
              </a:rPr>
              <a:t>Tech4Food 2026 · New Era of Smarter Food Safety · PCCOE, Pune · 08</a:t>
            </a:r>
            <a:endParaRPr lang="en-IN" sz="1200" b="0" u="none" strike="noStrike">
              <a:solidFill>
                <a:srgbClr val="000000"/>
              </a:solidFill>
              <a:effectLst/>
              <a:uFillTx/>
              <a:latin typeface="Arial"/>
            </a:endParaRPr>
          </a:p>
        </p:txBody>
      </p:sp>
      <p:sp>
        <p:nvSpPr>
          <p:cNvPr id="224" name="TextBox 94"/>
          <p:cNvSpPr/>
          <p:nvPr/>
        </p:nvSpPr>
        <p:spPr>
          <a:xfrm>
            <a:off x="1051560" y="2212920"/>
            <a:ext cx="3062880" cy="200880"/>
          </a:xfrm>
          <a:prstGeom prst="rect">
            <a:avLst/>
          </a:prstGeom>
          <a:noFill/>
          <a:ln w="0">
            <a:noFill/>
          </a:ln>
        </p:spPr>
        <p:style>
          <a:lnRef idx="0"/>
          <a:fillRef idx="0"/>
          <a:effectRef idx="0"/>
          <a:fontRef idx="minor"/>
        </p:style>
        <p:txBody>
          <a:bodyPr lIns="0" tIns="0" rIns="0" bIns="0" anchor="t">
            <a:spAutoFit/>
          </a:bodyPr>
          <a:p>
            <a:pPr>
              <a:lnSpc>
                <a:spcPct val="100000"/>
              </a:lnSpc>
            </a:pPr>
            <a:r>
              <a:rPr lang="en-IN" sz="960" b="1" u="none" strike="noStrike">
                <a:solidFill>
                  <a:srgbClr val="2A4A3E"/>
                </a:solidFill>
                <a:effectLst/>
                <a:uFillTx/>
                <a:latin typeface="Rubik"/>
                <a:ea typeface="Arial"/>
              </a:rPr>
              <a:t>Research papers &amp; patents</a:t>
            </a:r>
            <a:endParaRPr lang="en-IN" sz="960" b="0" u="none" strike="noStrike">
              <a:solidFill>
                <a:srgbClr val="000000"/>
              </a:solidFill>
              <a:effectLst/>
              <a:uFillTx/>
              <a:latin typeface="Arial"/>
            </a:endParaRPr>
          </a:p>
        </p:txBody>
      </p:sp>
      <p:sp>
        <p:nvSpPr>
          <p:cNvPr id="225" name="Rectangle 95"/>
          <p:cNvSpPr/>
          <p:nvPr/>
        </p:nvSpPr>
        <p:spPr>
          <a:xfrm>
            <a:off x="1051560" y="2468880"/>
            <a:ext cx="3062880" cy="18000"/>
          </a:xfrm>
          <a:prstGeom prst="rect">
            <a:avLst/>
          </a:prstGeom>
          <a:solidFill>
            <a:srgbClr val="DCD6C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6640" rIns="90000" bIns="-26640" anchor="ctr">
            <a:noAutofit/>
          </a:bodyPr>
          <a:p>
            <a:pPr/>
            <a:endParaRPr lang="en-IN" sz="1400" b="0" u="none" strike="noStrike">
              <a:solidFill>
                <a:schemeClr val="lt1"/>
              </a:solidFill>
              <a:effectLst/>
              <a:uFillTx/>
              <a:latin typeface="Arial"/>
            </a:endParaRPr>
          </a:p>
        </p:txBody>
      </p:sp>
      <p:sp>
        <p:nvSpPr>
          <p:cNvPr id="226" name="TextBox 96"/>
          <p:cNvSpPr/>
          <p:nvPr/>
        </p:nvSpPr>
        <p:spPr>
          <a:xfrm>
            <a:off x="1051560" y="2615040"/>
            <a:ext cx="3062880" cy="1042200"/>
          </a:xfrm>
          <a:prstGeom prst="rect">
            <a:avLst/>
          </a:prstGeom>
          <a:noFill/>
          <a:ln w="0">
            <a:noFill/>
          </a:ln>
        </p:spPr>
        <p:style>
          <a:lnRef idx="0"/>
          <a:fillRef idx="0"/>
          <a:effectRef idx="0"/>
          <a:fontRef idx="minor"/>
        </p:style>
        <p:txBody>
          <a:bodyPr lIns="0" tIns="0" rIns="0" bIns="0" anchor="t">
            <a:spAutoFit/>
          </a:bodyPr>
          <a:p>
            <a:pPr>
              <a:lnSpc>
                <a:spcPct val="100000"/>
              </a:lnSpc>
              <a:spcAft>
                <a:spcPts val="300"/>
              </a:spcAft>
            </a:pPr>
            <a:r>
              <a:rPr lang="en-IN" sz="839" b="1" u="none" strike="noStrike">
                <a:solidFill>
                  <a:srgbClr val="1F3A30"/>
                </a:solidFill>
                <a:effectLst/>
                <a:uFillTx/>
                <a:latin typeface="DM Sans"/>
                <a:ea typeface="Arial"/>
              </a:rPr>
              <a:t>Fragkos N., Bouzembrak Y., Erasmus S. W. (2026)</a:t>
            </a:r>
            <a:endParaRPr lang="en-IN" sz="839" b="0" u="none" strike="noStrike">
              <a:solidFill>
                <a:srgbClr val="000000"/>
              </a:solidFill>
              <a:effectLst/>
              <a:uFillTx/>
              <a:latin typeface="Arial"/>
            </a:endParaRPr>
          </a:p>
          <a:p>
            <a:pPr>
              <a:lnSpc>
                <a:spcPct val="116000"/>
              </a:lnSpc>
            </a:pPr>
            <a:r>
              <a:rPr lang="en-IN" sz="800" b="0" u="none" strike="noStrike">
                <a:solidFill>
                  <a:srgbClr val="6B7A72"/>
                </a:solidFill>
                <a:effectLst/>
                <a:uFillTx/>
                <a:latin typeface="DM Sans"/>
                <a:ea typeface="Arial"/>
              </a:rPr>
              <a:t>The role of artificial intelligence in combating food fraud: a systematic literature review. Critical Reviews in Food Science and Nutrition. doi:10.1080/10408398.2026.2654710</a:t>
            </a:r>
            <a:endParaRPr lang="en-IN" sz="800" b="0" u="none" strike="noStrike">
              <a:solidFill>
                <a:srgbClr val="000000"/>
              </a:solidFill>
              <a:effectLst/>
              <a:uFillTx/>
              <a:latin typeface="Arial"/>
            </a:endParaRPr>
          </a:p>
        </p:txBody>
      </p:sp>
      <p:sp>
        <p:nvSpPr>
          <p:cNvPr id="227" name="TextBox 97"/>
          <p:cNvSpPr/>
          <p:nvPr/>
        </p:nvSpPr>
        <p:spPr>
          <a:xfrm>
            <a:off x="1051560" y="3675960"/>
            <a:ext cx="3062880" cy="1042200"/>
          </a:xfrm>
          <a:prstGeom prst="rect">
            <a:avLst/>
          </a:prstGeom>
          <a:noFill/>
          <a:ln w="0">
            <a:noFill/>
          </a:ln>
        </p:spPr>
        <p:style>
          <a:lnRef idx="0"/>
          <a:fillRef idx="0"/>
          <a:effectRef idx="0"/>
          <a:fontRef idx="minor"/>
        </p:style>
        <p:txBody>
          <a:bodyPr lIns="0" tIns="0" rIns="0" bIns="0" anchor="t">
            <a:spAutoFit/>
          </a:bodyPr>
          <a:p>
            <a:pPr>
              <a:lnSpc>
                <a:spcPct val="100000"/>
              </a:lnSpc>
              <a:spcAft>
                <a:spcPts val="300"/>
              </a:spcAft>
            </a:pPr>
            <a:r>
              <a:rPr lang="en-IN" sz="839" b="1" u="none" strike="noStrike">
                <a:solidFill>
                  <a:srgbClr val="1F3A30"/>
                </a:solidFill>
                <a:effectLst/>
                <a:uFillTx/>
                <a:latin typeface="DM Sans"/>
                <a:ea typeface="Arial"/>
              </a:rPr>
              <a:t>Food Chemistry 468:142439 (2025)</a:t>
            </a:r>
            <a:endParaRPr lang="en-IN" sz="839" b="0" u="none" strike="noStrike">
              <a:solidFill>
                <a:srgbClr val="000000"/>
              </a:solidFill>
              <a:effectLst/>
              <a:uFillTx/>
              <a:latin typeface="Arial"/>
            </a:endParaRPr>
          </a:p>
          <a:p>
            <a:pPr>
              <a:lnSpc>
                <a:spcPct val="116000"/>
              </a:lnSpc>
            </a:pPr>
            <a:r>
              <a:rPr lang="en-IN" sz="800" b="0" u="none" strike="noStrike">
                <a:solidFill>
                  <a:srgbClr val="6B7A72"/>
                </a:solidFill>
                <a:effectLst/>
                <a:uFillTx/>
                <a:latin typeface="DM Sans"/>
                <a:ea typeface="Arial"/>
              </a:rPr>
              <a:t>Recent advances on AI-based approaches for food adulteration and fraud detection: challenges and opportunities. PMID 39675268</a:t>
            </a:r>
            <a:endParaRPr lang="en-IN" sz="800" b="0" u="none" strike="noStrike">
              <a:solidFill>
                <a:srgbClr val="000000"/>
              </a:solidFill>
              <a:effectLst/>
              <a:uFillTx/>
              <a:latin typeface="Arial"/>
            </a:endParaRPr>
          </a:p>
        </p:txBody>
      </p:sp>
      <p:sp>
        <p:nvSpPr>
          <p:cNvPr id="228" name="TextBox 98"/>
          <p:cNvSpPr/>
          <p:nvPr/>
        </p:nvSpPr>
        <p:spPr>
          <a:xfrm>
            <a:off x="4590360" y="2212920"/>
            <a:ext cx="3062880" cy="200880"/>
          </a:xfrm>
          <a:prstGeom prst="rect">
            <a:avLst/>
          </a:prstGeom>
          <a:noFill/>
          <a:ln w="0">
            <a:noFill/>
          </a:ln>
        </p:spPr>
        <p:style>
          <a:lnRef idx="0"/>
          <a:fillRef idx="0"/>
          <a:effectRef idx="0"/>
          <a:fontRef idx="minor"/>
        </p:style>
        <p:txBody>
          <a:bodyPr lIns="0" tIns="0" rIns="0" bIns="0" anchor="t">
            <a:spAutoFit/>
          </a:bodyPr>
          <a:p>
            <a:pPr>
              <a:lnSpc>
                <a:spcPct val="100000"/>
              </a:lnSpc>
            </a:pPr>
            <a:r>
              <a:rPr lang="en-IN" sz="960" b="1" u="none" strike="noStrike">
                <a:solidFill>
                  <a:srgbClr val="2A4A3E"/>
                </a:solidFill>
                <a:effectLst/>
                <a:uFillTx/>
                <a:latin typeface="Rubik"/>
                <a:ea typeface="Arial"/>
              </a:rPr>
              <a:t>Data, reports &amp; regulations</a:t>
            </a:r>
            <a:endParaRPr lang="en-IN" sz="960" b="0" u="none" strike="noStrike">
              <a:solidFill>
                <a:srgbClr val="000000"/>
              </a:solidFill>
              <a:effectLst/>
              <a:uFillTx/>
              <a:latin typeface="Arial"/>
            </a:endParaRPr>
          </a:p>
        </p:txBody>
      </p:sp>
      <p:sp>
        <p:nvSpPr>
          <p:cNvPr id="229" name="Rectangle 99"/>
          <p:cNvSpPr/>
          <p:nvPr/>
        </p:nvSpPr>
        <p:spPr>
          <a:xfrm>
            <a:off x="4590360" y="2468880"/>
            <a:ext cx="3062880" cy="18000"/>
          </a:xfrm>
          <a:prstGeom prst="rect">
            <a:avLst/>
          </a:prstGeom>
          <a:solidFill>
            <a:srgbClr val="DCD6C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6640" rIns="90000" bIns="-26640" anchor="ctr">
            <a:noAutofit/>
          </a:bodyPr>
          <a:p>
            <a:pPr/>
            <a:endParaRPr lang="en-IN" sz="1400" b="0" u="none" strike="noStrike">
              <a:solidFill>
                <a:schemeClr val="lt1"/>
              </a:solidFill>
              <a:effectLst/>
              <a:uFillTx/>
              <a:latin typeface="Arial"/>
            </a:endParaRPr>
          </a:p>
        </p:txBody>
      </p:sp>
      <p:sp>
        <p:nvSpPr>
          <p:cNvPr id="230" name="TextBox 100"/>
          <p:cNvSpPr/>
          <p:nvPr/>
        </p:nvSpPr>
        <p:spPr>
          <a:xfrm>
            <a:off x="4590360" y="2615040"/>
            <a:ext cx="3062880" cy="1042200"/>
          </a:xfrm>
          <a:prstGeom prst="rect">
            <a:avLst/>
          </a:prstGeom>
          <a:noFill/>
          <a:ln w="0">
            <a:noFill/>
          </a:ln>
        </p:spPr>
        <p:style>
          <a:lnRef idx="0"/>
          <a:fillRef idx="0"/>
          <a:effectRef idx="0"/>
          <a:fontRef idx="minor"/>
        </p:style>
        <p:txBody>
          <a:bodyPr lIns="0" tIns="0" rIns="0" bIns="0" anchor="t">
            <a:spAutoFit/>
          </a:bodyPr>
          <a:p>
            <a:pPr>
              <a:lnSpc>
                <a:spcPct val="100000"/>
              </a:lnSpc>
              <a:spcAft>
                <a:spcPts val="300"/>
              </a:spcAft>
            </a:pPr>
            <a:r>
              <a:rPr lang="en-IN" sz="839" b="1" u="none" strike="noStrike">
                <a:solidFill>
                  <a:srgbClr val="1F3A30"/>
                </a:solidFill>
                <a:effectLst/>
                <a:uFillTx/>
                <a:latin typeface="DM Sans"/>
                <a:ea typeface="Arial"/>
              </a:rPr>
              <a:t>FSSAI, tabled in Parliament 24 July 2026</a:t>
            </a:r>
            <a:endParaRPr lang="en-IN" sz="839" b="0" u="none" strike="noStrike">
              <a:solidFill>
                <a:srgbClr val="000000"/>
              </a:solidFill>
              <a:effectLst/>
              <a:uFillTx/>
              <a:latin typeface="Arial"/>
            </a:endParaRPr>
          </a:p>
          <a:p>
            <a:pPr>
              <a:lnSpc>
                <a:spcPct val="116000"/>
              </a:lnSpc>
            </a:pPr>
            <a:r>
              <a:rPr lang="en-IN" sz="800" b="0" u="none" strike="noStrike">
                <a:solidFill>
                  <a:srgbClr val="6B7A72"/>
                </a:solidFill>
                <a:effectLst/>
                <a:uFillTx/>
                <a:latin typeface="DM Sans"/>
                <a:ea typeface="Arial"/>
              </a:rPr>
              <a:t>Lok Sabha Unstarred Question No. 1092. 14,668 of 39,351 milk and dairy samples non-conforming in FY 2025-26.</a:t>
            </a:r>
            <a:endParaRPr lang="en-IN" sz="800" b="0" u="none" strike="noStrike">
              <a:solidFill>
                <a:srgbClr val="000000"/>
              </a:solidFill>
              <a:effectLst/>
              <a:uFillTx/>
              <a:latin typeface="Arial"/>
            </a:endParaRPr>
          </a:p>
        </p:txBody>
      </p:sp>
      <p:sp>
        <p:nvSpPr>
          <p:cNvPr id="231" name="TextBox 101"/>
          <p:cNvSpPr/>
          <p:nvPr/>
        </p:nvSpPr>
        <p:spPr>
          <a:xfrm>
            <a:off x="4590360" y="3675960"/>
            <a:ext cx="3062880" cy="1042200"/>
          </a:xfrm>
          <a:prstGeom prst="rect">
            <a:avLst/>
          </a:prstGeom>
          <a:noFill/>
          <a:ln w="0">
            <a:noFill/>
          </a:ln>
        </p:spPr>
        <p:style>
          <a:lnRef idx="0"/>
          <a:fillRef idx="0"/>
          <a:effectRef idx="0"/>
          <a:fontRef idx="minor"/>
        </p:style>
        <p:txBody>
          <a:bodyPr lIns="0" tIns="0" rIns="0" bIns="0" anchor="t">
            <a:spAutoFit/>
          </a:bodyPr>
          <a:p>
            <a:pPr>
              <a:lnSpc>
                <a:spcPct val="100000"/>
              </a:lnSpc>
              <a:spcAft>
                <a:spcPts val="300"/>
              </a:spcAft>
            </a:pPr>
            <a:r>
              <a:rPr lang="en-IN" sz="839" b="1" u="none" strike="noStrike">
                <a:solidFill>
                  <a:srgbClr val="1F3A30"/>
                </a:solidFill>
                <a:effectLst/>
                <a:uFillTx/>
                <a:latin typeface="DM Sans"/>
                <a:ea typeface="Arial"/>
              </a:rPr>
              <a:t>WHO, Food safety fact sheet, 4 June 2026</a:t>
            </a:r>
            <a:endParaRPr lang="en-IN" sz="839" b="0" u="none" strike="noStrike">
              <a:solidFill>
                <a:srgbClr val="000000"/>
              </a:solidFill>
              <a:effectLst/>
              <a:uFillTx/>
              <a:latin typeface="Arial"/>
            </a:endParaRPr>
          </a:p>
          <a:p>
            <a:pPr>
              <a:lnSpc>
                <a:spcPct val="116000"/>
              </a:lnSpc>
            </a:pPr>
            <a:r>
              <a:rPr lang="en-IN" sz="800" b="0" u="none" strike="noStrike">
                <a:solidFill>
                  <a:srgbClr val="6B7A72"/>
                </a:solidFill>
                <a:effectLst/>
                <a:uFillTx/>
                <a:latin typeface="DM Sans"/>
                <a:ea typeface="Arial"/>
              </a:rPr>
              <a:t>866 million illnesses, 1.52 million deaths and US$ 310 billion a year; children under 5 carry 29% of the burden.</a:t>
            </a:r>
            <a:endParaRPr lang="en-IN" sz="800" b="0" u="none" strike="noStrike">
              <a:solidFill>
                <a:srgbClr val="000000"/>
              </a:solidFill>
              <a:effectLst/>
              <a:uFillTx/>
              <a:latin typeface="Arial"/>
            </a:endParaRPr>
          </a:p>
        </p:txBody>
      </p:sp>
      <p:sp>
        <p:nvSpPr>
          <p:cNvPr id="232" name="TextBox 102"/>
          <p:cNvSpPr/>
          <p:nvPr/>
        </p:nvSpPr>
        <p:spPr>
          <a:xfrm>
            <a:off x="8129160" y="2212920"/>
            <a:ext cx="3062880" cy="200880"/>
          </a:xfrm>
          <a:prstGeom prst="rect">
            <a:avLst/>
          </a:prstGeom>
          <a:noFill/>
          <a:ln w="0">
            <a:noFill/>
          </a:ln>
        </p:spPr>
        <p:style>
          <a:lnRef idx="0"/>
          <a:fillRef idx="0"/>
          <a:effectRef idx="0"/>
          <a:fontRef idx="minor"/>
        </p:style>
        <p:txBody>
          <a:bodyPr lIns="0" tIns="0" rIns="0" bIns="0" anchor="t">
            <a:spAutoFit/>
          </a:bodyPr>
          <a:p>
            <a:pPr>
              <a:lnSpc>
                <a:spcPct val="100000"/>
              </a:lnSpc>
            </a:pPr>
            <a:r>
              <a:rPr lang="en-IN" sz="960" b="1" u="none" strike="noStrike">
                <a:solidFill>
                  <a:srgbClr val="2A4A3E"/>
                </a:solidFill>
                <a:effectLst/>
                <a:uFillTx/>
                <a:latin typeface="Rubik"/>
                <a:ea typeface="Arial"/>
              </a:rPr>
              <a:t>Tools, datasets &amp; field work</a:t>
            </a:r>
            <a:endParaRPr lang="en-IN" sz="960" b="0" u="none" strike="noStrike">
              <a:solidFill>
                <a:srgbClr val="000000"/>
              </a:solidFill>
              <a:effectLst/>
              <a:uFillTx/>
              <a:latin typeface="Arial"/>
            </a:endParaRPr>
          </a:p>
        </p:txBody>
      </p:sp>
      <p:sp>
        <p:nvSpPr>
          <p:cNvPr id="233" name="Rectangle 103"/>
          <p:cNvSpPr/>
          <p:nvPr/>
        </p:nvSpPr>
        <p:spPr>
          <a:xfrm>
            <a:off x="8129160" y="2468880"/>
            <a:ext cx="3062880" cy="18000"/>
          </a:xfrm>
          <a:prstGeom prst="rect">
            <a:avLst/>
          </a:prstGeom>
          <a:solidFill>
            <a:srgbClr val="DCD6C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6640" rIns="90000" bIns="-26640" anchor="ctr">
            <a:noAutofit/>
          </a:bodyPr>
          <a:p>
            <a:pPr/>
            <a:endParaRPr lang="en-IN" sz="1400" b="0" u="none" strike="noStrike">
              <a:solidFill>
                <a:schemeClr val="lt1"/>
              </a:solidFill>
              <a:effectLst/>
              <a:uFillTx/>
              <a:latin typeface="Arial"/>
            </a:endParaRPr>
          </a:p>
        </p:txBody>
      </p:sp>
      <p:sp>
        <p:nvSpPr>
          <p:cNvPr id="234" name="TextBox 104"/>
          <p:cNvSpPr/>
          <p:nvPr/>
        </p:nvSpPr>
        <p:spPr>
          <a:xfrm>
            <a:off x="8129160" y="2615040"/>
            <a:ext cx="3062880" cy="1042200"/>
          </a:xfrm>
          <a:prstGeom prst="rect">
            <a:avLst/>
          </a:prstGeom>
          <a:noFill/>
          <a:ln w="0">
            <a:noFill/>
          </a:ln>
        </p:spPr>
        <p:style>
          <a:lnRef idx="0"/>
          <a:fillRef idx="0"/>
          <a:effectRef idx="0"/>
          <a:fontRef idx="minor"/>
        </p:style>
        <p:txBody>
          <a:bodyPr lIns="0" tIns="0" rIns="0" bIns="0" anchor="t">
            <a:spAutoFit/>
          </a:bodyPr>
          <a:p>
            <a:pPr>
              <a:lnSpc>
                <a:spcPct val="100000"/>
              </a:lnSpc>
              <a:spcAft>
                <a:spcPts val="300"/>
              </a:spcAft>
            </a:pPr>
            <a:r>
              <a:rPr lang="en-IN" sz="839" b="1" u="none" strike="noStrike">
                <a:solidFill>
                  <a:srgbClr val="1F3A30"/>
                </a:solidFill>
                <a:effectLst/>
                <a:uFillTx/>
                <a:latin typeface="DM Sans"/>
                <a:ea typeface="Arial"/>
              </a:rPr>
              <a:t>Open-source stack</a:t>
            </a:r>
            <a:endParaRPr lang="en-IN" sz="839" b="0" u="none" strike="noStrike">
              <a:solidFill>
                <a:srgbClr val="000000"/>
              </a:solidFill>
              <a:effectLst/>
              <a:uFillTx/>
              <a:latin typeface="Arial"/>
            </a:endParaRPr>
          </a:p>
          <a:p>
            <a:pPr>
              <a:lnSpc>
                <a:spcPct val="116000"/>
              </a:lnSpc>
            </a:pPr>
            <a:r>
              <a:rPr lang="en-IN" sz="800" b="0" u="none" strike="noStrike">
                <a:solidFill>
                  <a:srgbClr val="6B7A72"/>
                </a:solidFill>
                <a:effectLst/>
                <a:uFillTx/>
                <a:latin typeface="DM Sans"/>
                <a:ea typeface="Arial"/>
              </a:rPr>
              <a:t>OpenCV, scikit-learn, ONNX Runtime, FastAPI, SQLite, Python 3.12. Model trained on an RTX 4050, served on CPU.</a:t>
            </a:r>
            <a:endParaRPr lang="en-IN" sz="800" b="0" u="none" strike="noStrike">
              <a:solidFill>
                <a:srgbClr val="000000"/>
              </a:solidFill>
              <a:effectLst/>
              <a:uFillTx/>
              <a:latin typeface="Arial"/>
            </a:endParaRPr>
          </a:p>
        </p:txBody>
      </p:sp>
      <p:sp>
        <p:nvSpPr>
          <p:cNvPr id="235" name="TextBox 105"/>
          <p:cNvSpPr/>
          <p:nvPr/>
        </p:nvSpPr>
        <p:spPr>
          <a:xfrm>
            <a:off x="8129160" y="3675960"/>
            <a:ext cx="3062880" cy="1042200"/>
          </a:xfrm>
          <a:prstGeom prst="rect">
            <a:avLst/>
          </a:prstGeom>
          <a:noFill/>
          <a:ln w="0">
            <a:noFill/>
          </a:ln>
        </p:spPr>
        <p:style>
          <a:lnRef idx="0"/>
          <a:fillRef idx="0"/>
          <a:effectRef idx="0"/>
          <a:fontRef idx="minor"/>
        </p:style>
        <p:txBody>
          <a:bodyPr lIns="0" tIns="0" rIns="0" bIns="0" anchor="t">
            <a:spAutoFit/>
          </a:bodyPr>
          <a:p>
            <a:pPr>
              <a:lnSpc>
                <a:spcPct val="100000"/>
              </a:lnSpc>
              <a:spcAft>
                <a:spcPts val="300"/>
              </a:spcAft>
            </a:pPr>
            <a:r>
              <a:rPr lang="en-IN" sz="839" b="1" u="none" strike="noStrike">
                <a:solidFill>
                  <a:srgbClr val="1F3A30"/>
                </a:solidFill>
                <a:effectLst/>
                <a:uFillTx/>
                <a:latin typeface="DM Sans"/>
                <a:ea typeface="Arial"/>
              </a:rPr>
              <a:t>Dataset and field work</a:t>
            </a:r>
            <a:endParaRPr lang="en-IN" sz="839" b="0" u="none" strike="noStrike">
              <a:solidFill>
                <a:srgbClr val="000000"/>
              </a:solidFill>
              <a:effectLst/>
              <a:uFillTx/>
              <a:latin typeface="Arial"/>
            </a:endParaRPr>
          </a:p>
          <a:p>
            <a:pPr>
              <a:lnSpc>
                <a:spcPct val="116000"/>
              </a:lnSpc>
            </a:pPr>
            <a:r>
              <a:rPr lang="en-IN" sz="800" b="0" u="none" strike="noStrike">
                <a:solidFill>
                  <a:srgbClr val="6B7A72"/>
                </a:solidFill>
                <a:effectLst/>
                <a:uFillTx/>
                <a:latin typeface="DM Sans"/>
                <a:ea typeface="Arial"/>
              </a:rPr>
              <a:t>534 synthetic strip images across 5 lighting conditions. Real iodine and methylene-blue strips photographed 15-21 October, then retrained.</a:t>
            </a:r>
            <a:endParaRPr lang="en-IN" sz="800" b="0" u="none" strike="noStrike">
              <a:solidFill>
                <a:srgbClr val="000000"/>
              </a:solidFill>
              <a:effectLst/>
              <a:uFillTx/>
              <a:latin typeface="Arial"/>
            </a:endParaRPr>
          </a:p>
        </p:txBody>
      </p:sp>
      <p:sp>
        <p:nvSpPr>
          <p:cNvPr id="236" name="Rounded Rectangle 106"/>
          <p:cNvSpPr/>
          <p:nvPr/>
        </p:nvSpPr>
        <p:spPr>
          <a:xfrm>
            <a:off x="813960" y="4773240"/>
            <a:ext cx="10881000" cy="1243080"/>
          </a:xfrm>
          <a:prstGeom prst="roundRect">
            <a:avLst>
              <a:gd name="adj" fmla="val 10000"/>
            </a:avLst>
          </a:prstGeom>
          <a:solidFill>
            <a:srgbClr val="F4F1E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IN" sz="1400" b="0" u="none" strike="noStrike">
              <a:solidFill>
                <a:schemeClr val="lt1"/>
              </a:solidFill>
              <a:effectLst/>
              <a:uFillTx/>
              <a:latin typeface="Arial"/>
            </a:endParaRPr>
          </a:p>
        </p:txBody>
      </p:sp>
      <p:sp>
        <p:nvSpPr>
          <p:cNvPr id="237" name="TextBox 107"/>
          <p:cNvSpPr/>
          <p:nvPr/>
        </p:nvSpPr>
        <p:spPr>
          <a:xfrm>
            <a:off x="1069920" y="4974480"/>
            <a:ext cx="10369080" cy="914040"/>
          </a:xfrm>
          <a:prstGeom prst="rect">
            <a:avLst/>
          </a:prstGeom>
          <a:noFill/>
          <a:ln w="0">
            <a:noFill/>
          </a:ln>
        </p:spPr>
        <p:style>
          <a:lnRef idx="0"/>
          <a:fillRef idx="0"/>
          <a:effectRef idx="0"/>
          <a:fontRef idx="minor"/>
        </p:style>
        <p:txBody>
          <a:bodyPr lIns="0" tIns="0" rIns="0" bIns="0" anchor="t">
            <a:spAutoFit/>
          </a:bodyPr>
          <a:p>
            <a:pPr>
              <a:lnSpc>
                <a:spcPct val="100000"/>
              </a:lnSpc>
              <a:spcAft>
                <a:spcPts val="400"/>
              </a:spcAft>
            </a:pPr>
            <a:r>
              <a:rPr lang="en-IN" sz="900" b="1" u="none" strike="noStrike">
                <a:solidFill>
                  <a:srgbClr val="2A4A3E"/>
                </a:solidFill>
                <a:effectLst/>
                <a:uFillTx/>
                <a:latin typeface="Rubik"/>
                <a:ea typeface="Arial"/>
              </a:rPr>
              <a:t>How the sources were used</a:t>
            </a:r>
            <a:endParaRPr lang="en-IN" sz="900" b="0" u="none" strike="noStrike">
              <a:solidFill>
                <a:srgbClr val="000000"/>
              </a:solidFill>
              <a:effectLst/>
              <a:uFillTx/>
              <a:latin typeface="Arial"/>
            </a:endParaRPr>
          </a:p>
          <a:p>
            <a:pPr>
              <a:lnSpc>
                <a:spcPct val="118000"/>
              </a:lnSpc>
            </a:pPr>
            <a:r>
              <a:rPr lang="en-IN" sz="820" b="0" u="none" strike="noStrike">
                <a:solidFill>
                  <a:srgbClr val="6B7A72"/>
                </a:solidFill>
                <a:effectLst/>
                <a:uFillTx/>
                <a:latin typeface="DM Sans"/>
                <a:ea typeface="Arial"/>
              </a:rPr>
              <a:t>WHO and FSSAI figures set the size of the problem on slide 2 and are quoted with their publication dates. The two review papers informed the decision to keep a rule-table fallback beside the learned model, since both reviews flag model opacity as the main barrier to regulatory adoption. No figure in this deck was rounded into existence; every number traces to a file in the repository or to a cited publication.</a:t>
            </a:r>
            <a:endParaRPr lang="en-IN" sz="82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38" name="Google Shape;100;p10"/>
          <p:cNvSpPr/>
          <p:nvPr/>
        </p:nvSpPr>
        <p:spPr>
          <a:xfrm>
            <a:off x="812880" y="812880"/>
            <a:ext cx="10883160" cy="256320"/>
          </a:xfrm>
          <a:prstGeom prst="rect">
            <a:avLst/>
          </a:prstGeom>
          <a:noFill/>
          <a:ln w="0">
            <a:noFill/>
          </a:ln>
        </p:spPr>
        <p:style>
          <a:lnRef idx="0"/>
          <a:fillRef idx="0"/>
          <a:effectRef idx="0"/>
          <a:fontRef idx="minor"/>
        </p:style>
        <p:txBody>
          <a:bodyPr lIns="0" tIns="0" rIns="0" bIns="0" anchor="t">
            <a:noAutofit/>
          </a:bodyPr>
          <a:p>
            <a:pPr>
              <a:lnSpc>
                <a:spcPct val="140000"/>
              </a:lnSpc>
              <a:tabLst>
                <a:tab pos="0" algn="l"/>
              </a:tabLst>
            </a:pPr>
            <a:r>
              <a:rPr lang="en-US" sz="1300" b="1" u="none" strike="noStrike">
                <a:solidFill>
                  <a:srgbClr val="D9581C"/>
                </a:solidFill>
                <a:effectLst/>
                <a:uFillTx/>
                <a:latin typeface="DM Sans"/>
                <a:ea typeface="DM Sans"/>
              </a:rPr>
              <a:t>TECH4FOOD 2026 · ROUND 1 IDEA SUBMISSION</a:t>
            </a:r>
            <a:endParaRPr lang="en-IN" sz="1300" b="0" u="none" strike="noStrike">
              <a:solidFill>
                <a:srgbClr val="000000"/>
              </a:solidFill>
              <a:effectLst/>
              <a:uFillTx/>
              <a:latin typeface="Arial"/>
            </a:endParaRPr>
          </a:p>
        </p:txBody>
      </p:sp>
      <p:sp>
        <p:nvSpPr>
          <p:cNvPr id="239" name="Google Shape;101;p10"/>
          <p:cNvSpPr/>
          <p:nvPr/>
        </p:nvSpPr>
        <p:spPr>
          <a:xfrm>
            <a:off x="812880" y="1272600"/>
            <a:ext cx="10883160" cy="527760"/>
          </a:xfrm>
          <a:prstGeom prst="rect">
            <a:avLst/>
          </a:prstGeom>
          <a:noFill/>
          <a:ln w="0">
            <a:noFill/>
          </a:ln>
        </p:spPr>
        <p:style>
          <a:lnRef idx="0"/>
          <a:fillRef idx="0"/>
          <a:effectRef idx="0"/>
          <a:fontRef idx="minor"/>
        </p:style>
        <p:txBody>
          <a:bodyPr lIns="0" tIns="0" rIns="0" bIns="0" anchor="t">
            <a:noAutofit/>
          </a:bodyPr>
          <a:p>
            <a:pPr>
              <a:lnSpc>
                <a:spcPct val="110000"/>
              </a:lnSpc>
              <a:tabLst>
                <a:tab pos="0" algn="l"/>
              </a:tabLst>
            </a:pPr>
            <a:r>
              <a:rPr lang="en-US" sz="3600" b="1" u="none" strike="noStrike">
                <a:solidFill>
                  <a:srgbClr val="1F3A30"/>
                </a:solidFill>
                <a:effectLst/>
                <a:uFillTx/>
                <a:latin typeface="Rubik"/>
                <a:ea typeface="Rubik"/>
              </a:rPr>
              <a:t>Conclusion</a:t>
            </a:r>
            <a:endParaRPr lang="en-IN" sz="3600" b="0" u="none" strike="noStrike">
              <a:solidFill>
                <a:srgbClr val="000000"/>
              </a:solidFill>
              <a:effectLst/>
              <a:uFillTx/>
              <a:latin typeface="Arial"/>
            </a:endParaRPr>
          </a:p>
        </p:txBody>
      </p:sp>
      <p:sp>
        <p:nvSpPr>
          <p:cNvPr id="240" name="Google Shape;103;p10"/>
          <p:cNvSpPr/>
          <p:nvPr/>
        </p:nvSpPr>
        <p:spPr>
          <a:xfrm>
            <a:off x="812880" y="6238440"/>
            <a:ext cx="10883160" cy="238320"/>
          </a:xfrm>
          <a:prstGeom prst="rect">
            <a:avLst/>
          </a:prstGeom>
          <a:noFill/>
          <a:ln w="0">
            <a:noFill/>
          </a:ln>
        </p:spPr>
        <p:style>
          <a:lnRef idx="0"/>
          <a:fillRef idx="0"/>
          <a:effectRef idx="0"/>
          <a:fontRef idx="minor"/>
        </p:style>
        <p:txBody>
          <a:bodyPr lIns="0" tIns="0" rIns="0" bIns="0" anchor="t">
            <a:noAutofit/>
          </a:bodyPr>
          <a:p>
            <a:pPr>
              <a:lnSpc>
                <a:spcPct val="140000"/>
              </a:lnSpc>
              <a:tabLst>
                <a:tab pos="0" algn="l"/>
              </a:tabLst>
            </a:pPr>
            <a:r>
              <a:rPr lang="en-US" sz="1200" b="0" u="none" strike="noStrike">
                <a:solidFill>
                  <a:srgbClr val="6B7A72"/>
                </a:solidFill>
                <a:effectLst/>
                <a:uFillTx/>
                <a:latin typeface="DM Sans"/>
                <a:ea typeface="DM Sans"/>
              </a:rPr>
              <a:t>Tech4Food 2026 · New Era of Smarter Food Safety · PCCOE, Pune · 07</a:t>
            </a:r>
            <a:endParaRPr lang="en-IN" sz="1200" b="0" u="none" strike="noStrike">
              <a:solidFill>
                <a:srgbClr val="000000"/>
              </a:solidFill>
              <a:effectLst/>
              <a:uFillTx/>
              <a:latin typeface="Arial"/>
            </a:endParaRPr>
          </a:p>
        </p:txBody>
      </p:sp>
      <p:sp>
        <p:nvSpPr>
          <p:cNvPr id="241" name="TextBox 103"/>
          <p:cNvSpPr/>
          <p:nvPr/>
        </p:nvSpPr>
        <p:spPr>
          <a:xfrm>
            <a:off x="813960" y="2103120"/>
            <a:ext cx="5120280" cy="639720"/>
          </a:xfrm>
          <a:prstGeom prst="rect">
            <a:avLst/>
          </a:prstGeom>
          <a:noFill/>
          <a:ln w="0">
            <a:noFill/>
          </a:ln>
        </p:spPr>
        <p:style>
          <a:lnRef idx="0"/>
          <a:fillRef idx="0"/>
          <a:effectRef idx="0"/>
          <a:fontRef idx="minor"/>
        </p:style>
        <p:txBody>
          <a:bodyPr lIns="0" tIns="0" rIns="0" bIns="0" anchor="t">
            <a:spAutoFit/>
          </a:bodyPr>
          <a:p>
            <a:pPr>
              <a:lnSpc>
                <a:spcPct val="114000"/>
              </a:lnSpc>
            </a:pPr>
            <a:r>
              <a:rPr lang="en-IN" sz="1300" b="1" u="none" strike="noStrike">
                <a:solidFill>
                  <a:srgbClr val="2A4A3E"/>
                </a:solidFill>
                <a:effectLst/>
                <a:uFillTx/>
                <a:latin typeface="Rubik"/>
                <a:ea typeface="Arial"/>
              </a:rPr>
              <a:t>A printed card and a phone camera, turned into a repeatable adulteration screen that keeps its own record.</a:t>
            </a:r>
            <a:endParaRPr lang="en-IN" sz="1300" b="0" u="none" strike="noStrike">
              <a:solidFill>
                <a:srgbClr val="000000"/>
              </a:solidFill>
              <a:effectLst/>
              <a:uFillTx/>
              <a:latin typeface="Arial"/>
            </a:endParaRPr>
          </a:p>
        </p:txBody>
      </p:sp>
      <p:sp>
        <p:nvSpPr>
          <p:cNvPr id="242" name="Rounded Rectangle 104"/>
          <p:cNvSpPr/>
          <p:nvPr/>
        </p:nvSpPr>
        <p:spPr>
          <a:xfrm>
            <a:off x="813960" y="2871360"/>
            <a:ext cx="2486880" cy="785880"/>
          </a:xfrm>
          <a:prstGeom prst="roundRect">
            <a:avLst>
              <a:gd name="adj" fmla="val 10000"/>
            </a:avLst>
          </a:prstGeom>
          <a:solidFill>
            <a:srgbClr val="F4F1E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IN" sz="1400" b="0" u="none" strike="noStrike">
              <a:solidFill>
                <a:schemeClr val="lt1"/>
              </a:solidFill>
              <a:effectLst/>
              <a:uFillTx/>
              <a:latin typeface="Arial"/>
            </a:endParaRPr>
          </a:p>
        </p:txBody>
      </p:sp>
      <p:sp>
        <p:nvSpPr>
          <p:cNvPr id="243" name="Rectangle 105"/>
          <p:cNvSpPr/>
          <p:nvPr/>
        </p:nvSpPr>
        <p:spPr>
          <a:xfrm>
            <a:off x="813960" y="2871360"/>
            <a:ext cx="50040" cy="785880"/>
          </a:xfrm>
          <a:prstGeom prst="rect">
            <a:avLst/>
          </a:prstGeom>
          <a:solidFill>
            <a:srgbClr val="2A4A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IN" sz="1400" b="0" u="none" strike="noStrike">
              <a:solidFill>
                <a:schemeClr val="lt1"/>
              </a:solidFill>
              <a:effectLst/>
              <a:uFillTx/>
              <a:latin typeface="Arial"/>
            </a:endParaRPr>
          </a:p>
        </p:txBody>
      </p:sp>
      <p:sp>
        <p:nvSpPr>
          <p:cNvPr id="244" name="TextBox 106"/>
          <p:cNvSpPr/>
          <p:nvPr/>
        </p:nvSpPr>
        <p:spPr>
          <a:xfrm>
            <a:off x="1014840" y="2962800"/>
            <a:ext cx="2157480" cy="621360"/>
          </a:xfrm>
          <a:prstGeom prst="rect">
            <a:avLst/>
          </a:prstGeom>
          <a:noFill/>
          <a:ln w="0">
            <a:noFill/>
          </a:ln>
        </p:spPr>
        <p:style>
          <a:lnRef idx="0"/>
          <a:fillRef idx="0"/>
          <a:effectRef idx="0"/>
          <a:fontRef idx="minor"/>
        </p:style>
        <p:txBody>
          <a:bodyPr lIns="0" tIns="0" rIns="0" bIns="0" anchor="t">
            <a:spAutoFit/>
          </a:bodyPr>
          <a:p>
            <a:pPr>
              <a:lnSpc>
                <a:spcPct val="100000"/>
              </a:lnSpc>
              <a:spcAft>
                <a:spcPts val="99"/>
              </a:spcAft>
            </a:pPr>
            <a:r>
              <a:rPr lang="en-IN" sz="1900" b="1" u="none" strike="noStrike">
                <a:solidFill>
                  <a:srgbClr val="2A4A3E"/>
                </a:solidFill>
                <a:effectLst/>
                <a:uFillTx/>
                <a:latin typeface="Rubik"/>
                <a:ea typeface="Arial"/>
              </a:rPr>
              <a:t>184</a:t>
            </a:r>
            <a:endParaRPr lang="en-IN" sz="1900" b="0" u="none" strike="noStrike">
              <a:solidFill>
                <a:srgbClr val="000000"/>
              </a:solidFill>
              <a:effectLst/>
              <a:uFillTx/>
              <a:latin typeface="Arial"/>
            </a:endParaRPr>
          </a:p>
          <a:p>
            <a:pPr>
              <a:lnSpc>
                <a:spcPct val="106000"/>
              </a:lnSpc>
            </a:pPr>
            <a:r>
              <a:rPr lang="en-IN" sz="820" b="0" u="none" strike="noStrike">
                <a:solidFill>
                  <a:srgbClr val="6B7A72"/>
                </a:solidFill>
                <a:effectLst/>
                <a:uFillTx/>
                <a:latin typeface="DM Sans"/>
                <a:ea typeface="Arial"/>
              </a:rPr>
              <a:t>tests passing, 93% coverage</a:t>
            </a:r>
            <a:endParaRPr lang="en-IN" sz="820" b="0" u="none" strike="noStrike">
              <a:solidFill>
                <a:srgbClr val="000000"/>
              </a:solidFill>
              <a:effectLst/>
              <a:uFillTx/>
              <a:latin typeface="Arial"/>
            </a:endParaRPr>
          </a:p>
        </p:txBody>
      </p:sp>
      <p:sp>
        <p:nvSpPr>
          <p:cNvPr id="245" name="Rounded Rectangle 107"/>
          <p:cNvSpPr/>
          <p:nvPr/>
        </p:nvSpPr>
        <p:spPr>
          <a:xfrm>
            <a:off x="3420000" y="2871360"/>
            <a:ext cx="2486880" cy="785880"/>
          </a:xfrm>
          <a:prstGeom prst="roundRect">
            <a:avLst>
              <a:gd name="adj" fmla="val 10000"/>
            </a:avLst>
          </a:prstGeom>
          <a:solidFill>
            <a:srgbClr val="F4F1E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IN" sz="1400" b="0" u="none" strike="noStrike">
              <a:solidFill>
                <a:schemeClr val="lt1"/>
              </a:solidFill>
              <a:effectLst/>
              <a:uFillTx/>
              <a:latin typeface="Arial"/>
            </a:endParaRPr>
          </a:p>
        </p:txBody>
      </p:sp>
      <p:sp>
        <p:nvSpPr>
          <p:cNvPr id="246" name="Rectangle 108"/>
          <p:cNvSpPr/>
          <p:nvPr/>
        </p:nvSpPr>
        <p:spPr>
          <a:xfrm>
            <a:off x="3420000" y="2871360"/>
            <a:ext cx="50040" cy="785880"/>
          </a:xfrm>
          <a:prstGeom prst="rect">
            <a:avLst/>
          </a:prstGeom>
          <a:solidFill>
            <a:srgbClr val="F26B2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IN" sz="1400" b="0" u="none" strike="noStrike">
              <a:solidFill>
                <a:schemeClr val="lt1"/>
              </a:solidFill>
              <a:effectLst/>
              <a:uFillTx/>
              <a:latin typeface="Arial"/>
            </a:endParaRPr>
          </a:p>
        </p:txBody>
      </p:sp>
      <p:sp>
        <p:nvSpPr>
          <p:cNvPr id="247" name="TextBox 109"/>
          <p:cNvSpPr/>
          <p:nvPr/>
        </p:nvSpPr>
        <p:spPr>
          <a:xfrm>
            <a:off x="3620880" y="2962800"/>
            <a:ext cx="2157480" cy="621360"/>
          </a:xfrm>
          <a:prstGeom prst="rect">
            <a:avLst/>
          </a:prstGeom>
          <a:noFill/>
          <a:ln w="0">
            <a:noFill/>
          </a:ln>
        </p:spPr>
        <p:style>
          <a:lnRef idx="0"/>
          <a:fillRef idx="0"/>
          <a:effectRef idx="0"/>
          <a:fontRef idx="minor"/>
        </p:style>
        <p:txBody>
          <a:bodyPr lIns="0" tIns="0" rIns="0" bIns="0" anchor="t">
            <a:spAutoFit/>
          </a:bodyPr>
          <a:p>
            <a:pPr>
              <a:lnSpc>
                <a:spcPct val="100000"/>
              </a:lnSpc>
              <a:spcAft>
                <a:spcPts val="99"/>
              </a:spcAft>
            </a:pPr>
            <a:r>
              <a:rPr lang="en-IN" sz="1900" b="1" u="none" strike="noStrike">
                <a:solidFill>
                  <a:srgbClr val="F26B2A"/>
                </a:solidFill>
                <a:effectLst/>
                <a:uFillTx/>
                <a:latin typeface="Rubik"/>
                <a:ea typeface="Arial"/>
              </a:rPr>
              <a:t>6.0 ms</a:t>
            </a:r>
            <a:endParaRPr lang="en-IN" sz="1900" b="0" u="none" strike="noStrike">
              <a:solidFill>
                <a:srgbClr val="000000"/>
              </a:solidFill>
              <a:effectLst/>
              <a:uFillTx/>
              <a:latin typeface="Arial"/>
            </a:endParaRPr>
          </a:p>
          <a:p>
            <a:pPr>
              <a:lnSpc>
                <a:spcPct val="106000"/>
              </a:lnSpc>
            </a:pPr>
            <a:r>
              <a:rPr lang="en-IN" sz="820" b="0" u="none" strike="noStrike">
                <a:solidFill>
                  <a:srgbClr val="6B7A72"/>
                </a:solidFill>
                <a:effectLst/>
                <a:uFillTx/>
                <a:latin typeface="DM Sans"/>
                <a:ea typeface="Arial"/>
              </a:rPr>
              <a:t>median analysis time</a:t>
            </a:r>
            <a:endParaRPr lang="en-IN" sz="820" b="0" u="none" strike="noStrike">
              <a:solidFill>
                <a:srgbClr val="000000"/>
              </a:solidFill>
              <a:effectLst/>
              <a:uFillTx/>
              <a:latin typeface="Arial"/>
            </a:endParaRPr>
          </a:p>
        </p:txBody>
      </p:sp>
      <p:sp>
        <p:nvSpPr>
          <p:cNvPr id="248" name="Rounded Rectangle 110"/>
          <p:cNvSpPr/>
          <p:nvPr/>
        </p:nvSpPr>
        <p:spPr>
          <a:xfrm>
            <a:off x="813960" y="3767400"/>
            <a:ext cx="2486880" cy="785880"/>
          </a:xfrm>
          <a:prstGeom prst="roundRect">
            <a:avLst>
              <a:gd name="adj" fmla="val 10000"/>
            </a:avLst>
          </a:prstGeom>
          <a:solidFill>
            <a:srgbClr val="F4F1E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IN" sz="1400" b="0" u="none" strike="noStrike">
              <a:solidFill>
                <a:schemeClr val="lt1"/>
              </a:solidFill>
              <a:effectLst/>
              <a:uFillTx/>
              <a:latin typeface="Arial"/>
            </a:endParaRPr>
          </a:p>
        </p:txBody>
      </p:sp>
      <p:sp>
        <p:nvSpPr>
          <p:cNvPr id="249" name="Rectangle 111"/>
          <p:cNvSpPr/>
          <p:nvPr/>
        </p:nvSpPr>
        <p:spPr>
          <a:xfrm>
            <a:off x="813960" y="3767400"/>
            <a:ext cx="50040" cy="785880"/>
          </a:xfrm>
          <a:prstGeom prst="rect">
            <a:avLst/>
          </a:prstGeom>
          <a:solidFill>
            <a:srgbClr val="B88F1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IN" sz="1400" b="0" u="none" strike="noStrike">
              <a:solidFill>
                <a:schemeClr val="lt1"/>
              </a:solidFill>
              <a:effectLst/>
              <a:uFillTx/>
              <a:latin typeface="Arial"/>
            </a:endParaRPr>
          </a:p>
        </p:txBody>
      </p:sp>
      <p:sp>
        <p:nvSpPr>
          <p:cNvPr id="250" name="TextBox 112"/>
          <p:cNvSpPr/>
          <p:nvPr/>
        </p:nvSpPr>
        <p:spPr>
          <a:xfrm>
            <a:off x="1014840" y="3858840"/>
            <a:ext cx="2157480" cy="621360"/>
          </a:xfrm>
          <a:prstGeom prst="rect">
            <a:avLst/>
          </a:prstGeom>
          <a:noFill/>
          <a:ln w="0">
            <a:noFill/>
          </a:ln>
        </p:spPr>
        <p:style>
          <a:lnRef idx="0"/>
          <a:fillRef idx="0"/>
          <a:effectRef idx="0"/>
          <a:fontRef idx="minor"/>
        </p:style>
        <p:txBody>
          <a:bodyPr lIns="0" tIns="0" rIns="0" bIns="0" anchor="t">
            <a:spAutoFit/>
          </a:bodyPr>
          <a:p>
            <a:pPr>
              <a:lnSpc>
                <a:spcPct val="100000"/>
              </a:lnSpc>
              <a:spcAft>
                <a:spcPts val="99"/>
              </a:spcAft>
            </a:pPr>
            <a:r>
              <a:rPr lang="en-IN" sz="1900" b="1" u="none" strike="noStrike">
                <a:solidFill>
                  <a:srgbClr val="B88F14"/>
                </a:solidFill>
                <a:effectLst/>
                <a:uFillTx/>
                <a:latin typeface="Rubik"/>
                <a:ea typeface="Arial"/>
              </a:rPr>
              <a:t>5</a:t>
            </a:r>
            <a:endParaRPr lang="en-IN" sz="1900" b="0" u="none" strike="noStrike">
              <a:solidFill>
                <a:srgbClr val="000000"/>
              </a:solidFill>
              <a:effectLst/>
              <a:uFillTx/>
              <a:latin typeface="Arial"/>
            </a:endParaRPr>
          </a:p>
          <a:p>
            <a:pPr>
              <a:lnSpc>
                <a:spcPct val="106000"/>
              </a:lnSpc>
            </a:pPr>
            <a:r>
              <a:rPr lang="en-IN" sz="820" b="0" u="none" strike="noStrike">
                <a:solidFill>
                  <a:srgbClr val="6B7A72"/>
                </a:solidFill>
                <a:effectLst/>
                <a:uFillTx/>
                <a:latin typeface="DM Sans"/>
                <a:ea typeface="Arial"/>
              </a:rPr>
              <a:t>verdict classes, one of them unsure</a:t>
            </a:r>
            <a:endParaRPr lang="en-IN" sz="820" b="0" u="none" strike="noStrike">
              <a:solidFill>
                <a:srgbClr val="000000"/>
              </a:solidFill>
              <a:effectLst/>
              <a:uFillTx/>
              <a:latin typeface="Arial"/>
            </a:endParaRPr>
          </a:p>
        </p:txBody>
      </p:sp>
      <p:sp>
        <p:nvSpPr>
          <p:cNvPr id="251" name="Rounded Rectangle 113"/>
          <p:cNvSpPr/>
          <p:nvPr/>
        </p:nvSpPr>
        <p:spPr>
          <a:xfrm>
            <a:off x="3420000" y="3767400"/>
            <a:ext cx="2486880" cy="785880"/>
          </a:xfrm>
          <a:prstGeom prst="roundRect">
            <a:avLst>
              <a:gd name="adj" fmla="val 10000"/>
            </a:avLst>
          </a:prstGeom>
          <a:solidFill>
            <a:srgbClr val="F4F1E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IN" sz="1400" b="0" u="none" strike="noStrike">
              <a:solidFill>
                <a:schemeClr val="lt1"/>
              </a:solidFill>
              <a:effectLst/>
              <a:uFillTx/>
              <a:latin typeface="Arial"/>
            </a:endParaRPr>
          </a:p>
        </p:txBody>
      </p:sp>
      <p:sp>
        <p:nvSpPr>
          <p:cNvPr id="252" name="Rectangle 114"/>
          <p:cNvSpPr/>
          <p:nvPr/>
        </p:nvSpPr>
        <p:spPr>
          <a:xfrm>
            <a:off x="3420000" y="3767400"/>
            <a:ext cx="50040" cy="785880"/>
          </a:xfrm>
          <a:prstGeom prst="rect">
            <a:avLst/>
          </a:prstGeom>
          <a:solidFill>
            <a:srgbClr val="D9581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IN" sz="1400" b="0" u="none" strike="noStrike">
              <a:solidFill>
                <a:schemeClr val="lt1"/>
              </a:solidFill>
              <a:effectLst/>
              <a:uFillTx/>
              <a:latin typeface="Arial"/>
            </a:endParaRPr>
          </a:p>
        </p:txBody>
      </p:sp>
      <p:sp>
        <p:nvSpPr>
          <p:cNvPr id="253" name="TextBox 115"/>
          <p:cNvSpPr/>
          <p:nvPr/>
        </p:nvSpPr>
        <p:spPr>
          <a:xfrm>
            <a:off x="3620880" y="3858840"/>
            <a:ext cx="2157480" cy="621360"/>
          </a:xfrm>
          <a:prstGeom prst="rect">
            <a:avLst/>
          </a:prstGeom>
          <a:noFill/>
          <a:ln w="0">
            <a:noFill/>
          </a:ln>
        </p:spPr>
        <p:style>
          <a:lnRef idx="0"/>
          <a:fillRef idx="0"/>
          <a:effectRef idx="0"/>
          <a:fontRef idx="minor"/>
        </p:style>
        <p:txBody>
          <a:bodyPr lIns="0" tIns="0" rIns="0" bIns="0" anchor="t">
            <a:spAutoFit/>
          </a:bodyPr>
          <a:p>
            <a:pPr>
              <a:lnSpc>
                <a:spcPct val="100000"/>
              </a:lnSpc>
              <a:spcAft>
                <a:spcPts val="99"/>
              </a:spcAft>
            </a:pPr>
            <a:r>
              <a:rPr lang="en-IN" sz="1900" b="1" u="none" strike="noStrike">
                <a:solidFill>
                  <a:srgbClr val="D9581C"/>
                </a:solidFill>
                <a:effectLst/>
                <a:uFillTx/>
                <a:latin typeface="Rubik"/>
                <a:ea typeface="Arial"/>
              </a:rPr>
              <a:t>0</a:t>
            </a:r>
            <a:endParaRPr lang="en-IN" sz="1900" b="0" u="none" strike="noStrike">
              <a:solidFill>
                <a:srgbClr val="000000"/>
              </a:solidFill>
              <a:effectLst/>
              <a:uFillTx/>
              <a:latin typeface="Arial"/>
            </a:endParaRPr>
          </a:p>
          <a:p>
            <a:pPr>
              <a:lnSpc>
                <a:spcPct val="106000"/>
              </a:lnSpc>
            </a:pPr>
            <a:r>
              <a:rPr lang="en-IN" sz="820" b="0" u="none" strike="noStrike">
                <a:solidFill>
                  <a:srgbClr val="6B7A72"/>
                </a:solidFill>
                <a:effectLst/>
                <a:uFillTx/>
                <a:latin typeface="DM Sans"/>
                <a:ea typeface="Arial"/>
              </a:rPr>
              <a:t>fabricated verdicts by design</a:t>
            </a:r>
            <a:endParaRPr lang="en-IN" sz="820" b="0" u="none" strike="noStrike">
              <a:solidFill>
                <a:srgbClr val="000000"/>
              </a:solidFill>
              <a:effectLst/>
              <a:uFillTx/>
              <a:latin typeface="Arial"/>
            </a:endParaRPr>
          </a:p>
        </p:txBody>
      </p:sp>
      <p:sp>
        <p:nvSpPr>
          <p:cNvPr id="254" name="Rounded Rectangle 116"/>
          <p:cNvSpPr/>
          <p:nvPr/>
        </p:nvSpPr>
        <p:spPr>
          <a:xfrm>
            <a:off x="6144840" y="2103120"/>
            <a:ext cx="5458680" cy="1316520"/>
          </a:xfrm>
          <a:prstGeom prst="roundRect">
            <a:avLst>
              <a:gd name="adj" fmla="val 10000"/>
            </a:avLst>
          </a:prstGeom>
          <a:solidFill>
            <a:srgbClr val="F4F1E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IN" sz="1400" b="0" u="none" strike="noStrike">
              <a:solidFill>
                <a:schemeClr val="lt1"/>
              </a:solidFill>
              <a:effectLst/>
              <a:uFillTx/>
              <a:latin typeface="Arial"/>
            </a:endParaRPr>
          </a:p>
        </p:txBody>
      </p:sp>
      <p:sp>
        <p:nvSpPr>
          <p:cNvPr id="255" name="Rectangle 117"/>
          <p:cNvSpPr/>
          <p:nvPr/>
        </p:nvSpPr>
        <p:spPr>
          <a:xfrm>
            <a:off x="6144840" y="2103120"/>
            <a:ext cx="5458680" cy="40680"/>
          </a:xfrm>
          <a:prstGeom prst="rect">
            <a:avLst/>
          </a:prstGeom>
          <a:solidFill>
            <a:srgbClr val="2A4A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960" rIns="90000" bIns="-3960" anchor="ctr">
            <a:noAutofit/>
          </a:bodyPr>
          <a:p>
            <a:pPr/>
            <a:endParaRPr lang="en-IN" sz="1400" b="0" u="none" strike="noStrike">
              <a:solidFill>
                <a:schemeClr val="lt1"/>
              </a:solidFill>
              <a:effectLst/>
              <a:uFillTx/>
              <a:latin typeface="Arial"/>
            </a:endParaRPr>
          </a:p>
        </p:txBody>
      </p:sp>
      <p:sp>
        <p:nvSpPr>
          <p:cNvPr id="256" name="TextBox 118"/>
          <p:cNvSpPr/>
          <p:nvPr/>
        </p:nvSpPr>
        <p:spPr>
          <a:xfrm>
            <a:off x="6364080" y="2277000"/>
            <a:ext cx="5019840" cy="1005480"/>
          </a:xfrm>
          <a:prstGeom prst="rect">
            <a:avLst/>
          </a:prstGeom>
          <a:noFill/>
          <a:ln w="0">
            <a:noFill/>
          </a:ln>
        </p:spPr>
        <p:style>
          <a:lnRef idx="0"/>
          <a:fillRef idx="0"/>
          <a:effectRef idx="0"/>
          <a:fontRef idx="minor"/>
        </p:style>
        <p:txBody>
          <a:bodyPr lIns="0" tIns="0" rIns="0" bIns="0" anchor="t">
            <a:spAutoFit/>
          </a:bodyPr>
          <a:p>
            <a:pPr>
              <a:lnSpc>
                <a:spcPct val="100000"/>
              </a:lnSpc>
              <a:spcAft>
                <a:spcPts val="400"/>
              </a:spcAft>
            </a:pPr>
            <a:r>
              <a:rPr lang="en-IN" sz="1020" b="1" u="none" strike="noStrike">
                <a:solidFill>
                  <a:srgbClr val="2A4A3E"/>
                </a:solidFill>
                <a:effectLst/>
                <a:uFillTx/>
                <a:latin typeface="Rubik"/>
                <a:ea typeface="Arial"/>
              </a:rPr>
              <a:t>What is built and running</a:t>
            </a:r>
            <a:endParaRPr lang="en-IN" sz="1020" b="0" u="none" strike="noStrike">
              <a:solidFill>
                <a:srgbClr val="000000"/>
              </a:solidFill>
              <a:effectLst/>
              <a:uFillTx/>
              <a:latin typeface="Arial"/>
            </a:endParaRPr>
          </a:p>
          <a:p>
            <a:pPr>
              <a:lnSpc>
                <a:spcPct val="112000"/>
              </a:lnSpc>
              <a:spcAft>
                <a:spcPts val="349"/>
              </a:spcAft>
            </a:pPr>
            <a:r>
              <a:rPr lang="en-IN" sz="900" b="0" u="none" strike="noStrike">
                <a:solidFill>
                  <a:srgbClr val="1F3A30"/>
                </a:solidFill>
                <a:effectLst/>
                <a:uFillTx/>
                <a:latin typeface="DM Sans"/>
                <a:ea typeface="Arial"/>
              </a:rPr>
              <a:t>Capture, calibration, zone measurement, classification, abstention, evidence log, PDF and QR export, and a browser UI that works on a phone. The repository holds 11 commits of test-driven work and starts from a clean checkout in one command.</a:t>
            </a:r>
            <a:endParaRPr lang="en-IN" sz="900" b="0" u="none" strike="noStrike">
              <a:solidFill>
                <a:srgbClr val="000000"/>
              </a:solidFill>
              <a:effectLst/>
              <a:uFillTx/>
              <a:latin typeface="Arial"/>
            </a:endParaRPr>
          </a:p>
        </p:txBody>
      </p:sp>
      <p:sp>
        <p:nvSpPr>
          <p:cNvPr id="257" name="Rounded Rectangle 119"/>
          <p:cNvSpPr/>
          <p:nvPr/>
        </p:nvSpPr>
        <p:spPr>
          <a:xfrm>
            <a:off x="6144840" y="3529440"/>
            <a:ext cx="5458680" cy="1206720"/>
          </a:xfrm>
          <a:prstGeom prst="roundRect">
            <a:avLst>
              <a:gd name="adj" fmla="val 10000"/>
            </a:avLst>
          </a:prstGeom>
          <a:solidFill>
            <a:srgbClr val="F4F1E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IN" sz="1400" b="0" u="none" strike="noStrike">
              <a:solidFill>
                <a:schemeClr val="lt1"/>
              </a:solidFill>
              <a:effectLst/>
              <a:uFillTx/>
              <a:latin typeface="Arial"/>
            </a:endParaRPr>
          </a:p>
        </p:txBody>
      </p:sp>
      <p:sp>
        <p:nvSpPr>
          <p:cNvPr id="258" name="Rectangle 120"/>
          <p:cNvSpPr/>
          <p:nvPr/>
        </p:nvSpPr>
        <p:spPr>
          <a:xfrm>
            <a:off x="6144840" y="3529440"/>
            <a:ext cx="5458680" cy="40680"/>
          </a:xfrm>
          <a:prstGeom prst="rect">
            <a:avLst/>
          </a:prstGeom>
          <a:solidFill>
            <a:srgbClr val="F5C84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960" rIns="90000" bIns="-3960" anchor="ctr">
            <a:noAutofit/>
          </a:bodyPr>
          <a:p>
            <a:pPr/>
            <a:endParaRPr lang="en-IN" sz="1400" b="0" u="none" strike="noStrike">
              <a:solidFill>
                <a:schemeClr val="lt1"/>
              </a:solidFill>
              <a:effectLst/>
              <a:uFillTx/>
              <a:latin typeface="Arial"/>
            </a:endParaRPr>
          </a:p>
        </p:txBody>
      </p:sp>
      <p:sp>
        <p:nvSpPr>
          <p:cNvPr id="259" name="TextBox 121"/>
          <p:cNvSpPr/>
          <p:nvPr/>
        </p:nvSpPr>
        <p:spPr>
          <a:xfrm>
            <a:off x="6364080" y="3703320"/>
            <a:ext cx="5019840" cy="895680"/>
          </a:xfrm>
          <a:prstGeom prst="rect">
            <a:avLst/>
          </a:prstGeom>
          <a:noFill/>
          <a:ln w="0">
            <a:noFill/>
          </a:ln>
        </p:spPr>
        <p:style>
          <a:lnRef idx="0"/>
          <a:fillRef idx="0"/>
          <a:effectRef idx="0"/>
          <a:fontRef idx="minor"/>
        </p:style>
        <p:txBody>
          <a:bodyPr lIns="0" tIns="0" rIns="0" bIns="0" anchor="t">
            <a:spAutoFit/>
          </a:bodyPr>
          <a:p>
            <a:pPr>
              <a:lnSpc>
                <a:spcPct val="100000"/>
              </a:lnSpc>
              <a:spcAft>
                <a:spcPts val="400"/>
              </a:spcAft>
            </a:pPr>
            <a:r>
              <a:rPr lang="en-IN" sz="1020" b="1" u="none" strike="noStrike">
                <a:solidFill>
                  <a:srgbClr val="2A4A3E"/>
                </a:solidFill>
                <a:effectLst/>
                <a:uFillTx/>
                <a:latin typeface="Rubik"/>
                <a:ea typeface="Arial"/>
              </a:rPr>
              <a:t>What we are honest about</a:t>
            </a:r>
            <a:endParaRPr lang="en-IN" sz="1020" b="0" u="none" strike="noStrike">
              <a:solidFill>
                <a:srgbClr val="000000"/>
              </a:solidFill>
              <a:effectLst/>
              <a:uFillTx/>
              <a:latin typeface="Arial"/>
            </a:endParaRPr>
          </a:p>
          <a:p>
            <a:pPr>
              <a:lnSpc>
                <a:spcPct val="112000"/>
              </a:lnSpc>
              <a:spcAft>
                <a:spcPts val="349"/>
              </a:spcAft>
            </a:pPr>
            <a:r>
              <a:rPr lang="en-IN" sz="900" b="0" u="none" strike="noStrike">
                <a:solidFill>
                  <a:srgbClr val="1F3A30"/>
                </a:solidFill>
                <a:effectLst/>
                <a:uFillTx/>
                <a:latin typeface="DM Sans"/>
                <a:ea typeface="Arial"/>
              </a:rPr>
              <a:t>Colour thresholds are validated on synthetic reagent scenes, not yet on real chemistry. The 23 October final runs on real iodine and methylene-blue strips and the model is retrained on those photos first. A reading is a screening signal, not a legal test result.</a:t>
            </a:r>
            <a:endParaRPr lang="en-IN" sz="900" b="0" u="none" strike="noStrike">
              <a:solidFill>
                <a:srgbClr val="000000"/>
              </a:solidFill>
              <a:effectLst/>
              <a:uFillTx/>
              <a:latin typeface="Arial"/>
            </a:endParaRPr>
          </a:p>
        </p:txBody>
      </p:sp>
      <p:sp>
        <p:nvSpPr>
          <p:cNvPr id="260" name="TextBox 122"/>
          <p:cNvSpPr/>
          <p:nvPr/>
        </p:nvSpPr>
        <p:spPr>
          <a:xfrm>
            <a:off x="813960" y="4754880"/>
            <a:ext cx="10881000" cy="155160"/>
          </a:xfrm>
          <a:prstGeom prst="rect">
            <a:avLst/>
          </a:prstGeom>
          <a:noFill/>
          <a:ln w="0">
            <a:noFill/>
          </a:ln>
        </p:spPr>
        <p:style>
          <a:lnRef idx="0"/>
          <a:fillRef idx="0"/>
          <a:effectRef idx="0"/>
          <a:fontRef idx="minor"/>
        </p:style>
        <p:txBody>
          <a:bodyPr lIns="0" tIns="0" rIns="0" bIns="0" anchor="t">
            <a:spAutoFit/>
          </a:bodyPr>
          <a:p>
            <a:pPr>
              <a:lnSpc>
                <a:spcPct val="100000"/>
              </a:lnSpc>
            </a:pPr>
            <a:r>
              <a:rPr lang="en-IN" sz="820" b="1" u="none" strike="noStrike">
                <a:solidFill>
                  <a:srgbClr val="6B7A72"/>
                </a:solidFill>
                <a:effectLst/>
                <a:uFillTx/>
                <a:latin typeface="DM Sans"/>
                <a:ea typeface="Arial"/>
              </a:rPr>
              <a:t>ROADMAP TO 23 OCTOBER</a:t>
            </a:r>
            <a:endParaRPr lang="en-IN" sz="820" b="0" u="none" strike="noStrike">
              <a:solidFill>
                <a:srgbClr val="000000"/>
              </a:solidFill>
              <a:effectLst/>
              <a:uFillTx/>
              <a:latin typeface="Arial"/>
            </a:endParaRPr>
          </a:p>
        </p:txBody>
      </p:sp>
      <p:sp>
        <p:nvSpPr>
          <p:cNvPr id="261" name="Rounded Rectangle 123"/>
          <p:cNvSpPr/>
          <p:nvPr/>
        </p:nvSpPr>
        <p:spPr>
          <a:xfrm>
            <a:off x="813960" y="4937760"/>
            <a:ext cx="2587320" cy="1042200"/>
          </a:xfrm>
          <a:prstGeom prst="roundRect">
            <a:avLst>
              <a:gd name="adj" fmla="val 10000"/>
            </a:avLst>
          </a:prstGeom>
          <a:solidFill>
            <a:srgbClr val="F4F1E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IN" sz="1400" b="0" u="none" strike="noStrike">
              <a:solidFill>
                <a:schemeClr val="lt1"/>
              </a:solidFill>
              <a:effectLst/>
              <a:uFillTx/>
              <a:latin typeface="Arial"/>
            </a:endParaRPr>
          </a:p>
        </p:txBody>
      </p:sp>
      <p:sp>
        <p:nvSpPr>
          <p:cNvPr id="262" name="Rectangle 124"/>
          <p:cNvSpPr/>
          <p:nvPr/>
        </p:nvSpPr>
        <p:spPr>
          <a:xfrm>
            <a:off x="813960" y="4937760"/>
            <a:ext cx="2587320" cy="40680"/>
          </a:xfrm>
          <a:prstGeom prst="rect">
            <a:avLst/>
          </a:prstGeom>
          <a:solidFill>
            <a:srgbClr val="9DB3A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960" rIns="90000" bIns="-3960" anchor="ctr">
            <a:noAutofit/>
          </a:bodyPr>
          <a:p>
            <a:pPr/>
            <a:endParaRPr lang="en-IN" sz="1400" b="0" u="none" strike="noStrike">
              <a:solidFill>
                <a:schemeClr val="lt1"/>
              </a:solidFill>
              <a:effectLst/>
              <a:uFillTx/>
              <a:latin typeface="Arial"/>
            </a:endParaRPr>
          </a:p>
        </p:txBody>
      </p:sp>
      <p:sp>
        <p:nvSpPr>
          <p:cNvPr id="263" name="TextBox 125"/>
          <p:cNvSpPr/>
          <p:nvPr/>
        </p:nvSpPr>
        <p:spPr>
          <a:xfrm>
            <a:off x="978480" y="5083920"/>
            <a:ext cx="2258280" cy="785880"/>
          </a:xfrm>
          <a:prstGeom prst="rect">
            <a:avLst/>
          </a:prstGeom>
          <a:noFill/>
          <a:ln w="0">
            <a:noFill/>
          </a:ln>
        </p:spPr>
        <p:style>
          <a:lnRef idx="0"/>
          <a:fillRef idx="0"/>
          <a:effectRef idx="0"/>
          <a:fontRef idx="minor"/>
        </p:style>
        <p:txBody>
          <a:bodyPr lIns="0" tIns="0" rIns="0" bIns="0" anchor="t">
            <a:spAutoFit/>
          </a:bodyPr>
          <a:p>
            <a:pPr>
              <a:lnSpc>
                <a:spcPct val="100000"/>
              </a:lnSpc>
              <a:spcAft>
                <a:spcPts val="300"/>
              </a:spcAft>
            </a:pPr>
            <a:r>
              <a:rPr lang="en-IN" sz="1000" b="1" u="none" strike="noStrike">
                <a:solidFill>
                  <a:srgbClr val="2A4A3E"/>
                </a:solidFill>
                <a:effectLst/>
                <a:uFillTx/>
                <a:latin typeface="Rubik"/>
                <a:ea typeface="Arial"/>
              </a:rPr>
              <a:t>14 Oct</a:t>
            </a:r>
            <a:endParaRPr lang="en-IN" sz="1000" b="0" u="none" strike="noStrike">
              <a:solidFill>
                <a:srgbClr val="000000"/>
              </a:solidFill>
              <a:effectLst/>
              <a:uFillTx/>
              <a:latin typeface="Arial"/>
            </a:endParaRPr>
          </a:p>
          <a:p>
            <a:pPr>
              <a:lnSpc>
                <a:spcPct val="112000"/>
              </a:lnSpc>
            </a:pPr>
            <a:r>
              <a:rPr lang="en-IN" sz="820" b="0" u="none" strike="noStrike">
                <a:solidFill>
                  <a:srgbClr val="6B7A72"/>
                </a:solidFill>
                <a:effectLst/>
                <a:uFillTx/>
                <a:latin typeface="DM Sans"/>
                <a:ea typeface="Arial"/>
              </a:rPr>
              <a:t>Shortlist announced</a:t>
            </a:r>
            <a:endParaRPr lang="en-IN" sz="820" b="0" u="none" strike="noStrike">
              <a:solidFill>
                <a:srgbClr val="000000"/>
              </a:solidFill>
              <a:effectLst/>
              <a:uFillTx/>
              <a:latin typeface="Arial"/>
            </a:endParaRPr>
          </a:p>
        </p:txBody>
      </p:sp>
      <p:sp>
        <p:nvSpPr>
          <p:cNvPr id="264" name="Rounded Rectangle 126"/>
          <p:cNvSpPr/>
          <p:nvPr/>
        </p:nvSpPr>
        <p:spPr>
          <a:xfrm>
            <a:off x="3579840" y="4937760"/>
            <a:ext cx="2587320" cy="1042200"/>
          </a:xfrm>
          <a:prstGeom prst="roundRect">
            <a:avLst>
              <a:gd name="adj" fmla="val 10000"/>
            </a:avLst>
          </a:prstGeom>
          <a:solidFill>
            <a:srgbClr val="F4F1E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IN" sz="1400" b="0" u="none" strike="noStrike">
              <a:solidFill>
                <a:schemeClr val="lt1"/>
              </a:solidFill>
              <a:effectLst/>
              <a:uFillTx/>
              <a:latin typeface="Arial"/>
            </a:endParaRPr>
          </a:p>
        </p:txBody>
      </p:sp>
      <p:sp>
        <p:nvSpPr>
          <p:cNvPr id="265" name="Rectangle 127"/>
          <p:cNvSpPr/>
          <p:nvPr/>
        </p:nvSpPr>
        <p:spPr>
          <a:xfrm>
            <a:off x="3579840" y="4937760"/>
            <a:ext cx="2587320" cy="40680"/>
          </a:xfrm>
          <a:prstGeom prst="rect">
            <a:avLst/>
          </a:prstGeom>
          <a:solidFill>
            <a:srgbClr val="F26B2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960" rIns="90000" bIns="-3960" anchor="ctr">
            <a:noAutofit/>
          </a:bodyPr>
          <a:p>
            <a:pPr/>
            <a:endParaRPr lang="en-IN" sz="1400" b="0" u="none" strike="noStrike">
              <a:solidFill>
                <a:schemeClr val="lt1"/>
              </a:solidFill>
              <a:effectLst/>
              <a:uFillTx/>
              <a:latin typeface="Arial"/>
            </a:endParaRPr>
          </a:p>
        </p:txBody>
      </p:sp>
      <p:sp>
        <p:nvSpPr>
          <p:cNvPr id="266" name="TextBox 128"/>
          <p:cNvSpPr/>
          <p:nvPr/>
        </p:nvSpPr>
        <p:spPr>
          <a:xfrm>
            <a:off x="3744360" y="5083920"/>
            <a:ext cx="2258280" cy="785880"/>
          </a:xfrm>
          <a:prstGeom prst="rect">
            <a:avLst/>
          </a:prstGeom>
          <a:noFill/>
          <a:ln w="0">
            <a:noFill/>
          </a:ln>
        </p:spPr>
        <p:style>
          <a:lnRef idx="0"/>
          <a:fillRef idx="0"/>
          <a:effectRef idx="0"/>
          <a:fontRef idx="minor"/>
        </p:style>
        <p:txBody>
          <a:bodyPr lIns="0" tIns="0" rIns="0" bIns="0" anchor="t">
            <a:spAutoFit/>
          </a:bodyPr>
          <a:p>
            <a:pPr>
              <a:lnSpc>
                <a:spcPct val="100000"/>
              </a:lnSpc>
              <a:spcAft>
                <a:spcPts val="300"/>
              </a:spcAft>
            </a:pPr>
            <a:r>
              <a:rPr lang="en-IN" sz="1000" b="1" u="none" strike="noStrike">
                <a:solidFill>
                  <a:srgbClr val="2A4A3E"/>
                </a:solidFill>
                <a:effectLst/>
                <a:uFillTx/>
                <a:latin typeface="Rubik"/>
                <a:ea typeface="Arial"/>
              </a:rPr>
              <a:t>15-21 Oct</a:t>
            </a:r>
            <a:endParaRPr lang="en-IN" sz="1000" b="0" u="none" strike="noStrike">
              <a:solidFill>
                <a:srgbClr val="000000"/>
              </a:solidFill>
              <a:effectLst/>
              <a:uFillTx/>
              <a:latin typeface="Arial"/>
            </a:endParaRPr>
          </a:p>
          <a:p>
            <a:pPr>
              <a:lnSpc>
                <a:spcPct val="112000"/>
              </a:lnSpc>
            </a:pPr>
            <a:r>
              <a:rPr lang="en-IN" sz="820" b="0" u="none" strike="noStrike">
                <a:solidFill>
                  <a:srgbClr val="6B7A72"/>
                </a:solidFill>
                <a:effectLst/>
                <a:uFillTx/>
                <a:latin typeface="DM Sans"/>
                <a:ea typeface="Arial"/>
              </a:rPr>
              <a:t>Real strips photographed, model retrained, threshold re-tuned</a:t>
            </a:r>
            <a:endParaRPr lang="en-IN" sz="820" b="0" u="none" strike="noStrike">
              <a:solidFill>
                <a:srgbClr val="000000"/>
              </a:solidFill>
              <a:effectLst/>
              <a:uFillTx/>
              <a:latin typeface="Arial"/>
            </a:endParaRPr>
          </a:p>
        </p:txBody>
      </p:sp>
      <p:sp>
        <p:nvSpPr>
          <p:cNvPr id="267" name="Rounded Rectangle 129"/>
          <p:cNvSpPr/>
          <p:nvPr/>
        </p:nvSpPr>
        <p:spPr>
          <a:xfrm>
            <a:off x="6346080" y="4937760"/>
            <a:ext cx="2587320" cy="1042200"/>
          </a:xfrm>
          <a:prstGeom prst="roundRect">
            <a:avLst>
              <a:gd name="adj" fmla="val 10000"/>
            </a:avLst>
          </a:prstGeom>
          <a:solidFill>
            <a:srgbClr val="F4F1E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IN" sz="1400" b="0" u="none" strike="noStrike">
              <a:solidFill>
                <a:schemeClr val="lt1"/>
              </a:solidFill>
              <a:effectLst/>
              <a:uFillTx/>
              <a:latin typeface="Arial"/>
            </a:endParaRPr>
          </a:p>
        </p:txBody>
      </p:sp>
      <p:sp>
        <p:nvSpPr>
          <p:cNvPr id="268" name="Rectangle 130"/>
          <p:cNvSpPr/>
          <p:nvPr/>
        </p:nvSpPr>
        <p:spPr>
          <a:xfrm>
            <a:off x="6346080" y="4937760"/>
            <a:ext cx="2587320" cy="40680"/>
          </a:xfrm>
          <a:prstGeom prst="rect">
            <a:avLst/>
          </a:prstGeom>
          <a:solidFill>
            <a:srgbClr val="F5C84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960" rIns="90000" bIns="-3960" anchor="ctr">
            <a:noAutofit/>
          </a:bodyPr>
          <a:p>
            <a:pPr/>
            <a:endParaRPr lang="en-IN" sz="1400" b="0" u="none" strike="noStrike">
              <a:solidFill>
                <a:schemeClr val="lt1"/>
              </a:solidFill>
              <a:effectLst/>
              <a:uFillTx/>
              <a:latin typeface="Arial"/>
            </a:endParaRPr>
          </a:p>
        </p:txBody>
      </p:sp>
      <p:sp>
        <p:nvSpPr>
          <p:cNvPr id="269" name="TextBox 131"/>
          <p:cNvSpPr/>
          <p:nvPr/>
        </p:nvSpPr>
        <p:spPr>
          <a:xfrm>
            <a:off x="6510600" y="5083920"/>
            <a:ext cx="2258280" cy="785880"/>
          </a:xfrm>
          <a:prstGeom prst="rect">
            <a:avLst/>
          </a:prstGeom>
          <a:noFill/>
          <a:ln w="0">
            <a:noFill/>
          </a:ln>
        </p:spPr>
        <p:style>
          <a:lnRef idx="0"/>
          <a:fillRef idx="0"/>
          <a:effectRef idx="0"/>
          <a:fontRef idx="minor"/>
        </p:style>
        <p:txBody>
          <a:bodyPr lIns="0" tIns="0" rIns="0" bIns="0" anchor="t">
            <a:spAutoFit/>
          </a:bodyPr>
          <a:p>
            <a:pPr>
              <a:lnSpc>
                <a:spcPct val="100000"/>
              </a:lnSpc>
              <a:spcAft>
                <a:spcPts val="300"/>
              </a:spcAft>
            </a:pPr>
            <a:r>
              <a:rPr lang="en-IN" sz="1000" b="1" u="none" strike="noStrike">
                <a:solidFill>
                  <a:srgbClr val="2A4A3E"/>
                </a:solidFill>
                <a:effectLst/>
                <a:uFillTx/>
                <a:latin typeface="Rubik"/>
                <a:ea typeface="Arial"/>
              </a:rPr>
              <a:t>22 Oct</a:t>
            </a:r>
            <a:endParaRPr lang="en-IN" sz="1000" b="0" u="none" strike="noStrike">
              <a:solidFill>
                <a:srgbClr val="000000"/>
              </a:solidFill>
              <a:effectLst/>
              <a:uFillTx/>
              <a:latin typeface="Arial"/>
            </a:endParaRPr>
          </a:p>
          <a:p>
            <a:pPr>
              <a:lnSpc>
                <a:spcPct val="112000"/>
              </a:lnSpc>
            </a:pPr>
            <a:r>
              <a:rPr lang="en-IN" sz="820" b="0" u="none" strike="noStrike">
                <a:solidFill>
                  <a:srgbClr val="6B7A72"/>
                </a:solidFill>
                <a:effectLst/>
                <a:uFillTx/>
                <a:latin typeface="DM Sans"/>
                <a:ea typeface="Arial"/>
              </a:rPr>
              <a:t>Full rehearsal, three samples plus one deliberate inconclusive</a:t>
            </a:r>
            <a:endParaRPr lang="en-IN" sz="820" b="0" u="none" strike="noStrike">
              <a:solidFill>
                <a:srgbClr val="000000"/>
              </a:solidFill>
              <a:effectLst/>
              <a:uFillTx/>
              <a:latin typeface="Arial"/>
            </a:endParaRPr>
          </a:p>
        </p:txBody>
      </p:sp>
      <p:sp>
        <p:nvSpPr>
          <p:cNvPr id="270" name="Rounded Rectangle 132"/>
          <p:cNvSpPr/>
          <p:nvPr/>
        </p:nvSpPr>
        <p:spPr>
          <a:xfrm>
            <a:off x="9111960" y="4937760"/>
            <a:ext cx="2587320" cy="1042200"/>
          </a:xfrm>
          <a:prstGeom prst="roundRect">
            <a:avLst>
              <a:gd name="adj" fmla="val 10000"/>
            </a:avLst>
          </a:prstGeom>
          <a:solidFill>
            <a:srgbClr val="F4F1E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IN" sz="1400" b="0" u="none" strike="noStrike">
              <a:solidFill>
                <a:schemeClr val="lt1"/>
              </a:solidFill>
              <a:effectLst/>
              <a:uFillTx/>
              <a:latin typeface="Arial"/>
            </a:endParaRPr>
          </a:p>
        </p:txBody>
      </p:sp>
      <p:sp>
        <p:nvSpPr>
          <p:cNvPr id="271" name="Rectangle 133"/>
          <p:cNvSpPr/>
          <p:nvPr/>
        </p:nvSpPr>
        <p:spPr>
          <a:xfrm>
            <a:off x="9111960" y="4937760"/>
            <a:ext cx="2587320" cy="40680"/>
          </a:xfrm>
          <a:prstGeom prst="rect">
            <a:avLst/>
          </a:prstGeom>
          <a:solidFill>
            <a:srgbClr val="2A4A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960" rIns="90000" bIns="-3960" anchor="ctr">
            <a:noAutofit/>
          </a:bodyPr>
          <a:p>
            <a:pPr/>
            <a:endParaRPr lang="en-IN" sz="1400" b="0" u="none" strike="noStrike">
              <a:solidFill>
                <a:schemeClr val="lt1"/>
              </a:solidFill>
              <a:effectLst/>
              <a:uFillTx/>
              <a:latin typeface="Arial"/>
            </a:endParaRPr>
          </a:p>
        </p:txBody>
      </p:sp>
      <p:sp>
        <p:nvSpPr>
          <p:cNvPr id="272" name="TextBox 134"/>
          <p:cNvSpPr/>
          <p:nvPr/>
        </p:nvSpPr>
        <p:spPr>
          <a:xfrm>
            <a:off x="9276480" y="5083920"/>
            <a:ext cx="2258280" cy="785880"/>
          </a:xfrm>
          <a:prstGeom prst="rect">
            <a:avLst/>
          </a:prstGeom>
          <a:noFill/>
          <a:ln w="0">
            <a:noFill/>
          </a:ln>
        </p:spPr>
        <p:style>
          <a:lnRef idx="0"/>
          <a:fillRef idx="0"/>
          <a:effectRef idx="0"/>
          <a:fontRef idx="minor"/>
        </p:style>
        <p:txBody>
          <a:bodyPr lIns="0" tIns="0" rIns="0" bIns="0" anchor="t">
            <a:spAutoFit/>
          </a:bodyPr>
          <a:p>
            <a:pPr>
              <a:lnSpc>
                <a:spcPct val="100000"/>
              </a:lnSpc>
              <a:spcAft>
                <a:spcPts val="300"/>
              </a:spcAft>
            </a:pPr>
            <a:r>
              <a:rPr lang="en-IN" sz="1000" b="1" u="none" strike="noStrike">
                <a:solidFill>
                  <a:srgbClr val="2A4A3E"/>
                </a:solidFill>
                <a:effectLst/>
                <a:uFillTx/>
                <a:latin typeface="Rubik"/>
                <a:ea typeface="Arial"/>
              </a:rPr>
              <a:t>23 Oct</a:t>
            </a:r>
            <a:endParaRPr lang="en-IN" sz="1000" b="0" u="none" strike="noStrike">
              <a:solidFill>
                <a:srgbClr val="000000"/>
              </a:solidFill>
              <a:effectLst/>
              <a:uFillTx/>
              <a:latin typeface="Arial"/>
            </a:endParaRPr>
          </a:p>
          <a:p>
            <a:pPr>
              <a:lnSpc>
                <a:spcPct val="112000"/>
              </a:lnSpc>
            </a:pPr>
            <a:r>
              <a:rPr lang="en-IN" sz="820" b="0" u="none" strike="noStrike">
                <a:solidFill>
                  <a:srgbClr val="6B7A72"/>
                </a:solidFill>
                <a:effectLst/>
                <a:uFillTx/>
                <a:latin typeface="DM Sans"/>
                <a:ea typeface="Arial"/>
              </a:rPr>
              <a:t>Final, 10:00-13:00 at PCCOE, live on real reagents</a:t>
            </a:r>
            <a:endParaRPr lang="en-IN" sz="82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F3A30"/>
        </a:solidFill>
      </p:bgPr>
    </p:bg>
    <p:spTree>
      <p:nvGrpSpPr>
        <p:cNvPr id="1" name=""/>
        <p:cNvGrpSpPr/>
        <p:nvPr/>
      </p:nvGrpSpPr>
      <p:grpSpPr>
        <a:xfrm>
          <a:off x="0" y="0"/>
          <a:ext cx="0" cy="0"/>
          <a:chOff x="0" y="0"/>
          <a:chExt cx="0" cy="0"/>
        </a:xfrm>
      </p:grpSpPr>
      <p:sp>
        <p:nvSpPr>
          <p:cNvPr id="273" name="Google Shape;109;p11"/>
          <p:cNvSpPr/>
          <p:nvPr/>
        </p:nvSpPr>
        <p:spPr>
          <a:xfrm>
            <a:off x="3371400" y="2621160"/>
            <a:ext cx="5448960" cy="914040"/>
          </a:xfrm>
          <a:prstGeom prst="rect">
            <a:avLst/>
          </a:prstGeom>
          <a:noFill/>
          <a:ln w="0">
            <a:noFill/>
          </a:ln>
        </p:spPr>
        <p:style>
          <a:lnRef idx="0"/>
          <a:fillRef idx="0"/>
          <a:effectRef idx="0"/>
          <a:fontRef idx="minor"/>
        </p:style>
        <p:txBody>
          <a:bodyPr lIns="0" tIns="0" rIns="0" bIns="0" anchor="t">
            <a:noAutofit/>
          </a:bodyPr>
          <a:p>
            <a:pPr algn="ctr">
              <a:lnSpc>
                <a:spcPct val="100000"/>
              </a:lnSpc>
              <a:tabLst>
                <a:tab pos="0" algn="l"/>
              </a:tabLst>
            </a:pPr>
            <a:r>
              <a:rPr lang="en-US" sz="7000" b="1" u="none" strike="noStrike">
                <a:solidFill>
                  <a:srgbClr val="F4F1E8"/>
                </a:solidFill>
                <a:effectLst/>
                <a:uFillTx/>
                <a:latin typeface="Rubik"/>
                <a:ea typeface="Rubik"/>
              </a:rPr>
              <a:t>Thank You</a:t>
            </a:r>
            <a:endParaRPr lang="en-IN" sz="7000" b="0" u="none" strike="noStrike">
              <a:solidFill>
                <a:srgbClr val="FFFFFF"/>
              </a:solidFill>
              <a:effectLst/>
              <a:uFillTx/>
              <a:latin typeface="Arial"/>
            </a:endParaRPr>
          </a:p>
        </p:txBody>
      </p:sp>
      <p:sp>
        <p:nvSpPr>
          <p:cNvPr id="274" name="Google Shape;110;p11"/>
          <p:cNvSpPr/>
          <p:nvPr/>
        </p:nvSpPr>
        <p:spPr>
          <a:xfrm>
            <a:off x="4186440" y="3713400"/>
            <a:ext cx="3818880" cy="345240"/>
          </a:xfrm>
          <a:prstGeom prst="rect">
            <a:avLst/>
          </a:prstGeom>
          <a:noFill/>
          <a:ln w="0">
            <a:noFill/>
          </a:ln>
        </p:spPr>
        <p:style>
          <a:lnRef idx="0"/>
          <a:fillRef idx="0"/>
          <a:effectRef idx="0"/>
          <a:fontRef idx="minor"/>
        </p:style>
        <p:txBody>
          <a:bodyPr lIns="0" tIns="0" rIns="0" bIns="0" anchor="t">
            <a:noAutofit/>
          </a:bodyPr>
          <a:p>
            <a:pPr algn="ctr">
              <a:lnSpc>
                <a:spcPct val="140000"/>
              </a:lnSpc>
              <a:tabLst>
                <a:tab pos="0" algn="l"/>
              </a:tabLst>
            </a:pPr>
            <a:r>
              <a:rPr lang="en-US" sz="1800" b="0" u="none" strike="noStrike">
                <a:solidFill>
                  <a:srgbClr val="F5C842"/>
                </a:solidFill>
                <a:effectLst/>
                <a:uFillTx/>
                <a:latin typeface="DM Sans"/>
                <a:ea typeface="DM Sans"/>
              </a:rPr>
              <a:t>IRIS · captainlevi252@gmail.com</a:t>
            </a:r>
            <a:endParaRPr lang="en-IN" sz="1800" b="0" u="none" strike="noStrike">
              <a:solidFill>
                <a:srgbClr val="FFFFFF"/>
              </a:solidFill>
              <a:effectLst/>
              <a:uFillTx/>
              <a:latin typeface="Arial"/>
            </a:endParaRPr>
          </a:p>
        </p:txBody>
      </p:sp>
      <p:sp>
        <p:nvSpPr>
          <p:cNvPr id="275" name="Google Shape;111;p11"/>
          <p:cNvSpPr/>
          <p:nvPr/>
        </p:nvSpPr>
        <p:spPr>
          <a:xfrm>
            <a:off x="812880" y="6238440"/>
            <a:ext cx="10883160" cy="238320"/>
          </a:xfrm>
          <a:prstGeom prst="rect">
            <a:avLst/>
          </a:prstGeom>
          <a:noFill/>
          <a:ln w="0">
            <a:noFill/>
          </a:ln>
        </p:spPr>
        <p:style>
          <a:lnRef idx="0"/>
          <a:fillRef idx="0"/>
          <a:effectRef idx="0"/>
          <a:fontRef idx="minor"/>
        </p:style>
        <p:txBody>
          <a:bodyPr lIns="0" tIns="0" rIns="0" bIns="0" anchor="t">
            <a:noAutofit/>
          </a:bodyPr>
          <a:p>
            <a:pPr>
              <a:lnSpc>
                <a:spcPct val="140000"/>
              </a:lnSpc>
              <a:tabLst>
                <a:tab pos="0" algn="l"/>
              </a:tabLst>
            </a:pPr>
            <a:r>
              <a:rPr lang="en-US" sz="1200" b="0" u="none" strike="noStrike">
                <a:solidFill>
                  <a:srgbClr val="9DB3A7"/>
                </a:solidFill>
                <a:effectLst/>
                <a:uFillTx/>
                <a:latin typeface="DM Sans"/>
                <a:ea typeface="DM Sans"/>
              </a:rPr>
              <a:t>Tech4Food 2026 · New Era of Smarter Food Safety · PCCOE, Pune · 09</a:t>
            </a:r>
            <a:endParaRPr lang="en-IN" sz="12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itchFamily="0" charset="1"/>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LibreOffice/26.8.0.3$Linux_X86_64 LibreOffice_project/e34ffb33db0c92181c79084d759a90d6bf45d9b3</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SaafScan team</dc:creator>
  <dc:description>Built from the official Tech4Food template. Team placeholders are left for completion before export.</dc:description>
  <dc:language>en-IN</dc:language>
  <cp:lastModifiedBy>python-pptx</cp:lastModifiedBy>
  <dcterms:modified xsi:type="dcterms:W3CDTF">2026-10-11T06:06:34Z</dcterms:modified>
  <cp:revision>1</cp:revision>
  <dc:subject>Phone-camera adulterant screening</dc:subject>
  <dc:title>SaafScan — Tech4Food 2026 Round 1 idea submission</dc:title>
</cp:coreProperties>
</file>